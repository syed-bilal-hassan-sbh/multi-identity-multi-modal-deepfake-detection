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FF6B35"/>
              </a:solidFill>
              <a:effectLst/>
            </c:spPr>
            <c:extLst>
              <c:ext xmlns:c16="http://schemas.microsoft.com/office/drawing/2014/chart" uri="{C3380CC4-5D6E-409C-BE32-E72D297353CC}">
                <c16:uniqueId val="{00000001-8147-4FE2-A44B-A158E987B935}"/>
              </c:ext>
            </c:extLst>
          </c:dPt>
          <c:dPt>
            <c:idx val="1"/>
            <c:bubble3D val="0"/>
            <c:spPr>
              <a:solidFill>
                <a:srgbClr val="00C896"/>
              </a:solidFill>
              <a:effectLst/>
            </c:spPr>
            <c:extLst>
              <c:ext xmlns:c16="http://schemas.microsoft.com/office/drawing/2014/chart" uri="{C3380CC4-5D6E-409C-BE32-E72D297353CC}">
                <c16:uniqueId val="{00000003-8147-4FE2-A44B-A158E987B935}"/>
              </c:ext>
            </c:extLst>
          </c:dPt>
          <c:dLbls>
            <c:dLbl>
              <c:idx val="0"/>
              <c:layout/>
              <c:numFmt formatCode="0%" sourceLinked="0"/>
              <c:spPr/>
              <c:txPr>
                <a:bodyPr/>
                <a:lstStyle/>
                <a:p>
                  <a:pPr>
                    <a:defRPr sz="11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8147-4FE2-A44B-A158E987B935}"/>
                </c:ext>
              </c:extLst>
            </c:dLbl>
            <c:dLbl>
              <c:idx val="1"/>
              <c:layout/>
              <c:numFmt formatCode="0%" sourceLinked="0"/>
              <c:spPr/>
              <c:txPr>
                <a:bodyPr/>
                <a:lstStyle/>
                <a:p>
                  <a:pPr>
                    <a:defRPr sz="11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8147-4FE2-A44B-A158E987B93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Fake (Synthetic)</c:v>
                </c:pt>
                <c:pt idx="1">
                  <c:v>Real (Authentic)</c:v>
                </c:pt>
              </c:strCache>
            </c:strRef>
          </c:cat>
          <c:val>
            <c:numRef>
              <c:f>Sheet1!$B$2:$B$3</c:f>
              <c:numCache>
                <c:formatCode>General</c:formatCode>
                <c:ptCount val="2"/>
                <c:pt idx="0">
                  <c:v>83.9</c:v>
                </c:pt>
                <c:pt idx="1">
                  <c:v>16.100000000000001</c:v>
                </c:pt>
              </c:numCache>
            </c:numRef>
          </c:val>
          <c:extLst>
            <c:ext xmlns:c16="http://schemas.microsoft.com/office/drawing/2014/chart" uri="{C3380CC4-5D6E-409C-BE32-E72D297353CC}">
              <c16:uniqueId val="{00000004-8147-4FE2-A44B-A158E987B935}"/>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legend>
    <c:plotVisOnly val="1"/>
    <c:dispBlanksAs val="span"/>
    <c:showDLblsOverMax val="1"/>
  </c:chart>
  <c:spPr>
    <a:solidFill>
      <a:srgbClr val="162A4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a:solidFill>
                  <a:srgbClr val="FFFFFF"/>
                </a:solidFill>
                <a:latin typeface="Arial"/>
              </a:rPr>
              <a:t>Balanced Accuracy Comparison</a:t>
            </a:r>
          </a:p>
        </c:rich>
      </c:tx>
      <c:layout/>
      <c:overlay val="0"/>
    </c:title>
    <c:autoTitleDeleted val="0"/>
    <c:plotArea>
      <c:layout/>
      <c:barChart>
        <c:barDir val="col"/>
        <c:grouping val="clustered"/>
        <c:varyColors val="0"/>
        <c:ser>
          <c:idx val="0"/>
          <c:order val="0"/>
          <c:tx>
            <c:strRef>
              <c:f>Sheet1!$B$1</c:f>
              <c:strCache>
                <c:ptCount val="1"/>
                <c:pt idx="0">
                  <c:v>Balanced Accuracy</c:v>
                </c:pt>
              </c:strCache>
            </c:strRef>
          </c:tx>
          <c:spPr>
            <a:solidFill>
              <a:srgbClr val="4A6480"/>
            </a:solidFill>
            <a:effectLst/>
          </c:spPr>
          <c:invertIfNegative val="0"/>
          <c:dPt>
            <c:idx val="0"/>
            <c:invertIfNegative val="0"/>
            <c:bubble3D val="0"/>
            <c:extLst>
              <c:ext xmlns:c16="http://schemas.microsoft.com/office/drawing/2014/chart" uri="{C3380CC4-5D6E-409C-BE32-E72D297353CC}">
                <c16:uniqueId val="{00000001-C894-4107-B37C-FFF795ED0409}"/>
              </c:ext>
            </c:extLst>
          </c:dPt>
          <c:dPt>
            <c:idx val="1"/>
            <c:invertIfNegative val="0"/>
            <c:bubble3D val="0"/>
            <c:extLst>
              <c:ext xmlns:c16="http://schemas.microsoft.com/office/drawing/2014/chart" uri="{C3380CC4-5D6E-409C-BE32-E72D297353CC}">
                <c16:uniqueId val="{00000003-C894-4107-B37C-FFF795ED0409}"/>
              </c:ext>
            </c:extLst>
          </c:dPt>
          <c:dPt>
            <c:idx val="2"/>
            <c:invertIfNegative val="0"/>
            <c:bubble3D val="0"/>
            <c:spPr>
              <a:solidFill>
                <a:srgbClr val="00A8CC"/>
              </a:solidFill>
              <a:effectLst/>
            </c:spPr>
            <c:extLst>
              <c:ext xmlns:c16="http://schemas.microsoft.com/office/drawing/2014/chart" uri="{C3380CC4-5D6E-409C-BE32-E72D297353CC}">
                <c16:uniqueId val="{00000005-C894-4107-B37C-FFF795ED0409}"/>
              </c:ext>
            </c:extLst>
          </c:dPt>
          <c:dPt>
            <c:idx val="3"/>
            <c:invertIfNegative val="0"/>
            <c:bubble3D val="0"/>
            <c:spPr>
              <a:solidFill>
                <a:srgbClr val="00D4FF"/>
              </a:solidFill>
              <a:effectLst/>
            </c:spPr>
            <c:extLst>
              <c:ext xmlns:c16="http://schemas.microsoft.com/office/drawing/2014/chart" uri="{C3380CC4-5D6E-409C-BE32-E72D297353CC}">
                <c16:uniqueId val="{00000007-C894-4107-B37C-FFF795ED0409}"/>
              </c:ext>
            </c:extLst>
          </c:dPt>
          <c:dLbls>
            <c:numFmt formatCode="0.00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XceptionNet
(single-id)</c:v>
                </c:pt>
                <c:pt idx="1">
                  <c:v>DF-TransFusion
(multimodal)</c:v>
                </c:pt>
                <c:pt idx="2">
                  <c:v>MINTIME
(visual-only)</c:v>
                </c:pt>
                <c:pt idx="3">
                  <c:v>Ours
(multimodal)</c:v>
                </c:pt>
              </c:strCache>
            </c:strRef>
          </c:cat>
          <c:val>
            <c:numRef>
              <c:f>Sheet1!$B$2:$B$5</c:f>
              <c:numCache>
                <c:formatCode>General</c:formatCode>
                <c:ptCount val="4"/>
                <c:pt idx="0">
                  <c:v>0.52</c:v>
                </c:pt>
                <c:pt idx="1">
                  <c:v>0.503</c:v>
                </c:pt>
                <c:pt idx="2">
                  <c:v>0.61199999999999999</c:v>
                </c:pt>
                <c:pt idx="3">
                  <c:v>0.65500000000000003</c:v>
                </c:pt>
              </c:numCache>
            </c:numRef>
          </c:val>
          <c:extLst>
            <c:ext xmlns:c16="http://schemas.microsoft.com/office/drawing/2014/chart" uri="{C3380CC4-5D6E-409C-BE32-E72D297353CC}">
              <c16:uniqueId val="{00000008-C894-4107-B37C-FFF795ED04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3BF"/>
                </a:solidFill>
                <a:latin typeface="Arial"/>
              </a:defRPr>
            </a:pPr>
            <a:endParaRPr lang="en-US"/>
          </a:p>
        </c:txPr>
        <c:crossAx val="2094734552"/>
        <c:crosses val="autoZero"/>
        <c:auto val="1"/>
        <c:lblAlgn val="ctr"/>
        <c:lblOffset val="100"/>
        <c:noMultiLvlLbl val="1"/>
      </c:catAx>
      <c:valAx>
        <c:axId val="2094734552"/>
        <c:scaling>
          <c:orientation val="minMax"/>
          <c:max val="0.7"/>
          <c:min val="0.4"/>
        </c:scaling>
        <c:delete val="0"/>
        <c:axPos val="l"/>
        <c:majorGridlines>
          <c:spPr>
            <a:ln w="6350" cap="flat">
              <a:solidFill>
                <a:srgbClr val="2A3F5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A4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AUC Comparison</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4A6480"/>
            </a:solidFill>
            <a:effectLst/>
          </c:spPr>
          <c:invertIfNegative val="0"/>
          <c:dPt>
            <c:idx val="0"/>
            <c:invertIfNegative val="0"/>
            <c:bubble3D val="0"/>
            <c:extLst>
              <c:ext xmlns:c16="http://schemas.microsoft.com/office/drawing/2014/chart" uri="{C3380CC4-5D6E-409C-BE32-E72D297353CC}">
                <c16:uniqueId val="{00000001-BFEC-40A8-8492-1496DC7452F8}"/>
              </c:ext>
            </c:extLst>
          </c:dPt>
          <c:dPt>
            <c:idx val="1"/>
            <c:invertIfNegative val="0"/>
            <c:bubble3D val="0"/>
            <c:extLst>
              <c:ext xmlns:c16="http://schemas.microsoft.com/office/drawing/2014/chart" uri="{C3380CC4-5D6E-409C-BE32-E72D297353CC}">
                <c16:uniqueId val="{00000003-BFEC-40A8-8492-1496DC7452F8}"/>
              </c:ext>
            </c:extLst>
          </c:dPt>
          <c:dPt>
            <c:idx val="2"/>
            <c:invertIfNegative val="0"/>
            <c:bubble3D val="0"/>
            <c:spPr>
              <a:solidFill>
                <a:srgbClr val="00A8CC"/>
              </a:solidFill>
              <a:effectLst/>
            </c:spPr>
            <c:extLst>
              <c:ext xmlns:c16="http://schemas.microsoft.com/office/drawing/2014/chart" uri="{C3380CC4-5D6E-409C-BE32-E72D297353CC}">
                <c16:uniqueId val="{00000005-BFEC-40A8-8492-1496DC7452F8}"/>
              </c:ext>
            </c:extLst>
          </c:dPt>
          <c:dPt>
            <c:idx val="3"/>
            <c:invertIfNegative val="0"/>
            <c:bubble3D val="0"/>
            <c:spPr>
              <a:solidFill>
                <a:srgbClr val="00D4FF"/>
              </a:solidFill>
              <a:effectLst/>
            </c:spPr>
            <c:extLst>
              <c:ext xmlns:c16="http://schemas.microsoft.com/office/drawing/2014/chart" uri="{C3380CC4-5D6E-409C-BE32-E72D297353CC}">
                <c16:uniqueId val="{00000007-BFEC-40A8-8492-1496DC7452F8}"/>
              </c:ext>
            </c:extLst>
          </c:dPt>
          <c:cat>
            <c:strRef>
              <c:f>Sheet1!$A$2:$A$5</c:f>
              <c:strCache>
                <c:ptCount val="4"/>
                <c:pt idx="0">
                  <c:v>XceptionNet</c:v>
                </c:pt>
                <c:pt idx="1">
                  <c:v>DF-TransFusion</c:v>
                </c:pt>
                <c:pt idx="2">
                  <c:v>MINTIME</c:v>
                </c:pt>
                <c:pt idx="3">
                  <c:v>Ours</c:v>
                </c:pt>
              </c:strCache>
            </c:strRef>
          </c:cat>
          <c:val>
            <c:numRef>
              <c:f>Sheet1!$B$2:$B$5</c:f>
              <c:numCache>
                <c:formatCode>General</c:formatCode>
                <c:ptCount val="4"/>
                <c:pt idx="0">
                  <c:v>0.54200000000000004</c:v>
                </c:pt>
                <c:pt idx="1">
                  <c:v>0.51800000000000002</c:v>
                </c:pt>
                <c:pt idx="2">
                  <c:v>0.68700000000000006</c:v>
                </c:pt>
                <c:pt idx="3">
                  <c:v>0.73199999999999998</c:v>
                </c:pt>
              </c:numCache>
            </c:numRef>
          </c:val>
          <c:extLst>
            <c:ext xmlns:c16="http://schemas.microsoft.com/office/drawing/2014/chart" uri="{C3380CC4-5D6E-409C-BE32-E72D297353CC}">
              <c16:uniqueId val="{00000008-BFEC-40A8-8492-1496DC7452F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3BF"/>
                </a:solidFill>
                <a:latin typeface="Arial"/>
              </a:defRPr>
            </a:pPr>
            <a:endParaRPr lang="en-US"/>
          </a:p>
        </c:txPr>
        <c:crossAx val="2094734552"/>
        <c:crosses val="autoZero"/>
        <c:auto val="1"/>
        <c:lblAlgn val="ctr"/>
        <c:lblOffset val="100"/>
        <c:noMultiLvlLbl val="1"/>
      </c:catAx>
      <c:valAx>
        <c:axId val="2094734552"/>
        <c:scaling>
          <c:orientation val="minMax"/>
          <c:max val="0.78"/>
          <c:min val="0.45"/>
        </c:scaling>
        <c:delete val="0"/>
        <c:axPos val="l"/>
        <c:majorGridlines>
          <c:spPr>
            <a:ln w="6350" cap="flat">
              <a:solidFill>
                <a:srgbClr val="2A3F5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A4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419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Shape 1"/>
          <p:cNvSpPr/>
          <p:nvPr/>
        </p:nvSpPr>
        <p:spPr>
          <a:xfrm>
            <a:off x="457200" y="640080"/>
            <a:ext cx="8229600" cy="3474720"/>
          </a:xfrm>
          <a:prstGeom prst="roundRect">
            <a:avLst>
              <a:gd name="adj" fmla="val 3158"/>
            </a:avLst>
          </a:prstGeom>
          <a:solidFill>
            <a:srgbClr val="162A45"/>
          </a:solidFill>
          <a:ln/>
          <a:effectLst>
            <a:outerShdw blurRad="127000" dist="38100" dir="8100000" algn="bl" rotWithShape="0">
              <a:srgbClr val="000000">
                <a:alpha val="30000"/>
              </a:srgbClr>
            </a:outerShdw>
          </a:effectLst>
        </p:spPr>
      </p:sp>
      <p:sp>
        <p:nvSpPr>
          <p:cNvPr id="4" name="Shape 2"/>
          <p:cNvSpPr/>
          <p:nvPr/>
        </p:nvSpPr>
        <p:spPr>
          <a:xfrm>
            <a:off x="7772400" y="457200"/>
            <a:ext cx="1097280" cy="1097280"/>
          </a:xfrm>
          <a:prstGeom prst="ellipse">
            <a:avLst/>
          </a:prstGeom>
          <a:solidFill>
            <a:srgbClr val="00D4FF">
              <a:alpha val="15000"/>
            </a:srgbClr>
          </a:solidFill>
          <a:ln/>
        </p:spPr>
      </p:sp>
      <p:sp>
        <p:nvSpPr>
          <p:cNvPr id="5" name="Shape 3"/>
          <p:cNvSpPr/>
          <p:nvPr/>
        </p:nvSpPr>
        <p:spPr>
          <a:xfrm>
            <a:off x="-274320" y="3474720"/>
            <a:ext cx="1645920" cy="1645920"/>
          </a:xfrm>
          <a:prstGeom prst="ellipse">
            <a:avLst/>
          </a:prstGeom>
          <a:solidFill>
            <a:srgbClr val="00A8CC">
              <a:alpha val="15000"/>
            </a:srgbClr>
          </a:solidFill>
          <a:ln/>
        </p:spPr>
      </p:sp>
      <p:sp>
        <p:nvSpPr>
          <p:cNvPr id="6" name="Text 4"/>
          <p:cNvSpPr/>
          <p:nvPr/>
        </p:nvSpPr>
        <p:spPr>
          <a:xfrm>
            <a:off x="822960" y="868680"/>
            <a:ext cx="7498080" cy="640080"/>
          </a:xfrm>
          <a:prstGeom prst="rect">
            <a:avLst/>
          </a:prstGeom>
          <a:noFill/>
          <a:ln/>
        </p:spPr>
        <p:txBody>
          <a:bodyPr wrap="square" rtlCol="0" anchor="ctr"/>
          <a:lstStyle/>
          <a:p>
            <a:pPr marL="0" indent="0" algn="ctr">
              <a:buNone/>
            </a:pPr>
            <a:r>
              <a:rPr lang="en-US" sz="3000" b="1" dirty="0">
                <a:solidFill>
                  <a:srgbClr val="00D4FF"/>
                </a:solidFill>
                <a:latin typeface="Calibri" pitchFamily="34" charset="0"/>
                <a:ea typeface="Calibri" pitchFamily="34" charset="-122"/>
                <a:cs typeface="Calibri" pitchFamily="34" charset="-120"/>
              </a:rPr>
              <a:t>Multi-Identity Multimodal</a:t>
            </a:r>
            <a:endParaRPr lang="en-US" sz="3000" dirty="0"/>
          </a:p>
        </p:txBody>
      </p:sp>
      <p:sp>
        <p:nvSpPr>
          <p:cNvPr id="7" name="Text 5"/>
          <p:cNvSpPr/>
          <p:nvPr/>
        </p:nvSpPr>
        <p:spPr>
          <a:xfrm>
            <a:off x="822960" y="1481328"/>
            <a:ext cx="749808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Deepfake Detection</a:t>
            </a:r>
            <a:endParaRPr lang="en-US" sz="3000" dirty="0"/>
          </a:p>
        </p:txBody>
      </p:sp>
      <p:sp>
        <p:nvSpPr>
          <p:cNvPr id="8" name="Text 6"/>
          <p:cNvSpPr/>
          <p:nvPr/>
        </p:nvSpPr>
        <p:spPr>
          <a:xfrm>
            <a:off x="822960" y="2103120"/>
            <a:ext cx="7498080" cy="411480"/>
          </a:xfrm>
          <a:prstGeom prst="rect">
            <a:avLst/>
          </a:prstGeom>
          <a:noFill/>
          <a:ln/>
        </p:spPr>
        <p:txBody>
          <a:bodyPr wrap="square" rtlCol="0" anchor="ctr"/>
          <a:lstStyle/>
          <a:p>
            <a:pPr marL="0" indent="0" algn="ctr">
              <a:buNone/>
            </a:pPr>
            <a:r>
              <a:rPr lang="en-US" sz="1500" i="1" dirty="0">
                <a:solidFill>
                  <a:srgbClr val="E8F0F8"/>
                </a:solidFill>
                <a:latin typeface="Calibri" pitchFamily="34" charset="0"/>
                <a:ea typeface="Calibri" pitchFamily="34" charset="-122"/>
                <a:cs typeface="Calibri" pitchFamily="34" charset="-120"/>
              </a:rPr>
              <a:t>A Speaker-Aware Framework for Two-Person Video Analysis</a:t>
            </a:r>
            <a:endParaRPr lang="en-US" sz="1500" dirty="0"/>
          </a:p>
        </p:txBody>
      </p:sp>
      <p:sp>
        <p:nvSpPr>
          <p:cNvPr id="9" name="Shape 7"/>
          <p:cNvSpPr/>
          <p:nvPr/>
        </p:nvSpPr>
        <p:spPr>
          <a:xfrm>
            <a:off x="3200400" y="2606040"/>
            <a:ext cx="2743200" cy="27432"/>
          </a:xfrm>
          <a:prstGeom prst="rect">
            <a:avLst/>
          </a:prstGeom>
          <a:solidFill>
            <a:srgbClr val="4A6480"/>
          </a:solidFill>
          <a:ln/>
        </p:spPr>
      </p:sp>
      <p:sp>
        <p:nvSpPr>
          <p:cNvPr id="10" name="Text 8"/>
          <p:cNvSpPr/>
          <p:nvPr/>
        </p:nvSpPr>
        <p:spPr>
          <a:xfrm>
            <a:off x="822960" y="2743200"/>
            <a:ext cx="7498080" cy="320040"/>
          </a:xfrm>
          <a:prstGeom prst="rect">
            <a:avLst/>
          </a:prstGeom>
          <a:noFill/>
          <a:ln/>
        </p:spPr>
        <p:txBody>
          <a:bodyPr wrap="square" rtlCol="0" anchor="ctr"/>
          <a:lstStyle/>
          <a:p>
            <a:pPr marL="0" indent="0" algn="ctr">
              <a:buNone/>
            </a:pPr>
            <a:r>
              <a:rPr lang="en-US" sz="1400" dirty="0">
                <a:solidFill>
                  <a:srgbClr val="8BA3BF"/>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Syed Bilal Hassan</a:t>
            </a:r>
            <a:endParaRPr lang="en-US" sz="1400" dirty="0"/>
          </a:p>
        </p:txBody>
      </p:sp>
      <p:sp>
        <p:nvSpPr>
          <p:cNvPr id="11" name="Text 9"/>
          <p:cNvSpPr/>
          <p:nvPr/>
        </p:nvSpPr>
        <p:spPr>
          <a:xfrm>
            <a:off x="822960" y="3090672"/>
            <a:ext cx="7498080" cy="256032"/>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Roll No: 22i-0505  |  Section: AI-A  |  BS Artificial Intelligence</a:t>
            </a:r>
            <a:endParaRPr lang="en-US" sz="1200" dirty="0"/>
          </a:p>
        </p:txBody>
      </p:sp>
      <p:sp>
        <p:nvSpPr>
          <p:cNvPr id="12" name="Text 10"/>
          <p:cNvSpPr/>
          <p:nvPr/>
        </p:nvSpPr>
        <p:spPr>
          <a:xfrm>
            <a:off x="822960" y="3383280"/>
            <a:ext cx="7498080" cy="256032"/>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Supervisor: </a:t>
            </a:r>
            <a:r>
              <a:rPr lang="en-US" sz="1200" b="1" dirty="0">
                <a:solidFill>
                  <a:srgbClr val="00D4FF"/>
                </a:solidFill>
                <a:latin typeface="Calibri" pitchFamily="34" charset="0"/>
                <a:ea typeface="Calibri" pitchFamily="34" charset="-122"/>
                <a:cs typeface="Calibri" pitchFamily="34" charset="-120"/>
              </a:rPr>
              <a:t>Dr. Muhammad Nouman Noor</a:t>
            </a:r>
            <a:endParaRPr lang="en-US" sz="1200" dirty="0"/>
          </a:p>
        </p:txBody>
      </p:sp>
      <p:sp>
        <p:nvSpPr>
          <p:cNvPr id="13" name="Text 11"/>
          <p:cNvSpPr/>
          <p:nvPr/>
        </p:nvSpPr>
        <p:spPr>
          <a:xfrm>
            <a:off x="457200" y="4206240"/>
            <a:ext cx="8229600" cy="256032"/>
          </a:xfrm>
          <a:prstGeom prst="rect">
            <a:avLst/>
          </a:prstGeom>
          <a:noFill/>
          <a:ln/>
        </p:spPr>
        <p:txBody>
          <a:bodyPr wrap="square" rtlCol="0" anchor="ctr"/>
          <a:lstStyle/>
          <a:p>
            <a:pPr marL="0" indent="0" algn="ctr">
              <a:buNone/>
            </a:pPr>
            <a:r>
              <a:rPr lang="en-US" sz="1100" dirty="0">
                <a:solidFill>
                  <a:srgbClr val="4A6480"/>
                </a:solidFill>
                <a:latin typeface="Calibri" pitchFamily="34" charset="0"/>
                <a:ea typeface="Calibri" pitchFamily="34" charset="-122"/>
                <a:cs typeface="Calibri" pitchFamily="34" charset="-120"/>
              </a:rPr>
              <a:t>National University of Computer and Emerging Sciences (FAST), Islamabad</a:t>
            </a:r>
            <a:endParaRPr lang="en-US" sz="1100" dirty="0"/>
          </a:p>
        </p:txBody>
      </p:sp>
      <p:sp>
        <p:nvSpPr>
          <p:cNvPr id="14" name="Shape 12"/>
          <p:cNvSpPr/>
          <p:nvPr/>
        </p:nvSpPr>
        <p:spPr>
          <a:xfrm>
            <a:off x="0" y="5074920"/>
            <a:ext cx="9144000" cy="68580"/>
          </a:xfrm>
          <a:prstGeom prst="rect">
            <a:avLst/>
          </a:prstGeom>
          <a:solidFill>
            <a:srgbClr val="112240"/>
          </a:solidFill>
          <a:ln/>
        </p:spPr>
      </p:sp>
      <p:sp>
        <p:nvSpPr>
          <p:cNvPr id="15" name="Text 13"/>
          <p:cNvSpPr/>
          <p:nvPr/>
        </p:nvSpPr>
        <p:spPr>
          <a:xfrm>
            <a:off x="457200" y="5138928"/>
            <a:ext cx="8229600" cy="182880"/>
          </a:xfrm>
          <a:prstGeom prst="rect">
            <a:avLst/>
          </a:prstGeom>
          <a:noFill/>
          <a:ln/>
        </p:spPr>
        <p:txBody>
          <a:bodyPr wrap="square" rtlCol="0" anchor="ctr"/>
          <a:lstStyle/>
          <a:p>
            <a:pPr marL="0" indent="0" algn="ctr">
              <a:buNone/>
            </a:pPr>
            <a:r>
              <a:rPr lang="en-US" sz="1000" dirty="0">
                <a:solidFill>
                  <a:srgbClr val="4A6480"/>
                </a:solidFill>
                <a:latin typeface="Calibri" pitchFamily="34" charset="0"/>
                <a:ea typeface="Calibri" pitchFamily="34" charset="-122"/>
                <a:cs typeface="Calibri" pitchFamily="34" charset="-120"/>
              </a:rPr>
              <a:t>NUCES FAST  ·  Department of Artificial Intelligence  ·  Generative AI Course</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Presentation Outline</a:t>
            </a:r>
            <a:endParaRPr lang="en-US" sz="2600" dirty="0"/>
          </a:p>
        </p:txBody>
      </p:sp>
      <p:sp>
        <p:nvSpPr>
          <p:cNvPr id="3" name="Shape 1"/>
          <p:cNvSpPr/>
          <p:nvPr/>
        </p:nvSpPr>
        <p:spPr>
          <a:xfrm>
            <a:off x="365760" y="100584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4" name="Shape 2"/>
          <p:cNvSpPr/>
          <p:nvPr/>
        </p:nvSpPr>
        <p:spPr>
          <a:xfrm>
            <a:off x="457200" y="1161288"/>
            <a:ext cx="457200" cy="457200"/>
          </a:xfrm>
          <a:prstGeom prst="roundRect">
            <a:avLst>
              <a:gd name="adj" fmla="val 16000"/>
            </a:avLst>
          </a:prstGeom>
          <a:solidFill>
            <a:srgbClr val="00D4FF"/>
          </a:solidFill>
          <a:ln/>
        </p:spPr>
      </p:sp>
      <p:sp>
        <p:nvSpPr>
          <p:cNvPr id="5" name="Text 3"/>
          <p:cNvSpPr/>
          <p:nvPr/>
        </p:nvSpPr>
        <p:spPr>
          <a:xfrm>
            <a:off x="457200" y="116128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005840" y="120700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Problem Statement</a:t>
            </a:r>
            <a:endParaRPr lang="en-US" sz="1350" dirty="0"/>
          </a:p>
        </p:txBody>
      </p:sp>
      <p:sp>
        <p:nvSpPr>
          <p:cNvPr id="7" name="Shape 5"/>
          <p:cNvSpPr/>
          <p:nvPr/>
        </p:nvSpPr>
        <p:spPr>
          <a:xfrm>
            <a:off x="365760" y="196596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8" name="Shape 6"/>
          <p:cNvSpPr/>
          <p:nvPr/>
        </p:nvSpPr>
        <p:spPr>
          <a:xfrm>
            <a:off x="457200" y="2121408"/>
            <a:ext cx="457200" cy="457200"/>
          </a:xfrm>
          <a:prstGeom prst="roundRect">
            <a:avLst>
              <a:gd name="adj" fmla="val 16000"/>
            </a:avLst>
          </a:prstGeom>
          <a:solidFill>
            <a:srgbClr val="FF6B35"/>
          </a:solidFill>
          <a:ln/>
        </p:spPr>
      </p:sp>
      <p:sp>
        <p:nvSpPr>
          <p:cNvPr id="9" name="Text 7"/>
          <p:cNvSpPr/>
          <p:nvPr/>
        </p:nvSpPr>
        <p:spPr>
          <a:xfrm>
            <a:off x="457200" y="212140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1005840" y="216712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Research Gap</a:t>
            </a:r>
            <a:endParaRPr lang="en-US" sz="1350" dirty="0"/>
          </a:p>
        </p:txBody>
      </p:sp>
      <p:sp>
        <p:nvSpPr>
          <p:cNvPr id="11" name="Shape 9"/>
          <p:cNvSpPr/>
          <p:nvPr/>
        </p:nvSpPr>
        <p:spPr>
          <a:xfrm>
            <a:off x="365760" y="292608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12" name="Shape 10"/>
          <p:cNvSpPr/>
          <p:nvPr/>
        </p:nvSpPr>
        <p:spPr>
          <a:xfrm>
            <a:off x="457200" y="3081528"/>
            <a:ext cx="457200" cy="457200"/>
          </a:xfrm>
          <a:prstGeom prst="roundRect">
            <a:avLst>
              <a:gd name="adj" fmla="val 16000"/>
            </a:avLst>
          </a:prstGeom>
          <a:solidFill>
            <a:srgbClr val="FFD166"/>
          </a:solidFill>
          <a:ln/>
        </p:spPr>
      </p:sp>
      <p:sp>
        <p:nvSpPr>
          <p:cNvPr id="13" name="Text 11"/>
          <p:cNvSpPr/>
          <p:nvPr/>
        </p:nvSpPr>
        <p:spPr>
          <a:xfrm>
            <a:off x="457200" y="308152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005840" y="312724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Related Work</a:t>
            </a:r>
            <a:endParaRPr lang="en-US" sz="1350" dirty="0"/>
          </a:p>
        </p:txBody>
      </p:sp>
      <p:sp>
        <p:nvSpPr>
          <p:cNvPr id="15" name="Shape 13"/>
          <p:cNvSpPr/>
          <p:nvPr/>
        </p:nvSpPr>
        <p:spPr>
          <a:xfrm>
            <a:off x="365760" y="388620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16" name="Shape 14"/>
          <p:cNvSpPr/>
          <p:nvPr/>
        </p:nvSpPr>
        <p:spPr>
          <a:xfrm>
            <a:off x="457200" y="4041648"/>
            <a:ext cx="457200" cy="457200"/>
          </a:xfrm>
          <a:prstGeom prst="roundRect">
            <a:avLst>
              <a:gd name="adj" fmla="val 16000"/>
            </a:avLst>
          </a:prstGeom>
          <a:solidFill>
            <a:srgbClr val="00C896"/>
          </a:solidFill>
          <a:ln/>
        </p:spPr>
      </p:sp>
      <p:sp>
        <p:nvSpPr>
          <p:cNvPr id="17" name="Text 15"/>
          <p:cNvSpPr/>
          <p:nvPr/>
        </p:nvSpPr>
        <p:spPr>
          <a:xfrm>
            <a:off x="457200" y="404164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1005840" y="408736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Proposed Solution</a:t>
            </a:r>
            <a:endParaRPr lang="en-US" sz="1350" dirty="0"/>
          </a:p>
        </p:txBody>
      </p:sp>
      <p:sp>
        <p:nvSpPr>
          <p:cNvPr id="19" name="Shape 17"/>
          <p:cNvSpPr/>
          <p:nvPr/>
        </p:nvSpPr>
        <p:spPr>
          <a:xfrm>
            <a:off x="4754880" y="100584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0" name="Shape 18"/>
          <p:cNvSpPr/>
          <p:nvPr/>
        </p:nvSpPr>
        <p:spPr>
          <a:xfrm>
            <a:off x="4846320" y="1161288"/>
            <a:ext cx="457200" cy="457200"/>
          </a:xfrm>
          <a:prstGeom prst="roundRect">
            <a:avLst>
              <a:gd name="adj" fmla="val 16000"/>
            </a:avLst>
          </a:prstGeom>
          <a:solidFill>
            <a:srgbClr val="00D4FF"/>
          </a:solidFill>
          <a:ln/>
        </p:spPr>
      </p:sp>
      <p:sp>
        <p:nvSpPr>
          <p:cNvPr id="21" name="Text 19"/>
          <p:cNvSpPr/>
          <p:nvPr/>
        </p:nvSpPr>
        <p:spPr>
          <a:xfrm>
            <a:off x="4846320" y="116128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5394960" y="120700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Dataset &amp; Preprocessing</a:t>
            </a:r>
            <a:endParaRPr lang="en-US" sz="1350" dirty="0"/>
          </a:p>
        </p:txBody>
      </p:sp>
      <p:sp>
        <p:nvSpPr>
          <p:cNvPr id="23" name="Shape 21"/>
          <p:cNvSpPr/>
          <p:nvPr/>
        </p:nvSpPr>
        <p:spPr>
          <a:xfrm>
            <a:off x="4754880" y="196596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4" name="Shape 22"/>
          <p:cNvSpPr/>
          <p:nvPr/>
        </p:nvSpPr>
        <p:spPr>
          <a:xfrm>
            <a:off x="4846320" y="2121408"/>
            <a:ext cx="457200" cy="457200"/>
          </a:xfrm>
          <a:prstGeom prst="roundRect">
            <a:avLst>
              <a:gd name="adj" fmla="val 16000"/>
            </a:avLst>
          </a:prstGeom>
          <a:solidFill>
            <a:srgbClr val="FF6B35"/>
          </a:solidFill>
          <a:ln/>
        </p:spPr>
      </p:sp>
      <p:sp>
        <p:nvSpPr>
          <p:cNvPr id="25" name="Text 23"/>
          <p:cNvSpPr/>
          <p:nvPr/>
        </p:nvSpPr>
        <p:spPr>
          <a:xfrm>
            <a:off x="4846320" y="212140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06</a:t>
            </a:r>
            <a:endParaRPr lang="en-US" sz="1400" dirty="0"/>
          </a:p>
        </p:txBody>
      </p:sp>
      <p:sp>
        <p:nvSpPr>
          <p:cNvPr id="26" name="Text 24"/>
          <p:cNvSpPr/>
          <p:nvPr/>
        </p:nvSpPr>
        <p:spPr>
          <a:xfrm>
            <a:off x="5394960" y="216712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Model Architecture</a:t>
            </a:r>
            <a:endParaRPr lang="en-US" sz="1350" dirty="0"/>
          </a:p>
        </p:txBody>
      </p:sp>
      <p:sp>
        <p:nvSpPr>
          <p:cNvPr id="27" name="Shape 25"/>
          <p:cNvSpPr/>
          <p:nvPr/>
        </p:nvSpPr>
        <p:spPr>
          <a:xfrm>
            <a:off x="4754880" y="292608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8" name="Shape 26"/>
          <p:cNvSpPr/>
          <p:nvPr/>
        </p:nvSpPr>
        <p:spPr>
          <a:xfrm>
            <a:off x="4846320" y="3081528"/>
            <a:ext cx="457200" cy="457200"/>
          </a:xfrm>
          <a:prstGeom prst="roundRect">
            <a:avLst>
              <a:gd name="adj" fmla="val 16000"/>
            </a:avLst>
          </a:prstGeom>
          <a:solidFill>
            <a:srgbClr val="FFD166"/>
          </a:solidFill>
          <a:ln/>
        </p:spPr>
      </p:sp>
      <p:sp>
        <p:nvSpPr>
          <p:cNvPr id="29" name="Text 27"/>
          <p:cNvSpPr/>
          <p:nvPr/>
        </p:nvSpPr>
        <p:spPr>
          <a:xfrm>
            <a:off x="4846320" y="308152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07</a:t>
            </a:r>
            <a:endParaRPr lang="en-US" sz="1400" dirty="0"/>
          </a:p>
        </p:txBody>
      </p:sp>
      <p:sp>
        <p:nvSpPr>
          <p:cNvPr id="30" name="Text 28"/>
          <p:cNvSpPr/>
          <p:nvPr/>
        </p:nvSpPr>
        <p:spPr>
          <a:xfrm>
            <a:off x="5394960" y="312724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Results &amp; Comparison</a:t>
            </a:r>
            <a:endParaRPr lang="en-US" sz="1350" dirty="0"/>
          </a:p>
        </p:txBody>
      </p:sp>
      <p:sp>
        <p:nvSpPr>
          <p:cNvPr id="31" name="Shape 29"/>
          <p:cNvSpPr/>
          <p:nvPr/>
        </p:nvSpPr>
        <p:spPr>
          <a:xfrm>
            <a:off x="4754880" y="3886200"/>
            <a:ext cx="411480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32" name="Shape 30"/>
          <p:cNvSpPr/>
          <p:nvPr/>
        </p:nvSpPr>
        <p:spPr>
          <a:xfrm>
            <a:off x="4846320" y="4041648"/>
            <a:ext cx="457200" cy="457200"/>
          </a:xfrm>
          <a:prstGeom prst="roundRect">
            <a:avLst>
              <a:gd name="adj" fmla="val 16000"/>
            </a:avLst>
          </a:prstGeom>
          <a:solidFill>
            <a:srgbClr val="00C896"/>
          </a:solidFill>
          <a:ln/>
        </p:spPr>
      </p:sp>
      <p:sp>
        <p:nvSpPr>
          <p:cNvPr id="33" name="Text 31"/>
          <p:cNvSpPr/>
          <p:nvPr/>
        </p:nvSpPr>
        <p:spPr>
          <a:xfrm>
            <a:off x="4846320" y="4041648"/>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08</a:t>
            </a:r>
            <a:endParaRPr lang="en-US" sz="1400" dirty="0"/>
          </a:p>
        </p:txBody>
      </p:sp>
      <p:sp>
        <p:nvSpPr>
          <p:cNvPr id="34" name="Text 32"/>
          <p:cNvSpPr/>
          <p:nvPr/>
        </p:nvSpPr>
        <p:spPr>
          <a:xfrm>
            <a:off x="5394960" y="4087368"/>
            <a:ext cx="3337560" cy="384048"/>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Limitations &amp; Future Work</a:t>
            </a:r>
            <a:endParaRPr lang="en-US" sz="13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Why deepfake detection in multi-person videos matters</a:t>
            </a:r>
            <a:endParaRPr lang="en-US" sz="1300" dirty="0"/>
          </a:p>
        </p:txBody>
      </p:sp>
      <p:sp>
        <p:nvSpPr>
          <p:cNvPr id="4" name="Shape 2"/>
          <p:cNvSpPr/>
          <p:nvPr/>
        </p:nvSpPr>
        <p:spPr>
          <a:xfrm>
            <a:off x="365760" y="1005840"/>
            <a:ext cx="4937760" cy="3566160"/>
          </a:xfrm>
          <a:prstGeom prst="roundRect">
            <a:avLst>
              <a:gd name="adj" fmla="val 3077"/>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94360" y="1097280"/>
            <a:ext cx="4480560" cy="347472"/>
          </a:xfrm>
          <a:prstGeom prst="rect">
            <a:avLst/>
          </a:prstGeom>
          <a:noFill/>
          <a:ln/>
        </p:spPr>
        <p:txBody>
          <a:bodyPr wrap="square"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The Challenge</a:t>
            </a:r>
            <a:endParaRPr lang="en-US" sz="1500" dirty="0"/>
          </a:p>
        </p:txBody>
      </p:sp>
      <p:sp>
        <p:nvSpPr>
          <p:cNvPr id="6" name="Shape 4"/>
          <p:cNvSpPr/>
          <p:nvPr/>
        </p:nvSpPr>
        <p:spPr>
          <a:xfrm>
            <a:off x="594360" y="1636776"/>
            <a:ext cx="109728" cy="109728"/>
          </a:xfrm>
          <a:prstGeom prst="ellipse">
            <a:avLst/>
          </a:prstGeom>
          <a:solidFill>
            <a:srgbClr val="00D4FF"/>
          </a:solidFill>
          <a:ln/>
        </p:spPr>
      </p:sp>
      <p:sp>
        <p:nvSpPr>
          <p:cNvPr id="7" name="Text 5"/>
          <p:cNvSpPr/>
          <p:nvPr/>
        </p:nvSpPr>
        <p:spPr>
          <a:xfrm>
            <a:off x="777240" y="1572768"/>
            <a:ext cx="4343400" cy="56692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Deepfakes are AI-generated fake videos where faces are swapped or expressions manipulated — posing severe threats to information integrity, privacy, and security.</a:t>
            </a:r>
            <a:endParaRPr lang="en-US" sz="1150" dirty="0"/>
          </a:p>
        </p:txBody>
      </p:sp>
      <p:sp>
        <p:nvSpPr>
          <p:cNvPr id="8" name="Shape 6"/>
          <p:cNvSpPr/>
          <p:nvPr/>
        </p:nvSpPr>
        <p:spPr>
          <a:xfrm>
            <a:off x="594360" y="2258568"/>
            <a:ext cx="109728" cy="109728"/>
          </a:xfrm>
          <a:prstGeom prst="ellipse">
            <a:avLst/>
          </a:prstGeom>
          <a:solidFill>
            <a:srgbClr val="00D4FF"/>
          </a:solidFill>
          <a:ln/>
        </p:spPr>
      </p:sp>
      <p:sp>
        <p:nvSpPr>
          <p:cNvPr id="9" name="Text 7"/>
          <p:cNvSpPr/>
          <p:nvPr/>
        </p:nvSpPr>
        <p:spPr>
          <a:xfrm>
            <a:off x="777240" y="2194560"/>
            <a:ext cx="4343400" cy="56692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Generative Adversarial Networks (GANs) and autoencoders have made deepfake creation accessible to anyone.</a:t>
            </a:r>
            <a:endParaRPr lang="en-US" sz="1150" dirty="0"/>
          </a:p>
        </p:txBody>
      </p:sp>
      <p:sp>
        <p:nvSpPr>
          <p:cNvPr id="10" name="Shape 8"/>
          <p:cNvSpPr/>
          <p:nvPr/>
        </p:nvSpPr>
        <p:spPr>
          <a:xfrm>
            <a:off x="594360" y="2880360"/>
            <a:ext cx="109728" cy="109728"/>
          </a:xfrm>
          <a:prstGeom prst="ellipse">
            <a:avLst/>
          </a:prstGeom>
          <a:solidFill>
            <a:srgbClr val="00D4FF"/>
          </a:solidFill>
          <a:ln/>
        </p:spPr>
      </p:sp>
      <p:sp>
        <p:nvSpPr>
          <p:cNvPr id="11" name="Text 9"/>
          <p:cNvSpPr/>
          <p:nvPr/>
        </p:nvSpPr>
        <p:spPr>
          <a:xfrm>
            <a:off x="777240" y="2816352"/>
            <a:ext cx="4343400" cy="56692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Most deepfake detectors are designed and tested on single-person videos only.</a:t>
            </a:r>
            <a:endParaRPr lang="en-US" sz="1150" dirty="0"/>
          </a:p>
        </p:txBody>
      </p:sp>
      <p:sp>
        <p:nvSpPr>
          <p:cNvPr id="12" name="Shape 10"/>
          <p:cNvSpPr/>
          <p:nvPr/>
        </p:nvSpPr>
        <p:spPr>
          <a:xfrm>
            <a:off x="594360" y="3502152"/>
            <a:ext cx="109728" cy="109728"/>
          </a:xfrm>
          <a:prstGeom prst="ellipse">
            <a:avLst/>
          </a:prstGeom>
          <a:solidFill>
            <a:srgbClr val="00D4FF"/>
          </a:solidFill>
          <a:ln/>
        </p:spPr>
      </p:sp>
      <p:sp>
        <p:nvSpPr>
          <p:cNvPr id="13" name="Text 11"/>
          <p:cNvSpPr/>
          <p:nvPr/>
        </p:nvSpPr>
        <p:spPr>
          <a:xfrm>
            <a:off x="777240" y="3438144"/>
            <a:ext cx="4343400" cy="56692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Real-world videos frequently contain multiple people — creating a critical unaddressed gap.</a:t>
            </a:r>
            <a:endParaRPr lang="en-US" sz="1150" dirty="0"/>
          </a:p>
        </p:txBody>
      </p:sp>
      <p:sp>
        <p:nvSpPr>
          <p:cNvPr id="14" name="Shape 12"/>
          <p:cNvSpPr/>
          <p:nvPr/>
        </p:nvSpPr>
        <p:spPr>
          <a:xfrm>
            <a:off x="594360" y="4123944"/>
            <a:ext cx="109728" cy="109728"/>
          </a:xfrm>
          <a:prstGeom prst="ellipse">
            <a:avLst/>
          </a:prstGeom>
          <a:solidFill>
            <a:srgbClr val="00D4FF"/>
          </a:solidFill>
          <a:ln/>
        </p:spPr>
      </p:sp>
      <p:sp>
        <p:nvSpPr>
          <p:cNvPr id="15" name="Text 13"/>
          <p:cNvSpPr/>
          <p:nvPr/>
        </p:nvSpPr>
        <p:spPr>
          <a:xfrm>
            <a:off x="777240" y="4059936"/>
            <a:ext cx="4343400" cy="56692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When multiple identities appear, standard detectors suffer from feature contamination and incorrect audio-visual linking.</a:t>
            </a:r>
            <a:endParaRPr lang="en-US" sz="1150" dirty="0"/>
          </a:p>
        </p:txBody>
      </p:sp>
      <p:sp>
        <p:nvSpPr>
          <p:cNvPr id="16" name="Shape 14"/>
          <p:cNvSpPr/>
          <p:nvPr/>
        </p:nvSpPr>
        <p:spPr>
          <a:xfrm>
            <a:off x="5486400" y="1051560"/>
            <a:ext cx="1691640" cy="1600200"/>
          </a:xfrm>
          <a:prstGeom prst="roundRect">
            <a:avLst>
              <a:gd name="adj" fmla="val 6857"/>
            </a:avLst>
          </a:prstGeom>
          <a:solidFill>
            <a:srgbClr val="162A45"/>
          </a:solidFill>
          <a:ln/>
          <a:effectLst>
            <a:outerShdw blurRad="127000" dist="38100" dir="8100000" algn="bl" rotWithShape="0">
              <a:srgbClr val="000000">
                <a:alpha val="30000"/>
              </a:srgbClr>
            </a:outerShdw>
          </a:effectLst>
        </p:spPr>
      </p:sp>
      <p:sp>
        <p:nvSpPr>
          <p:cNvPr id="17" name="Text 15"/>
          <p:cNvSpPr/>
          <p:nvPr/>
        </p:nvSpPr>
        <p:spPr>
          <a:xfrm>
            <a:off x="5486400" y="1307592"/>
            <a:ext cx="1691640" cy="594360"/>
          </a:xfrm>
          <a:prstGeom prst="rect">
            <a:avLst/>
          </a:prstGeom>
          <a:noFill/>
          <a:ln/>
        </p:spPr>
        <p:txBody>
          <a:bodyPr wrap="square" rtlCol="0" anchor="ctr"/>
          <a:lstStyle/>
          <a:p>
            <a:pPr marL="0" indent="0" algn="ctr">
              <a:buNone/>
            </a:pPr>
            <a:r>
              <a:rPr lang="en-US" sz="2800" b="1" dirty="0">
                <a:solidFill>
                  <a:srgbClr val="FF6B35"/>
                </a:solidFill>
                <a:latin typeface="Calibri" pitchFamily="34" charset="0"/>
                <a:ea typeface="Calibri" pitchFamily="34" charset="-122"/>
                <a:cs typeface="Calibri" pitchFamily="34" charset="-120"/>
              </a:rPr>
              <a:t>86.7%</a:t>
            </a:r>
            <a:endParaRPr lang="en-US" sz="2800" dirty="0"/>
          </a:p>
        </p:txBody>
      </p:sp>
      <p:sp>
        <p:nvSpPr>
          <p:cNvPr id="18" name="Text 16"/>
          <p:cNvSpPr/>
          <p:nvPr/>
        </p:nvSpPr>
        <p:spPr>
          <a:xfrm>
            <a:off x="5577840" y="1920240"/>
            <a:ext cx="1508760" cy="502920"/>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of DFDC videos are fake</a:t>
            </a:r>
            <a:endParaRPr lang="en-US" sz="1100" dirty="0"/>
          </a:p>
        </p:txBody>
      </p:sp>
      <p:sp>
        <p:nvSpPr>
          <p:cNvPr id="19" name="Shape 17"/>
          <p:cNvSpPr/>
          <p:nvPr/>
        </p:nvSpPr>
        <p:spPr>
          <a:xfrm>
            <a:off x="7315200" y="1051560"/>
            <a:ext cx="1691640" cy="1600200"/>
          </a:xfrm>
          <a:prstGeom prst="roundRect">
            <a:avLst>
              <a:gd name="adj" fmla="val 6857"/>
            </a:avLst>
          </a:prstGeom>
          <a:solidFill>
            <a:srgbClr val="162A45"/>
          </a:solidFill>
          <a:ln/>
          <a:effectLst>
            <a:outerShdw blurRad="127000" dist="38100" dir="8100000" algn="bl" rotWithShape="0">
              <a:srgbClr val="000000">
                <a:alpha val="30000"/>
              </a:srgbClr>
            </a:outerShdw>
          </a:effectLst>
        </p:spPr>
      </p:sp>
      <p:sp>
        <p:nvSpPr>
          <p:cNvPr id="20" name="Text 18"/>
          <p:cNvSpPr/>
          <p:nvPr/>
        </p:nvSpPr>
        <p:spPr>
          <a:xfrm>
            <a:off x="7315200" y="1307592"/>
            <a:ext cx="1691640" cy="594360"/>
          </a:xfrm>
          <a:prstGeom prst="rect">
            <a:avLst/>
          </a:prstGeom>
          <a:noFill/>
          <a:ln/>
        </p:spPr>
        <p:txBody>
          <a:bodyPr wrap="square" rtlCol="0" anchor="ctr"/>
          <a:lstStyle/>
          <a:p>
            <a:pPr marL="0" indent="0" algn="ctr">
              <a:buNone/>
            </a:pPr>
            <a:r>
              <a:rPr lang="en-US" sz="2800" b="1" dirty="0">
                <a:solidFill>
                  <a:srgbClr val="00D4FF"/>
                </a:solidFill>
                <a:latin typeface="Calibri" pitchFamily="34" charset="0"/>
                <a:ea typeface="Calibri" pitchFamily="34" charset="-122"/>
                <a:cs typeface="Calibri" pitchFamily="34" charset="-120"/>
              </a:rPr>
              <a:t>3,426</a:t>
            </a:r>
            <a:endParaRPr lang="en-US" sz="2800" dirty="0"/>
          </a:p>
        </p:txBody>
      </p:sp>
      <p:sp>
        <p:nvSpPr>
          <p:cNvPr id="21" name="Text 19"/>
          <p:cNvSpPr/>
          <p:nvPr/>
        </p:nvSpPr>
        <p:spPr>
          <a:xfrm>
            <a:off x="7406640" y="1920240"/>
            <a:ext cx="1508760" cy="502920"/>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paid actors in original dataset</a:t>
            </a:r>
            <a:endParaRPr lang="en-US" sz="1100" dirty="0"/>
          </a:p>
        </p:txBody>
      </p:sp>
      <p:sp>
        <p:nvSpPr>
          <p:cNvPr id="22" name="Shape 20"/>
          <p:cNvSpPr/>
          <p:nvPr/>
        </p:nvSpPr>
        <p:spPr>
          <a:xfrm>
            <a:off x="5486400" y="2834640"/>
            <a:ext cx="1691640" cy="1600200"/>
          </a:xfrm>
          <a:prstGeom prst="roundRect">
            <a:avLst>
              <a:gd name="adj" fmla="val 6857"/>
            </a:avLst>
          </a:prstGeom>
          <a:solidFill>
            <a:srgbClr val="162A45"/>
          </a:solidFill>
          <a:ln/>
          <a:effectLst>
            <a:outerShdw blurRad="127000" dist="38100" dir="8100000" algn="bl" rotWithShape="0">
              <a:srgbClr val="000000">
                <a:alpha val="30000"/>
              </a:srgbClr>
            </a:outerShdw>
          </a:effectLst>
        </p:spPr>
      </p:sp>
      <p:sp>
        <p:nvSpPr>
          <p:cNvPr id="23" name="Text 21"/>
          <p:cNvSpPr/>
          <p:nvPr/>
        </p:nvSpPr>
        <p:spPr>
          <a:xfrm>
            <a:off x="5486400" y="3090672"/>
            <a:ext cx="1691640" cy="594360"/>
          </a:xfrm>
          <a:prstGeom prst="rect">
            <a:avLst/>
          </a:prstGeom>
          <a:noFill/>
          <a:ln/>
        </p:spPr>
        <p:txBody>
          <a:bodyPr wrap="square" rtlCol="0" anchor="ctr"/>
          <a:lstStyle/>
          <a:p>
            <a:pPr marL="0" indent="0" algn="ctr">
              <a:buNone/>
            </a:pPr>
            <a:r>
              <a:rPr lang="en-US" sz="2800" b="1" dirty="0">
                <a:solidFill>
                  <a:srgbClr val="FFD166"/>
                </a:solidFill>
                <a:latin typeface="Calibri" pitchFamily="34" charset="0"/>
                <a:ea typeface="Calibri" pitchFamily="34" charset="-122"/>
                <a:cs typeface="Calibri" pitchFamily="34" charset="-120"/>
              </a:rPr>
              <a:t>128K+</a:t>
            </a:r>
            <a:endParaRPr lang="en-US" sz="2800" dirty="0"/>
          </a:p>
        </p:txBody>
      </p:sp>
      <p:sp>
        <p:nvSpPr>
          <p:cNvPr id="24" name="Text 22"/>
          <p:cNvSpPr/>
          <p:nvPr/>
        </p:nvSpPr>
        <p:spPr>
          <a:xfrm>
            <a:off x="5577840" y="3703320"/>
            <a:ext cx="1508760" cy="502920"/>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total videos in DFDC</a:t>
            </a:r>
            <a:endParaRPr lang="en-US" sz="1100" dirty="0"/>
          </a:p>
        </p:txBody>
      </p:sp>
      <p:sp>
        <p:nvSpPr>
          <p:cNvPr id="25" name="Shape 23"/>
          <p:cNvSpPr/>
          <p:nvPr/>
        </p:nvSpPr>
        <p:spPr>
          <a:xfrm>
            <a:off x="7315200" y="2834640"/>
            <a:ext cx="1691640" cy="1600200"/>
          </a:xfrm>
          <a:prstGeom prst="roundRect">
            <a:avLst>
              <a:gd name="adj" fmla="val 6857"/>
            </a:avLst>
          </a:prstGeom>
          <a:solidFill>
            <a:srgbClr val="162A45"/>
          </a:solidFill>
          <a:ln/>
          <a:effectLst>
            <a:outerShdw blurRad="127000" dist="38100" dir="8100000" algn="bl" rotWithShape="0">
              <a:srgbClr val="000000">
                <a:alpha val="30000"/>
              </a:srgbClr>
            </a:outerShdw>
          </a:effectLst>
        </p:spPr>
      </p:sp>
      <p:sp>
        <p:nvSpPr>
          <p:cNvPr id="26" name="Text 24"/>
          <p:cNvSpPr/>
          <p:nvPr/>
        </p:nvSpPr>
        <p:spPr>
          <a:xfrm>
            <a:off x="7315200" y="3090672"/>
            <a:ext cx="1691640" cy="594360"/>
          </a:xfrm>
          <a:prstGeom prst="rect">
            <a:avLst/>
          </a:prstGeom>
          <a:noFill/>
          <a:ln/>
        </p:spPr>
        <p:txBody>
          <a:bodyPr wrap="square" rtlCol="0" anchor="ctr"/>
          <a:lstStyle/>
          <a:p>
            <a:pPr marL="0" indent="0" algn="ctr">
              <a:buNone/>
            </a:pPr>
            <a:r>
              <a:rPr lang="en-US" sz="2800" b="1" dirty="0">
                <a:solidFill>
                  <a:srgbClr val="00C896"/>
                </a:solidFill>
                <a:latin typeface="Calibri" pitchFamily="34" charset="0"/>
                <a:ea typeface="Calibri" pitchFamily="34" charset="-122"/>
                <a:cs typeface="Calibri" pitchFamily="34" charset="-120"/>
              </a:rPr>
              <a:t>8×</a:t>
            </a:r>
            <a:endParaRPr lang="en-US" sz="2800" dirty="0"/>
          </a:p>
        </p:txBody>
      </p:sp>
      <p:sp>
        <p:nvSpPr>
          <p:cNvPr id="27" name="Text 25"/>
          <p:cNvSpPr/>
          <p:nvPr/>
        </p:nvSpPr>
        <p:spPr>
          <a:xfrm>
            <a:off x="7406640" y="3703320"/>
            <a:ext cx="1508760" cy="502920"/>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different manipulation methods</a:t>
            </a:r>
            <a:endParaRPr lang="en-US" sz="11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Research Gap</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Three critical failures of existing methods in multi-person scenarios</a:t>
            </a:r>
            <a:endParaRPr lang="en-US" sz="1300" dirty="0"/>
          </a:p>
        </p:txBody>
      </p:sp>
      <p:sp>
        <p:nvSpPr>
          <p:cNvPr id="4" name="Shape 2"/>
          <p:cNvSpPr/>
          <p:nvPr/>
        </p:nvSpPr>
        <p:spPr>
          <a:xfrm>
            <a:off x="365760" y="987552"/>
            <a:ext cx="8412480" cy="1188720"/>
          </a:xfrm>
          <a:prstGeom prst="roundRect">
            <a:avLst>
              <a:gd name="adj" fmla="val 9231"/>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365760" y="987552"/>
            <a:ext cx="201168" cy="1188720"/>
          </a:xfrm>
          <a:prstGeom prst="rect">
            <a:avLst/>
          </a:prstGeom>
          <a:solidFill>
            <a:srgbClr val="FF6B35"/>
          </a:solidFill>
          <a:ln/>
        </p:spPr>
      </p:sp>
      <p:sp>
        <p:nvSpPr>
          <p:cNvPr id="6" name="Text 4"/>
          <p:cNvSpPr/>
          <p:nvPr/>
        </p:nvSpPr>
        <p:spPr>
          <a:xfrm>
            <a:off x="384048" y="1426464"/>
            <a:ext cx="201168" cy="32004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685800" y="1097280"/>
            <a:ext cx="2560320" cy="411480"/>
          </a:xfrm>
          <a:prstGeom prst="rect">
            <a:avLst/>
          </a:prstGeom>
          <a:noFill/>
          <a:ln/>
        </p:spPr>
        <p:txBody>
          <a:bodyPr wrap="square" rtlCol="0" anchor="ctr"/>
          <a:lstStyle/>
          <a:p>
            <a:pPr marL="0" indent="0">
              <a:buNone/>
            </a:pPr>
            <a:r>
              <a:rPr lang="en-US" sz="1500" b="1" dirty="0">
                <a:solidFill>
                  <a:srgbClr val="FF6B35"/>
                </a:solidFill>
                <a:latin typeface="Calibri" pitchFamily="34" charset="0"/>
                <a:ea typeface="Calibri" pitchFamily="34" charset="-122"/>
                <a:cs typeface="Calibri" pitchFamily="34" charset="-120"/>
              </a:rPr>
              <a:t>Identity Confusion</a:t>
            </a:r>
            <a:endParaRPr lang="en-US" sz="1500" dirty="0"/>
          </a:p>
        </p:txBody>
      </p:sp>
      <p:sp>
        <p:nvSpPr>
          <p:cNvPr id="8" name="Text 6"/>
          <p:cNvSpPr/>
          <p:nvPr/>
        </p:nvSpPr>
        <p:spPr>
          <a:xfrm>
            <a:off x="685800" y="1490472"/>
            <a:ext cx="7863840" cy="59436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Existing detectors process all detected faces collectively without distinguishing individuals. When one person is real and another is fake, features mix — causing contamination and incorrect predictions.</a:t>
            </a:r>
            <a:endParaRPr lang="en-US" sz="1200" dirty="0"/>
          </a:p>
        </p:txBody>
      </p:sp>
      <p:sp>
        <p:nvSpPr>
          <p:cNvPr id="9" name="Shape 7"/>
          <p:cNvSpPr/>
          <p:nvPr/>
        </p:nvSpPr>
        <p:spPr>
          <a:xfrm>
            <a:off x="365760" y="2313432"/>
            <a:ext cx="8412480" cy="1188720"/>
          </a:xfrm>
          <a:prstGeom prst="roundRect">
            <a:avLst>
              <a:gd name="adj" fmla="val 9231"/>
            </a:avLst>
          </a:prstGeom>
          <a:solidFill>
            <a:srgbClr val="162A45"/>
          </a:solidFill>
          <a:ln/>
          <a:effectLst>
            <a:outerShdw blurRad="127000" dist="38100" dir="8100000" algn="bl" rotWithShape="0">
              <a:srgbClr val="000000">
                <a:alpha val="30000"/>
              </a:srgbClr>
            </a:outerShdw>
          </a:effectLst>
        </p:spPr>
      </p:sp>
      <p:sp>
        <p:nvSpPr>
          <p:cNvPr id="10" name="Shape 8"/>
          <p:cNvSpPr/>
          <p:nvPr/>
        </p:nvSpPr>
        <p:spPr>
          <a:xfrm>
            <a:off x="365760" y="2313432"/>
            <a:ext cx="201168" cy="1188720"/>
          </a:xfrm>
          <a:prstGeom prst="rect">
            <a:avLst/>
          </a:prstGeom>
          <a:solidFill>
            <a:srgbClr val="FFD166"/>
          </a:solidFill>
          <a:ln/>
        </p:spPr>
      </p:sp>
      <p:sp>
        <p:nvSpPr>
          <p:cNvPr id="11" name="Text 9"/>
          <p:cNvSpPr/>
          <p:nvPr/>
        </p:nvSpPr>
        <p:spPr>
          <a:xfrm>
            <a:off x="384048" y="2752344"/>
            <a:ext cx="201168" cy="32004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85800" y="2423160"/>
            <a:ext cx="2560320" cy="411480"/>
          </a:xfrm>
          <a:prstGeom prst="rect">
            <a:avLst/>
          </a:prstGeom>
          <a:noFill/>
          <a:ln/>
        </p:spPr>
        <p:txBody>
          <a:bodyPr wrap="square" rtlCol="0" anchor="ctr"/>
          <a:lstStyle/>
          <a:p>
            <a:pPr marL="0" indent="0">
              <a:buNone/>
            </a:pPr>
            <a:r>
              <a:rPr lang="en-US" sz="1500" b="1" dirty="0">
                <a:solidFill>
                  <a:srgbClr val="FFD166"/>
                </a:solidFill>
                <a:latin typeface="Calibri" pitchFamily="34" charset="0"/>
                <a:ea typeface="Calibri" pitchFamily="34" charset="-122"/>
                <a:cs typeface="Calibri" pitchFamily="34" charset="-120"/>
              </a:rPr>
              <a:t>Speaker Association Ambiguity</a:t>
            </a:r>
            <a:endParaRPr lang="en-US" sz="1500" dirty="0"/>
          </a:p>
        </p:txBody>
      </p:sp>
      <p:sp>
        <p:nvSpPr>
          <p:cNvPr id="13" name="Text 11"/>
          <p:cNvSpPr/>
          <p:nvPr/>
        </p:nvSpPr>
        <p:spPr>
          <a:xfrm>
            <a:off x="685800" y="2816352"/>
            <a:ext cx="7863840" cy="59436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Multimodal methods leveraging audio-visual inconsistencies cannot determine which face corresponds to which audio stream. This makes lip-sync analysis incorrect and unreliable.</a:t>
            </a:r>
            <a:endParaRPr lang="en-US" sz="1200" dirty="0"/>
          </a:p>
        </p:txBody>
      </p:sp>
      <p:sp>
        <p:nvSpPr>
          <p:cNvPr id="14" name="Shape 12"/>
          <p:cNvSpPr/>
          <p:nvPr/>
        </p:nvSpPr>
        <p:spPr>
          <a:xfrm>
            <a:off x="365760" y="3639312"/>
            <a:ext cx="8412480" cy="1188720"/>
          </a:xfrm>
          <a:prstGeom prst="roundRect">
            <a:avLst>
              <a:gd name="adj" fmla="val 9231"/>
            </a:avLst>
          </a:prstGeom>
          <a:solidFill>
            <a:srgbClr val="162A45"/>
          </a:solidFill>
          <a:ln/>
          <a:effectLst>
            <a:outerShdw blurRad="127000" dist="38100" dir="8100000" algn="bl" rotWithShape="0">
              <a:srgbClr val="000000">
                <a:alpha val="30000"/>
              </a:srgbClr>
            </a:outerShdw>
          </a:effectLst>
        </p:spPr>
      </p:sp>
      <p:sp>
        <p:nvSpPr>
          <p:cNvPr id="15" name="Shape 13"/>
          <p:cNvSpPr/>
          <p:nvPr/>
        </p:nvSpPr>
        <p:spPr>
          <a:xfrm>
            <a:off x="365760" y="3639312"/>
            <a:ext cx="201168" cy="1188720"/>
          </a:xfrm>
          <a:prstGeom prst="rect">
            <a:avLst/>
          </a:prstGeom>
          <a:solidFill>
            <a:srgbClr val="00D4FF"/>
          </a:solidFill>
          <a:ln/>
        </p:spPr>
      </p:sp>
      <p:sp>
        <p:nvSpPr>
          <p:cNvPr id="16" name="Text 14"/>
          <p:cNvSpPr/>
          <p:nvPr/>
        </p:nvSpPr>
        <p:spPr>
          <a:xfrm>
            <a:off x="384048" y="4078224"/>
            <a:ext cx="201168" cy="32004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685800" y="3749040"/>
            <a:ext cx="2560320" cy="411480"/>
          </a:xfrm>
          <a:prstGeom prst="rect">
            <a:avLst/>
          </a:prstGeom>
          <a:noFill/>
          <a:ln/>
        </p:spPr>
        <p:txBody>
          <a:bodyPr wrap="square"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Aggregation Dependence</a:t>
            </a:r>
            <a:endParaRPr lang="en-US" sz="1500" dirty="0"/>
          </a:p>
        </p:txBody>
      </p:sp>
      <p:sp>
        <p:nvSpPr>
          <p:cNvPr id="18" name="Text 16"/>
          <p:cNvSpPr/>
          <p:nvPr/>
        </p:nvSpPr>
        <p:spPr>
          <a:xfrm>
            <a:off x="685800" y="4142232"/>
            <a:ext cx="7863840" cy="59436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Traditional methods rely on post-hoc aggregation (max, average) for video-level decisions. These schemes are sensitive to strategy choice and can be exploited by adversaries.</a:t>
            </a:r>
            <a:endParaRPr lang="en-US" sz="1200" dirty="0"/>
          </a:p>
        </p:txBody>
      </p:sp>
      <p:sp>
        <p:nvSpPr>
          <p:cNvPr id="19" name="Shape 17"/>
          <p:cNvSpPr/>
          <p:nvPr/>
        </p:nvSpPr>
        <p:spPr>
          <a:xfrm>
            <a:off x="365760" y="4773168"/>
            <a:ext cx="8412480" cy="292608"/>
          </a:xfrm>
          <a:prstGeom prst="roundRect">
            <a:avLst>
              <a:gd name="adj" fmla="val 25000"/>
            </a:avLst>
          </a:prstGeom>
          <a:solidFill>
            <a:srgbClr val="1A3A5C"/>
          </a:solidFill>
          <a:ln/>
        </p:spPr>
      </p:sp>
      <p:sp>
        <p:nvSpPr>
          <p:cNvPr id="20" name="Text 18"/>
          <p:cNvSpPr/>
          <p:nvPr/>
        </p:nvSpPr>
        <p:spPr>
          <a:xfrm>
            <a:off x="548640" y="4791456"/>
            <a:ext cx="822960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  No existing method properly handles: multiple identities + multiple speakers + audio-visual matching simultaneously.</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Related Work</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Prior approaches and their key limitations</a:t>
            </a:r>
            <a:endParaRPr lang="en-US" sz="1300" dirty="0"/>
          </a:p>
        </p:txBody>
      </p:sp>
      <p:sp>
        <p:nvSpPr>
          <p:cNvPr id="4" name="Shape 2"/>
          <p:cNvSpPr/>
          <p:nvPr/>
        </p:nvSpPr>
        <p:spPr>
          <a:xfrm>
            <a:off x="274320" y="98755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274320" y="987552"/>
            <a:ext cx="4251960" cy="347472"/>
          </a:xfrm>
          <a:prstGeom prst="rect">
            <a:avLst/>
          </a:prstGeom>
          <a:solidFill>
            <a:srgbClr val="FF6B35">
              <a:alpha val="80000"/>
            </a:srgbClr>
          </a:solidFill>
          <a:ln/>
        </p:spPr>
      </p:sp>
      <p:sp>
        <p:nvSpPr>
          <p:cNvPr id="6" name="Text 4"/>
          <p:cNvSpPr/>
          <p:nvPr/>
        </p:nvSpPr>
        <p:spPr>
          <a:xfrm>
            <a:off x="411480" y="1033272"/>
            <a:ext cx="3977640" cy="256032"/>
          </a:xfrm>
          <a:prstGeom prst="rect">
            <a:avLst/>
          </a:prstGeom>
          <a:noFill/>
          <a:ln/>
        </p:spPr>
        <p:txBody>
          <a:bodyPr wrap="square"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Visual-Only Methods</a:t>
            </a:r>
            <a:endParaRPr lang="en-US" sz="1300" dirty="0"/>
          </a:p>
        </p:txBody>
      </p:sp>
      <p:sp>
        <p:nvSpPr>
          <p:cNvPr id="7" name="Shape 5"/>
          <p:cNvSpPr/>
          <p:nvPr/>
        </p:nvSpPr>
        <p:spPr>
          <a:xfrm>
            <a:off x="438912" y="1517904"/>
            <a:ext cx="109728" cy="109728"/>
          </a:xfrm>
          <a:prstGeom prst="ellipse">
            <a:avLst/>
          </a:prstGeom>
          <a:solidFill>
            <a:srgbClr val="FF6B35"/>
          </a:solidFill>
          <a:ln/>
        </p:spPr>
      </p:sp>
      <p:sp>
        <p:nvSpPr>
          <p:cNvPr id="8" name="Text 6"/>
          <p:cNvSpPr/>
          <p:nvPr/>
        </p:nvSpPr>
        <p:spPr>
          <a:xfrm>
            <a:off x="621792" y="1444752"/>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XceptionNet (FaceForensics++)</a:t>
            </a:r>
            <a:endParaRPr lang="en-US" sz="1100" dirty="0"/>
          </a:p>
        </p:txBody>
      </p:sp>
      <p:sp>
        <p:nvSpPr>
          <p:cNvPr id="9" name="Shape 7"/>
          <p:cNvSpPr/>
          <p:nvPr/>
        </p:nvSpPr>
        <p:spPr>
          <a:xfrm>
            <a:off x="438912" y="1819656"/>
            <a:ext cx="109728" cy="109728"/>
          </a:xfrm>
          <a:prstGeom prst="ellipse">
            <a:avLst/>
          </a:prstGeom>
          <a:solidFill>
            <a:srgbClr val="FF6B35"/>
          </a:solidFill>
          <a:ln/>
        </p:spPr>
      </p:sp>
      <p:sp>
        <p:nvSpPr>
          <p:cNvPr id="10" name="Text 8"/>
          <p:cNvSpPr/>
          <p:nvPr/>
        </p:nvSpPr>
        <p:spPr>
          <a:xfrm>
            <a:off x="621792" y="1746504"/>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Capsule Networks</a:t>
            </a:r>
            <a:endParaRPr lang="en-US" sz="1100" dirty="0"/>
          </a:p>
        </p:txBody>
      </p:sp>
      <p:sp>
        <p:nvSpPr>
          <p:cNvPr id="11" name="Shape 9"/>
          <p:cNvSpPr/>
          <p:nvPr/>
        </p:nvSpPr>
        <p:spPr>
          <a:xfrm>
            <a:off x="438912" y="2121408"/>
            <a:ext cx="109728" cy="109728"/>
          </a:xfrm>
          <a:prstGeom prst="ellipse">
            <a:avLst/>
          </a:prstGeom>
          <a:solidFill>
            <a:srgbClr val="FF6B35"/>
          </a:solidFill>
          <a:ln/>
        </p:spPr>
      </p:sp>
      <p:sp>
        <p:nvSpPr>
          <p:cNvPr id="12" name="Text 10"/>
          <p:cNvSpPr/>
          <p:nvPr/>
        </p:nvSpPr>
        <p:spPr>
          <a:xfrm>
            <a:off x="621792" y="2048256"/>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Head Pose Inconsistency</a:t>
            </a:r>
            <a:endParaRPr lang="en-US" sz="1100" dirty="0"/>
          </a:p>
        </p:txBody>
      </p:sp>
      <p:sp>
        <p:nvSpPr>
          <p:cNvPr id="13" name="Shape 11"/>
          <p:cNvSpPr/>
          <p:nvPr/>
        </p:nvSpPr>
        <p:spPr>
          <a:xfrm>
            <a:off x="411480" y="2404872"/>
            <a:ext cx="3977640" cy="365760"/>
          </a:xfrm>
          <a:prstGeom prst="roundRect">
            <a:avLst>
              <a:gd name="adj" fmla="val 15000"/>
            </a:avLst>
          </a:prstGeom>
          <a:solidFill>
            <a:srgbClr val="0A1628"/>
          </a:solidFill>
          <a:ln/>
        </p:spPr>
      </p:sp>
      <p:sp>
        <p:nvSpPr>
          <p:cNvPr id="14" name="Text 12"/>
          <p:cNvSpPr/>
          <p:nvPr/>
        </p:nvSpPr>
        <p:spPr>
          <a:xfrm>
            <a:off x="438912" y="2423160"/>
            <a:ext cx="3931920" cy="329184"/>
          </a:xfrm>
          <a:prstGeom prst="rect">
            <a:avLst/>
          </a:prstGeom>
          <a:noFill/>
          <a:ln/>
        </p:spPr>
        <p:txBody>
          <a:bodyPr wrap="square" rtlCol="0" anchor="ctr"/>
          <a:lstStyle/>
          <a:p>
            <a:pPr marL="0" indent="0">
              <a:buNone/>
            </a:pPr>
            <a:r>
              <a:rPr lang="en-US" sz="1000" dirty="0">
                <a:solidFill>
                  <a:srgbClr val="FF6B35"/>
                </a:solidFill>
                <a:latin typeface="Calibri" pitchFamily="34" charset="0"/>
                <a:ea typeface="Calibri" pitchFamily="34" charset="-122"/>
                <a:cs typeface="Calibri" pitchFamily="34" charset="-120"/>
              </a:rPr>
              <a:t>⚠  Ignore audio; assume single identity; fail on multi-person scenarios</a:t>
            </a:r>
            <a:endParaRPr lang="en-US" sz="1000" dirty="0"/>
          </a:p>
        </p:txBody>
      </p:sp>
      <p:sp>
        <p:nvSpPr>
          <p:cNvPr id="15" name="Shape 13"/>
          <p:cNvSpPr/>
          <p:nvPr/>
        </p:nvSpPr>
        <p:spPr>
          <a:xfrm>
            <a:off x="4709160" y="98755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16" name="Shape 14"/>
          <p:cNvSpPr/>
          <p:nvPr/>
        </p:nvSpPr>
        <p:spPr>
          <a:xfrm>
            <a:off x="4709160" y="987552"/>
            <a:ext cx="4251960" cy="347472"/>
          </a:xfrm>
          <a:prstGeom prst="rect">
            <a:avLst/>
          </a:prstGeom>
          <a:solidFill>
            <a:srgbClr val="FFD166">
              <a:alpha val="80000"/>
            </a:srgbClr>
          </a:solidFill>
          <a:ln/>
        </p:spPr>
      </p:sp>
      <p:sp>
        <p:nvSpPr>
          <p:cNvPr id="17" name="Text 15"/>
          <p:cNvSpPr/>
          <p:nvPr/>
        </p:nvSpPr>
        <p:spPr>
          <a:xfrm>
            <a:off x="4846320" y="1033272"/>
            <a:ext cx="3977640" cy="256032"/>
          </a:xfrm>
          <a:prstGeom prst="rect">
            <a:avLst/>
          </a:prstGeom>
          <a:noFill/>
          <a:ln/>
        </p:spPr>
        <p:txBody>
          <a:bodyPr wrap="square"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Temporal Methods</a:t>
            </a:r>
            <a:endParaRPr lang="en-US" sz="1300" dirty="0"/>
          </a:p>
        </p:txBody>
      </p:sp>
      <p:sp>
        <p:nvSpPr>
          <p:cNvPr id="18" name="Shape 16"/>
          <p:cNvSpPr/>
          <p:nvPr/>
        </p:nvSpPr>
        <p:spPr>
          <a:xfrm>
            <a:off x="4873752" y="1517904"/>
            <a:ext cx="109728" cy="109728"/>
          </a:xfrm>
          <a:prstGeom prst="ellipse">
            <a:avLst/>
          </a:prstGeom>
          <a:solidFill>
            <a:srgbClr val="FFD166"/>
          </a:solidFill>
          <a:ln/>
        </p:spPr>
      </p:sp>
      <p:sp>
        <p:nvSpPr>
          <p:cNvPr id="19" name="Text 17"/>
          <p:cNvSpPr/>
          <p:nvPr/>
        </p:nvSpPr>
        <p:spPr>
          <a:xfrm>
            <a:off x="5056632" y="1444752"/>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CNN + LSTM (Guera &amp; Delp)</a:t>
            </a:r>
            <a:endParaRPr lang="en-US" sz="1100" dirty="0"/>
          </a:p>
        </p:txBody>
      </p:sp>
      <p:sp>
        <p:nvSpPr>
          <p:cNvPr id="20" name="Shape 18"/>
          <p:cNvSpPr/>
          <p:nvPr/>
        </p:nvSpPr>
        <p:spPr>
          <a:xfrm>
            <a:off x="4873752" y="1819656"/>
            <a:ext cx="109728" cy="109728"/>
          </a:xfrm>
          <a:prstGeom prst="ellipse">
            <a:avLst/>
          </a:prstGeom>
          <a:solidFill>
            <a:srgbClr val="FFD166"/>
          </a:solidFill>
          <a:ln/>
        </p:spPr>
      </p:sp>
      <p:sp>
        <p:nvSpPr>
          <p:cNvPr id="21" name="Text 19"/>
          <p:cNvSpPr/>
          <p:nvPr/>
        </p:nvSpPr>
        <p:spPr>
          <a:xfrm>
            <a:off x="5056632" y="1746504"/>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Recurrent Conv (Sabir et al.)</a:t>
            </a:r>
            <a:endParaRPr lang="en-US" sz="1100" dirty="0"/>
          </a:p>
        </p:txBody>
      </p:sp>
      <p:sp>
        <p:nvSpPr>
          <p:cNvPr id="22" name="Shape 20"/>
          <p:cNvSpPr/>
          <p:nvPr/>
        </p:nvSpPr>
        <p:spPr>
          <a:xfrm>
            <a:off x="4873752" y="2121408"/>
            <a:ext cx="109728" cy="109728"/>
          </a:xfrm>
          <a:prstGeom prst="ellipse">
            <a:avLst/>
          </a:prstGeom>
          <a:solidFill>
            <a:srgbClr val="FFD166"/>
          </a:solidFill>
          <a:ln/>
        </p:spPr>
      </p:sp>
      <p:sp>
        <p:nvSpPr>
          <p:cNvPr id="23" name="Text 21"/>
          <p:cNvSpPr/>
          <p:nvPr/>
        </p:nvSpPr>
        <p:spPr>
          <a:xfrm>
            <a:off x="5056632" y="2048256"/>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FTCN Transformer (Zheng et al.)</a:t>
            </a:r>
            <a:endParaRPr lang="en-US" sz="1100" dirty="0"/>
          </a:p>
        </p:txBody>
      </p:sp>
      <p:sp>
        <p:nvSpPr>
          <p:cNvPr id="24" name="Shape 22"/>
          <p:cNvSpPr/>
          <p:nvPr/>
        </p:nvSpPr>
        <p:spPr>
          <a:xfrm>
            <a:off x="4846320" y="2404872"/>
            <a:ext cx="3977640" cy="365760"/>
          </a:xfrm>
          <a:prstGeom prst="roundRect">
            <a:avLst>
              <a:gd name="adj" fmla="val 15000"/>
            </a:avLst>
          </a:prstGeom>
          <a:solidFill>
            <a:srgbClr val="0A1628"/>
          </a:solidFill>
          <a:ln/>
        </p:spPr>
      </p:sp>
      <p:sp>
        <p:nvSpPr>
          <p:cNvPr id="25" name="Text 23"/>
          <p:cNvSpPr/>
          <p:nvPr/>
        </p:nvSpPr>
        <p:spPr>
          <a:xfrm>
            <a:off x="4873752" y="2423160"/>
            <a:ext cx="3931920" cy="329184"/>
          </a:xfrm>
          <a:prstGeom prst="rect">
            <a:avLst/>
          </a:prstGeom>
          <a:noFill/>
          <a:ln/>
        </p:spPr>
        <p:txBody>
          <a:bodyPr wrap="square" rtlCol="0" anchor="ctr"/>
          <a:lstStyle/>
          <a:p>
            <a:pPr marL="0" indent="0">
              <a:buNone/>
            </a:pPr>
            <a:r>
              <a:rPr lang="en-US" sz="1000" dirty="0">
                <a:solidFill>
                  <a:srgbClr val="FF6B35"/>
                </a:solidFill>
                <a:latin typeface="Calibri" pitchFamily="34" charset="0"/>
                <a:ea typeface="Calibri" pitchFamily="34" charset="-122"/>
                <a:cs typeface="Calibri" pitchFamily="34" charset="-120"/>
              </a:rPr>
              <a:t>⚠  Capture time dynamics but still assume single identity per video</a:t>
            </a:r>
            <a:endParaRPr lang="en-US" sz="1000" dirty="0"/>
          </a:p>
        </p:txBody>
      </p:sp>
      <p:sp>
        <p:nvSpPr>
          <p:cNvPr id="26" name="Shape 24"/>
          <p:cNvSpPr/>
          <p:nvPr/>
        </p:nvSpPr>
        <p:spPr>
          <a:xfrm>
            <a:off x="274320" y="2980944"/>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27" name="Shape 25"/>
          <p:cNvSpPr/>
          <p:nvPr/>
        </p:nvSpPr>
        <p:spPr>
          <a:xfrm>
            <a:off x="274320" y="2980944"/>
            <a:ext cx="4251960" cy="347472"/>
          </a:xfrm>
          <a:prstGeom prst="rect">
            <a:avLst/>
          </a:prstGeom>
          <a:solidFill>
            <a:srgbClr val="00D4FF">
              <a:alpha val="80000"/>
            </a:srgbClr>
          </a:solidFill>
          <a:ln/>
        </p:spPr>
      </p:sp>
      <p:sp>
        <p:nvSpPr>
          <p:cNvPr id="28" name="Text 26"/>
          <p:cNvSpPr/>
          <p:nvPr/>
        </p:nvSpPr>
        <p:spPr>
          <a:xfrm>
            <a:off x="411480" y="3026664"/>
            <a:ext cx="3977640" cy="256032"/>
          </a:xfrm>
          <a:prstGeom prst="rect">
            <a:avLst/>
          </a:prstGeom>
          <a:noFill/>
          <a:ln/>
        </p:spPr>
        <p:txBody>
          <a:bodyPr wrap="square"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Multimodal (Audio+Video)</a:t>
            </a:r>
            <a:endParaRPr lang="en-US" sz="1300" dirty="0"/>
          </a:p>
        </p:txBody>
      </p:sp>
      <p:sp>
        <p:nvSpPr>
          <p:cNvPr id="29" name="Shape 27"/>
          <p:cNvSpPr/>
          <p:nvPr/>
        </p:nvSpPr>
        <p:spPr>
          <a:xfrm>
            <a:off x="438912" y="3511296"/>
            <a:ext cx="109728" cy="109728"/>
          </a:xfrm>
          <a:prstGeom prst="ellipse">
            <a:avLst/>
          </a:prstGeom>
          <a:solidFill>
            <a:srgbClr val="00D4FF"/>
          </a:solidFill>
          <a:ln/>
        </p:spPr>
      </p:sp>
      <p:sp>
        <p:nvSpPr>
          <p:cNvPr id="30" name="Text 28"/>
          <p:cNvSpPr/>
          <p:nvPr/>
        </p:nvSpPr>
        <p:spPr>
          <a:xfrm>
            <a:off x="621792" y="3438144"/>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Lip-sync (Haliassos et al.)</a:t>
            </a:r>
            <a:endParaRPr lang="en-US" sz="1100" dirty="0"/>
          </a:p>
        </p:txBody>
      </p:sp>
      <p:sp>
        <p:nvSpPr>
          <p:cNvPr id="31" name="Shape 29"/>
          <p:cNvSpPr/>
          <p:nvPr/>
        </p:nvSpPr>
        <p:spPr>
          <a:xfrm>
            <a:off x="438912" y="3813048"/>
            <a:ext cx="109728" cy="109728"/>
          </a:xfrm>
          <a:prstGeom prst="ellipse">
            <a:avLst/>
          </a:prstGeom>
          <a:solidFill>
            <a:srgbClr val="00D4FF"/>
          </a:solidFill>
          <a:ln/>
        </p:spPr>
      </p:sp>
      <p:sp>
        <p:nvSpPr>
          <p:cNvPr id="32" name="Text 30"/>
          <p:cNvSpPr/>
          <p:nvPr/>
        </p:nvSpPr>
        <p:spPr>
          <a:xfrm>
            <a:off x="621792" y="3739896"/>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DF-TransFusion (Kharel et al.)</a:t>
            </a:r>
            <a:endParaRPr lang="en-US" sz="1100" dirty="0"/>
          </a:p>
        </p:txBody>
      </p:sp>
      <p:sp>
        <p:nvSpPr>
          <p:cNvPr id="33" name="Shape 31"/>
          <p:cNvSpPr/>
          <p:nvPr/>
        </p:nvSpPr>
        <p:spPr>
          <a:xfrm>
            <a:off x="438912" y="4114800"/>
            <a:ext cx="109728" cy="109728"/>
          </a:xfrm>
          <a:prstGeom prst="ellipse">
            <a:avLst/>
          </a:prstGeom>
          <a:solidFill>
            <a:srgbClr val="00D4FF"/>
          </a:solidFill>
          <a:ln/>
        </p:spPr>
      </p:sp>
      <p:sp>
        <p:nvSpPr>
          <p:cNvPr id="34" name="Text 32"/>
          <p:cNvSpPr/>
          <p:nvPr/>
        </p:nvSpPr>
        <p:spPr>
          <a:xfrm>
            <a:off x="621792" y="4041648"/>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Affective Cues (Mittal et al.)</a:t>
            </a:r>
            <a:endParaRPr lang="en-US" sz="1100" dirty="0"/>
          </a:p>
        </p:txBody>
      </p:sp>
      <p:sp>
        <p:nvSpPr>
          <p:cNvPr id="35" name="Shape 33"/>
          <p:cNvSpPr/>
          <p:nvPr/>
        </p:nvSpPr>
        <p:spPr>
          <a:xfrm>
            <a:off x="411480" y="4398264"/>
            <a:ext cx="3977640" cy="365760"/>
          </a:xfrm>
          <a:prstGeom prst="roundRect">
            <a:avLst>
              <a:gd name="adj" fmla="val 15000"/>
            </a:avLst>
          </a:prstGeom>
          <a:solidFill>
            <a:srgbClr val="0A1628"/>
          </a:solidFill>
          <a:ln/>
        </p:spPr>
      </p:sp>
      <p:sp>
        <p:nvSpPr>
          <p:cNvPr id="36" name="Text 34"/>
          <p:cNvSpPr/>
          <p:nvPr/>
        </p:nvSpPr>
        <p:spPr>
          <a:xfrm>
            <a:off x="438912" y="4416552"/>
            <a:ext cx="3931920" cy="329184"/>
          </a:xfrm>
          <a:prstGeom prst="rect">
            <a:avLst/>
          </a:prstGeom>
          <a:noFill/>
          <a:ln/>
        </p:spPr>
        <p:txBody>
          <a:bodyPr wrap="square" rtlCol="0" anchor="ctr"/>
          <a:lstStyle/>
          <a:p>
            <a:pPr marL="0" indent="0">
              <a:buNone/>
            </a:pPr>
            <a:r>
              <a:rPr lang="en-US" sz="1000" dirty="0">
                <a:solidFill>
                  <a:srgbClr val="FF6B35"/>
                </a:solidFill>
                <a:latin typeface="Calibri" pitchFamily="34" charset="0"/>
                <a:ea typeface="Calibri" pitchFamily="34" charset="-122"/>
                <a:cs typeface="Calibri" pitchFamily="34" charset="-120"/>
              </a:rPr>
              <a:t>⚠  Assume single speaker — completely fail when multiple people speak</a:t>
            </a:r>
            <a:endParaRPr lang="en-US" sz="1000" dirty="0"/>
          </a:p>
        </p:txBody>
      </p:sp>
      <p:sp>
        <p:nvSpPr>
          <p:cNvPr id="37" name="Shape 35"/>
          <p:cNvSpPr/>
          <p:nvPr/>
        </p:nvSpPr>
        <p:spPr>
          <a:xfrm>
            <a:off x="4709160" y="2980944"/>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38" name="Shape 36"/>
          <p:cNvSpPr/>
          <p:nvPr/>
        </p:nvSpPr>
        <p:spPr>
          <a:xfrm>
            <a:off x="4709160" y="2980944"/>
            <a:ext cx="4251960" cy="347472"/>
          </a:xfrm>
          <a:prstGeom prst="rect">
            <a:avLst/>
          </a:prstGeom>
          <a:solidFill>
            <a:srgbClr val="00C896">
              <a:alpha val="80000"/>
            </a:srgbClr>
          </a:solidFill>
          <a:ln/>
        </p:spPr>
      </p:sp>
      <p:sp>
        <p:nvSpPr>
          <p:cNvPr id="39" name="Text 37"/>
          <p:cNvSpPr/>
          <p:nvPr/>
        </p:nvSpPr>
        <p:spPr>
          <a:xfrm>
            <a:off x="4846320" y="3026664"/>
            <a:ext cx="3977640" cy="256032"/>
          </a:xfrm>
          <a:prstGeom prst="rect">
            <a:avLst/>
          </a:prstGeom>
          <a:noFill/>
          <a:ln/>
        </p:spPr>
        <p:txBody>
          <a:bodyPr wrap="square"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Multi-Identity (Visual Only)</a:t>
            </a:r>
            <a:endParaRPr lang="en-US" sz="1300" dirty="0"/>
          </a:p>
        </p:txBody>
      </p:sp>
      <p:sp>
        <p:nvSpPr>
          <p:cNvPr id="40" name="Shape 38"/>
          <p:cNvSpPr/>
          <p:nvPr/>
        </p:nvSpPr>
        <p:spPr>
          <a:xfrm>
            <a:off x="4873752" y="3511296"/>
            <a:ext cx="109728" cy="109728"/>
          </a:xfrm>
          <a:prstGeom prst="ellipse">
            <a:avLst/>
          </a:prstGeom>
          <a:solidFill>
            <a:srgbClr val="00C896"/>
          </a:solidFill>
          <a:ln/>
        </p:spPr>
      </p:sp>
      <p:sp>
        <p:nvSpPr>
          <p:cNvPr id="41" name="Text 39"/>
          <p:cNvSpPr/>
          <p:nvPr/>
        </p:nvSpPr>
        <p:spPr>
          <a:xfrm>
            <a:off x="5056632" y="3438144"/>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OpenForensics (Le et al.) — segmentation only</a:t>
            </a:r>
            <a:endParaRPr lang="en-US" sz="1100" dirty="0"/>
          </a:p>
        </p:txBody>
      </p:sp>
      <p:sp>
        <p:nvSpPr>
          <p:cNvPr id="42" name="Shape 40"/>
          <p:cNvSpPr/>
          <p:nvPr/>
        </p:nvSpPr>
        <p:spPr>
          <a:xfrm>
            <a:off x="4873752" y="3813048"/>
            <a:ext cx="109728" cy="109728"/>
          </a:xfrm>
          <a:prstGeom prst="ellipse">
            <a:avLst/>
          </a:prstGeom>
          <a:solidFill>
            <a:srgbClr val="00C896"/>
          </a:solidFill>
          <a:ln/>
        </p:spPr>
      </p:sp>
      <p:sp>
        <p:nvSpPr>
          <p:cNvPr id="43" name="Text 41"/>
          <p:cNvSpPr/>
          <p:nvPr/>
        </p:nvSpPr>
        <p:spPr>
          <a:xfrm>
            <a:off x="5056632" y="3739896"/>
            <a:ext cx="3749040" cy="29260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MINTIME (Coccomini) — no audio</a:t>
            </a:r>
            <a:endParaRPr lang="en-US" sz="1100" dirty="0"/>
          </a:p>
        </p:txBody>
      </p:sp>
      <p:sp>
        <p:nvSpPr>
          <p:cNvPr id="44" name="Shape 42"/>
          <p:cNvSpPr/>
          <p:nvPr/>
        </p:nvSpPr>
        <p:spPr>
          <a:xfrm>
            <a:off x="4846320" y="4398264"/>
            <a:ext cx="3977640" cy="365760"/>
          </a:xfrm>
          <a:prstGeom prst="roundRect">
            <a:avLst>
              <a:gd name="adj" fmla="val 15000"/>
            </a:avLst>
          </a:prstGeom>
          <a:solidFill>
            <a:srgbClr val="0A1628"/>
          </a:solidFill>
          <a:ln/>
        </p:spPr>
      </p:sp>
      <p:sp>
        <p:nvSpPr>
          <p:cNvPr id="45" name="Text 43"/>
          <p:cNvSpPr/>
          <p:nvPr/>
        </p:nvSpPr>
        <p:spPr>
          <a:xfrm>
            <a:off x="4873752" y="4416552"/>
            <a:ext cx="3931920" cy="329184"/>
          </a:xfrm>
          <a:prstGeom prst="rect">
            <a:avLst/>
          </a:prstGeom>
          <a:noFill/>
          <a:ln/>
        </p:spPr>
        <p:txBody>
          <a:bodyPr wrap="square" rtlCol="0" anchor="ctr"/>
          <a:lstStyle/>
          <a:p>
            <a:pPr marL="0" indent="0">
              <a:buNone/>
            </a:pPr>
            <a:r>
              <a:rPr lang="en-US" sz="1000" dirty="0">
                <a:solidFill>
                  <a:srgbClr val="FF6B35"/>
                </a:solidFill>
                <a:latin typeface="Calibri" pitchFamily="34" charset="0"/>
                <a:ea typeface="Calibri" pitchFamily="34" charset="-122"/>
                <a:cs typeface="Calibri" pitchFamily="34" charset="-120"/>
              </a:rPr>
              <a:t>⚠  Ignore audio-visual consistency; cannot leverage multimodal cues</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Proposed Solution</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Core intuition and key contributions</a:t>
            </a:r>
            <a:endParaRPr lang="en-US" sz="1300" dirty="0"/>
          </a:p>
        </p:txBody>
      </p:sp>
      <p:sp>
        <p:nvSpPr>
          <p:cNvPr id="4" name="Shape 2"/>
          <p:cNvSpPr/>
          <p:nvPr/>
        </p:nvSpPr>
        <p:spPr>
          <a:xfrm>
            <a:off x="365760" y="960120"/>
            <a:ext cx="8412480" cy="749808"/>
          </a:xfrm>
          <a:prstGeom prst="roundRect">
            <a:avLst>
              <a:gd name="adj" fmla="val 14634"/>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365760" y="960120"/>
            <a:ext cx="201168" cy="749808"/>
          </a:xfrm>
          <a:prstGeom prst="rect">
            <a:avLst/>
          </a:prstGeom>
          <a:solidFill>
            <a:srgbClr val="00D4FF"/>
          </a:solidFill>
          <a:ln/>
        </p:spPr>
      </p:sp>
      <p:sp>
        <p:nvSpPr>
          <p:cNvPr id="6" name="Text 4"/>
          <p:cNvSpPr/>
          <p:nvPr/>
        </p:nvSpPr>
        <p:spPr>
          <a:xfrm>
            <a:off x="658368" y="978408"/>
            <a:ext cx="182880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Core Idea</a:t>
            </a:r>
            <a:endParaRPr lang="en-US" sz="1200" dirty="0"/>
          </a:p>
        </p:txBody>
      </p:sp>
      <p:sp>
        <p:nvSpPr>
          <p:cNvPr id="7" name="Text 5"/>
          <p:cNvSpPr/>
          <p:nvPr/>
        </p:nvSpPr>
        <p:spPr>
          <a:xfrm>
            <a:off x="658368" y="1234440"/>
            <a:ext cx="79552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Treat each person SEPARATELY — detect who is speaking — connect voice to correct face — apply audio checks ONLY to the speaking person.</a:t>
            </a:r>
            <a:endParaRPr lang="en-US" sz="1300" dirty="0"/>
          </a:p>
        </p:txBody>
      </p:sp>
      <p:sp>
        <p:nvSpPr>
          <p:cNvPr id="8" name="Shape 6"/>
          <p:cNvSpPr/>
          <p:nvPr/>
        </p:nvSpPr>
        <p:spPr>
          <a:xfrm>
            <a:off x="365760" y="1874520"/>
            <a:ext cx="4251960" cy="1353312"/>
          </a:xfrm>
          <a:prstGeom prst="roundRect">
            <a:avLst>
              <a:gd name="adj" fmla="val 8108"/>
            </a:avLst>
          </a:prstGeom>
          <a:solidFill>
            <a:srgbClr val="162A45"/>
          </a:solidFill>
          <a:ln/>
          <a:effectLst>
            <a:outerShdw blurRad="127000" dist="38100" dir="8100000" algn="bl" rotWithShape="0">
              <a:srgbClr val="000000">
                <a:alpha val="30000"/>
              </a:srgbClr>
            </a:outerShdw>
          </a:effectLst>
        </p:spPr>
      </p:sp>
      <p:sp>
        <p:nvSpPr>
          <p:cNvPr id="9" name="Shape 7"/>
          <p:cNvSpPr/>
          <p:nvPr/>
        </p:nvSpPr>
        <p:spPr>
          <a:xfrm>
            <a:off x="530352" y="2039112"/>
            <a:ext cx="438912" cy="438912"/>
          </a:xfrm>
          <a:prstGeom prst="ellipse">
            <a:avLst/>
          </a:prstGeom>
          <a:solidFill>
            <a:srgbClr val="00D4FF"/>
          </a:solidFill>
          <a:ln/>
        </p:spPr>
      </p:sp>
      <p:sp>
        <p:nvSpPr>
          <p:cNvPr id="10" name="Text 8"/>
          <p:cNvSpPr/>
          <p:nvPr/>
        </p:nvSpPr>
        <p:spPr>
          <a:xfrm>
            <a:off x="530352" y="2039112"/>
            <a:ext cx="438912" cy="4389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060704" y="2075688"/>
            <a:ext cx="342900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Multi-Identity Processing</a:t>
            </a:r>
            <a:endParaRPr lang="en-US" sz="1300" dirty="0"/>
          </a:p>
        </p:txBody>
      </p:sp>
      <p:sp>
        <p:nvSpPr>
          <p:cNvPr id="12" name="Text 10"/>
          <p:cNvSpPr/>
          <p:nvPr/>
        </p:nvSpPr>
        <p:spPr>
          <a:xfrm>
            <a:off x="530352" y="2532888"/>
            <a:ext cx="3931920" cy="5486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Each person is processed independently through identity-aware temporal attention — prevents feature contamination.</a:t>
            </a:r>
            <a:endParaRPr lang="en-US" sz="1100" dirty="0"/>
          </a:p>
        </p:txBody>
      </p:sp>
      <p:sp>
        <p:nvSpPr>
          <p:cNvPr id="13" name="Shape 11"/>
          <p:cNvSpPr/>
          <p:nvPr/>
        </p:nvSpPr>
        <p:spPr>
          <a:xfrm>
            <a:off x="4800600" y="1874520"/>
            <a:ext cx="4251960" cy="1353312"/>
          </a:xfrm>
          <a:prstGeom prst="roundRect">
            <a:avLst>
              <a:gd name="adj" fmla="val 8108"/>
            </a:avLst>
          </a:prstGeom>
          <a:solidFill>
            <a:srgbClr val="162A45"/>
          </a:solidFill>
          <a:ln/>
          <a:effectLst>
            <a:outerShdw blurRad="127000" dist="38100" dir="8100000" algn="bl" rotWithShape="0">
              <a:srgbClr val="000000">
                <a:alpha val="30000"/>
              </a:srgbClr>
            </a:outerShdw>
          </a:effectLst>
        </p:spPr>
      </p:sp>
      <p:sp>
        <p:nvSpPr>
          <p:cNvPr id="14" name="Shape 12"/>
          <p:cNvSpPr/>
          <p:nvPr/>
        </p:nvSpPr>
        <p:spPr>
          <a:xfrm>
            <a:off x="4965192" y="2039112"/>
            <a:ext cx="438912" cy="438912"/>
          </a:xfrm>
          <a:prstGeom prst="ellipse">
            <a:avLst/>
          </a:prstGeom>
          <a:solidFill>
            <a:srgbClr val="FF6B35"/>
          </a:solidFill>
          <a:ln/>
        </p:spPr>
      </p:sp>
      <p:sp>
        <p:nvSpPr>
          <p:cNvPr id="15" name="Text 13"/>
          <p:cNvSpPr/>
          <p:nvPr/>
        </p:nvSpPr>
        <p:spPr>
          <a:xfrm>
            <a:off x="4965192" y="2039112"/>
            <a:ext cx="438912" cy="4389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5495544" y="2075688"/>
            <a:ext cx="3429000" cy="320040"/>
          </a:xfrm>
          <a:prstGeom prst="rect">
            <a:avLst/>
          </a:prstGeom>
          <a:noFill/>
          <a:ln/>
        </p:spPr>
        <p:txBody>
          <a:bodyPr wrap="square"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Speaker-Face Association</a:t>
            </a:r>
            <a:endParaRPr lang="en-US" sz="1300" dirty="0"/>
          </a:p>
        </p:txBody>
      </p:sp>
      <p:sp>
        <p:nvSpPr>
          <p:cNvPr id="17" name="Text 15"/>
          <p:cNvSpPr/>
          <p:nvPr/>
        </p:nvSpPr>
        <p:spPr>
          <a:xfrm>
            <a:off x="4965192" y="2532888"/>
            <a:ext cx="3931920" cy="5486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Lip movement intensity used to identify the active speaker and bind the audio stream to the correct face.</a:t>
            </a:r>
            <a:endParaRPr lang="en-US" sz="1100" dirty="0"/>
          </a:p>
        </p:txBody>
      </p:sp>
      <p:sp>
        <p:nvSpPr>
          <p:cNvPr id="18" name="Shape 16"/>
          <p:cNvSpPr/>
          <p:nvPr/>
        </p:nvSpPr>
        <p:spPr>
          <a:xfrm>
            <a:off x="365760" y="3337560"/>
            <a:ext cx="4251960" cy="1353312"/>
          </a:xfrm>
          <a:prstGeom prst="roundRect">
            <a:avLst>
              <a:gd name="adj" fmla="val 8108"/>
            </a:avLst>
          </a:prstGeom>
          <a:solidFill>
            <a:srgbClr val="162A45"/>
          </a:solidFill>
          <a:ln/>
          <a:effectLst>
            <a:outerShdw blurRad="127000" dist="38100" dir="8100000" algn="bl" rotWithShape="0">
              <a:srgbClr val="000000">
                <a:alpha val="30000"/>
              </a:srgbClr>
            </a:outerShdw>
          </a:effectLst>
        </p:spPr>
      </p:sp>
      <p:sp>
        <p:nvSpPr>
          <p:cNvPr id="19" name="Shape 17"/>
          <p:cNvSpPr/>
          <p:nvPr/>
        </p:nvSpPr>
        <p:spPr>
          <a:xfrm>
            <a:off x="530352" y="3502152"/>
            <a:ext cx="438912" cy="438912"/>
          </a:xfrm>
          <a:prstGeom prst="ellipse">
            <a:avLst/>
          </a:prstGeom>
          <a:solidFill>
            <a:srgbClr val="FFD166"/>
          </a:solidFill>
          <a:ln/>
        </p:spPr>
      </p:sp>
      <p:sp>
        <p:nvSpPr>
          <p:cNvPr id="20" name="Text 18"/>
          <p:cNvSpPr/>
          <p:nvPr/>
        </p:nvSpPr>
        <p:spPr>
          <a:xfrm>
            <a:off x="530352" y="3502152"/>
            <a:ext cx="438912" cy="4389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1060704" y="3538728"/>
            <a:ext cx="3429000" cy="320040"/>
          </a:xfrm>
          <a:prstGeom prst="rect">
            <a:avLst/>
          </a:prstGeom>
          <a:noFill/>
          <a:ln/>
        </p:spPr>
        <p:txBody>
          <a:bodyPr wrap="square" rtlCol="0" anchor="ctr"/>
          <a:lstStyle/>
          <a:p>
            <a:pPr marL="0" indent="0">
              <a:buNone/>
            </a:pPr>
            <a:r>
              <a:rPr lang="en-US" sz="1300" b="1" dirty="0">
                <a:solidFill>
                  <a:srgbClr val="FFD166"/>
                </a:solidFill>
                <a:latin typeface="Calibri" pitchFamily="34" charset="0"/>
                <a:ea typeface="Calibri" pitchFamily="34" charset="-122"/>
                <a:cs typeface="Calibri" pitchFamily="34" charset="-120"/>
              </a:rPr>
              <a:t>Identity-Conditioned Cross-Modal Attention</a:t>
            </a:r>
            <a:endParaRPr lang="en-US" sz="1300" dirty="0"/>
          </a:p>
        </p:txBody>
      </p:sp>
      <p:sp>
        <p:nvSpPr>
          <p:cNvPr id="22" name="Text 20"/>
          <p:cNvSpPr/>
          <p:nvPr/>
        </p:nvSpPr>
        <p:spPr>
          <a:xfrm>
            <a:off x="530352" y="3995928"/>
            <a:ext cx="3931920" cy="5486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Audio-visual consistency checking applied ONLY to the speaking identity — avoids confusion with silent person.</a:t>
            </a:r>
            <a:endParaRPr lang="en-US" sz="1100" dirty="0"/>
          </a:p>
        </p:txBody>
      </p:sp>
      <p:sp>
        <p:nvSpPr>
          <p:cNvPr id="23" name="Shape 21"/>
          <p:cNvSpPr/>
          <p:nvPr/>
        </p:nvSpPr>
        <p:spPr>
          <a:xfrm>
            <a:off x="4800600" y="3337560"/>
            <a:ext cx="4251960" cy="1353312"/>
          </a:xfrm>
          <a:prstGeom prst="roundRect">
            <a:avLst>
              <a:gd name="adj" fmla="val 8108"/>
            </a:avLst>
          </a:prstGeom>
          <a:solidFill>
            <a:srgbClr val="162A45"/>
          </a:solidFill>
          <a:ln/>
          <a:effectLst>
            <a:outerShdw blurRad="127000" dist="38100" dir="8100000" algn="bl" rotWithShape="0">
              <a:srgbClr val="000000">
                <a:alpha val="30000"/>
              </a:srgbClr>
            </a:outerShdw>
          </a:effectLst>
        </p:spPr>
      </p:sp>
      <p:sp>
        <p:nvSpPr>
          <p:cNvPr id="24" name="Shape 22"/>
          <p:cNvSpPr/>
          <p:nvPr/>
        </p:nvSpPr>
        <p:spPr>
          <a:xfrm>
            <a:off x="4965192" y="3502152"/>
            <a:ext cx="438912" cy="438912"/>
          </a:xfrm>
          <a:prstGeom prst="ellipse">
            <a:avLst/>
          </a:prstGeom>
          <a:solidFill>
            <a:srgbClr val="00C896"/>
          </a:solidFill>
          <a:ln/>
        </p:spPr>
      </p:sp>
      <p:sp>
        <p:nvSpPr>
          <p:cNvPr id="25" name="Text 23"/>
          <p:cNvSpPr/>
          <p:nvPr/>
        </p:nvSpPr>
        <p:spPr>
          <a:xfrm>
            <a:off x="4965192" y="3502152"/>
            <a:ext cx="438912" cy="4389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5495544" y="3538728"/>
            <a:ext cx="3429000" cy="320040"/>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Lightweight Architecture</a:t>
            </a:r>
            <a:endParaRPr lang="en-US" sz="1300" dirty="0"/>
          </a:p>
        </p:txBody>
      </p:sp>
      <p:sp>
        <p:nvSpPr>
          <p:cNvPr id="27" name="Text 25"/>
          <p:cNvSpPr/>
          <p:nvPr/>
        </p:nvSpPr>
        <p:spPr>
          <a:xfrm>
            <a:off x="4965192" y="3995928"/>
            <a:ext cx="3931920" cy="5486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Only 5.7M parameters total — MobileNetV3 + BiLSTM enables practical real-world deployment on resource-constrained hardware.</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DFDC — Deepfake Detection Challenge</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Original large-scale benchmark dataset</a:t>
            </a:r>
            <a:endParaRPr lang="en-US" sz="1300" dirty="0"/>
          </a:p>
        </p:txBody>
      </p:sp>
      <p:sp>
        <p:nvSpPr>
          <p:cNvPr id="4" name="Shape 2"/>
          <p:cNvSpPr/>
          <p:nvPr/>
        </p:nvSpPr>
        <p:spPr>
          <a:xfrm>
            <a:off x="365760" y="987552"/>
            <a:ext cx="4572000" cy="3639312"/>
          </a:xfrm>
          <a:prstGeom prst="roundRect">
            <a:avLst>
              <a:gd name="adj" fmla="val 3015"/>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4206240" cy="347472"/>
          </a:xfrm>
          <a:prstGeom prst="rect">
            <a:avLst/>
          </a:prstGeom>
          <a:noFill/>
          <a:ln/>
        </p:spPr>
        <p:txBody>
          <a:bodyPr wrap="square"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Original DFDC Dataset</a:t>
            </a:r>
            <a:endParaRPr lang="en-US" sz="1500" dirty="0"/>
          </a:p>
        </p:txBody>
      </p:sp>
      <p:sp>
        <p:nvSpPr>
          <p:cNvPr id="6" name="Shape 4"/>
          <p:cNvSpPr/>
          <p:nvPr/>
        </p:nvSpPr>
        <p:spPr>
          <a:xfrm>
            <a:off x="566928" y="1609344"/>
            <a:ext cx="109728" cy="109728"/>
          </a:xfrm>
          <a:prstGeom prst="ellipse">
            <a:avLst/>
          </a:prstGeom>
          <a:solidFill>
            <a:srgbClr val="00D4FF"/>
          </a:solidFill>
          <a:ln/>
        </p:spPr>
      </p:sp>
      <p:sp>
        <p:nvSpPr>
          <p:cNvPr id="7" name="Text 5"/>
          <p:cNvSpPr/>
          <p:nvPr/>
        </p:nvSpPr>
        <p:spPr>
          <a:xfrm>
            <a:off x="768096" y="1545336"/>
            <a:ext cx="3977640" cy="47548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Over 128,000 videos sourced from 3,426 paid actors across diverse demographics.</a:t>
            </a:r>
            <a:endParaRPr lang="en-US" sz="1150" dirty="0"/>
          </a:p>
        </p:txBody>
      </p:sp>
      <p:sp>
        <p:nvSpPr>
          <p:cNvPr id="8" name="Shape 6"/>
          <p:cNvSpPr/>
          <p:nvPr/>
        </p:nvSpPr>
        <p:spPr>
          <a:xfrm>
            <a:off x="566928" y="2112264"/>
            <a:ext cx="109728" cy="109728"/>
          </a:xfrm>
          <a:prstGeom prst="ellipse">
            <a:avLst/>
          </a:prstGeom>
          <a:solidFill>
            <a:srgbClr val="00D4FF"/>
          </a:solidFill>
          <a:ln/>
        </p:spPr>
      </p:sp>
      <p:sp>
        <p:nvSpPr>
          <p:cNvPr id="9" name="Text 7"/>
          <p:cNvSpPr/>
          <p:nvPr/>
        </p:nvSpPr>
        <p:spPr>
          <a:xfrm>
            <a:off x="768096" y="2048256"/>
            <a:ext cx="3977640" cy="47548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~83.9% synthetic (deepfake) videos; ~16.1% authentic/real videos.</a:t>
            </a:r>
            <a:endParaRPr lang="en-US" sz="1150" dirty="0"/>
          </a:p>
        </p:txBody>
      </p:sp>
      <p:sp>
        <p:nvSpPr>
          <p:cNvPr id="10" name="Shape 8"/>
          <p:cNvSpPr/>
          <p:nvPr/>
        </p:nvSpPr>
        <p:spPr>
          <a:xfrm>
            <a:off x="566928" y="2615184"/>
            <a:ext cx="109728" cy="109728"/>
          </a:xfrm>
          <a:prstGeom prst="ellipse">
            <a:avLst/>
          </a:prstGeom>
          <a:solidFill>
            <a:srgbClr val="00D4FF"/>
          </a:solidFill>
          <a:ln/>
        </p:spPr>
      </p:sp>
      <p:sp>
        <p:nvSpPr>
          <p:cNvPr id="11" name="Text 9"/>
          <p:cNvSpPr/>
          <p:nvPr/>
        </p:nvSpPr>
        <p:spPr>
          <a:xfrm>
            <a:off x="768096" y="2551176"/>
            <a:ext cx="3977640" cy="47548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8 different facial manipulation algorithms including FaceSwap, Face2Face, Neural Textures, and DeepFakes.</a:t>
            </a:r>
            <a:endParaRPr lang="en-US" sz="1150" dirty="0"/>
          </a:p>
        </p:txBody>
      </p:sp>
      <p:sp>
        <p:nvSpPr>
          <p:cNvPr id="12" name="Shape 10"/>
          <p:cNvSpPr/>
          <p:nvPr/>
        </p:nvSpPr>
        <p:spPr>
          <a:xfrm>
            <a:off x="566928" y="3118104"/>
            <a:ext cx="109728" cy="109728"/>
          </a:xfrm>
          <a:prstGeom prst="ellipse">
            <a:avLst/>
          </a:prstGeom>
          <a:solidFill>
            <a:srgbClr val="00D4FF"/>
          </a:solidFill>
          <a:ln/>
        </p:spPr>
      </p:sp>
      <p:sp>
        <p:nvSpPr>
          <p:cNvPr id="13" name="Text 11"/>
          <p:cNvSpPr/>
          <p:nvPr/>
        </p:nvSpPr>
        <p:spPr>
          <a:xfrm>
            <a:off x="768096" y="3054096"/>
            <a:ext cx="3977640" cy="47548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Diverse conditions: multiple camera angles, lighting, audio environments, and resolutions.</a:t>
            </a:r>
            <a:endParaRPr lang="en-US" sz="1150" dirty="0"/>
          </a:p>
        </p:txBody>
      </p:sp>
      <p:sp>
        <p:nvSpPr>
          <p:cNvPr id="14" name="Shape 12"/>
          <p:cNvSpPr/>
          <p:nvPr/>
        </p:nvSpPr>
        <p:spPr>
          <a:xfrm>
            <a:off x="566928" y="3621024"/>
            <a:ext cx="109728" cy="109728"/>
          </a:xfrm>
          <a:prstGeom prst="ellipse">
            <a:avLst/>
          </a:prstGeom>
          <a:solidFill>
            <a:srgbClr val="00D4FF"/>
          </a:solidFill>
          <a:ln/>
        </p:spPr>
      </p:sp>
      <p:sp>
        <p:nvSpPr>
          <p:cNvPr id="15" name="Text 13"/>
          <p:cNvSpPr/>
          <p:nvPr/>
        </p:nvSpPr>
        <p:spPr>
          <a:xfrm>
            <a:off x="768096" y="3557016"/>
            <a:ext cx="3977640" cy="475488"/>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Published by Facebook AI Research as part of the 2020 Deepfake Detection Challenge.</a:t>
            </a:r>
            <a:endParaRPr lang="en-US" sz="1150" dirty="0"/>
          </a:p>
        </p:txBody>
      </p:sp>
      <p:sp>
        <p:nvSpPr>
          <p:cNvPr id="16" name="Shape 14"/>
          <p:cNvSpPr/>
          <p:nvPr/>
        </p:nvSpPr>
        <p:spPr>
          <a:xfrm>
            <a:off x="566928" y="4123944"/>
            <a:ext cx="109728" cy="109728"/>
          </a:xfrm>
          <a:prstGeom prst="ellipse">
            <a:avLst/>
          </a:prstGeom>
          <a:solidFill>
            <a:srgbClr val="FF6B35"/>
          </a:solidFill>
          <a:ln/>
        </p:spPr>
      </p:sp>
      <p:sp>
        <p:nvSpPr>
          <p:cNvPr id="17" name="Text 15"/>
          <p:cNvSpPr/>
          <p:nvPr/>
        </p:nvSpPr>
        <p:spPr>
          <a:xfrm>
            <a:off x="768096" y="4059936"/>
            <a:ext cx="3977640" cy="475488"/>
          </a:xfrm>
          <a:prstGeom prst="rect">
            <a:avLst/>
          </a:prstGeom>
          <a:noFill/>
          <a:ln/>
        </p:spPr>
        <p:txBody>
          <a:bodyPr wrap="square" rtlCol="0" anchor="ctr"/>
          <a:lstStyle/>
          <a:p>
            <a:pPr marL="0" indent="0">
              <a:buNone/>
            </a:pPr>
            <a:r>
              <a:rPr lang="en-US" sz="1150" b="1" dirty="0">
                <a:solidFill>
                  <a:srgbClr val="FFD166"/>
                </a:solidFill>
                <a:latin typeface="Calibri" pitchFamily="34" charset="0"/>
                <a:ea typeface="Calibri" pitchFamily="34" charset="-122"/>
                <a:cs typeface="Calibri" pitchFamily="34" charset="-120"/>
              </a:rPr>
              <a:t>We use a small representative chunk of this dataset and filter for two-person videos only.</a:t>
            </a:r>
            <a:endParaRPr lang="en-US" sz="1150" dirty="0"/>
          </a:p>
        </p:txBody>
      </p:sp>
      <p:sp>
        <p:nvSpPr>
          <p:cNvPr id="18" name="Shape 16"/>
          <p:cNvSpPr/>
          <p:nvPr/>
        </p:nvSpPr>
        <p:spPr>
          <a:xfrm>
            <a:off x="5120640" y="987552"/>
            <a:ext cx="3657600" cy="1627632"/>
          </a:xfrm>
          <a:prstGeom prst="roundRect">
            <a:avLst>
              <a:gd name="adj" fmla="val 6742"/>
            </a:avLst>
          </a:prstGeom>
          <a:solidFill>
            <a:srgbClr val="162A45"/>
          </a:solidFill>
          <a:ln/>
          <a:effectLst>
            <a:outerShdw blurRad="127000" dist="38100" dir="8100000" algn="bl" rotWithShape="0">
              <a:srgbClr val="000000">
                <a:alpha val="30000"/>
              </a:srgbClr>
            </a:outerShdw>
          </a:effectLst>
        </p:spPr>
      </p:sp>
      <p:sp>
        <p:nvSpPr>
          <p:cNvPr id="19" name="Text 17"/>
          <p:cNvSpPr/>
          <p:nvPr/>
        </p:nvSpPr>
        <p:spPr>
          <a:xfrm>
            <a:off x="5303520" y="1078992"/>
            <a:ext cx="329184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Video Composition</a:t>
            </a:r>
            <a:endParaRPr lang="en-US" sz="1300" dirty="0"/>
          </a:p>
        </p:txBody>
      </p:sp>
      <p:graphicFrame>
        <p:nvGraphicFramePr>
          <p:cNvPr id="20" name="Chart 0"/>
          <p:cNvGraphicFramePr/>
          <p:nvPr/>
        </p:nvGraphicFramePr>
        <p:xfrm>
          <a:off x="5120640" y="1371600"/>
          <a:ext cx="3474720" cy="123444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5120640" y="2743200"/>
            <a:ext cx="169164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2" name="Text 19"/>
          <p:cNvSpPr/>
          <p:nvPr/>
        </p:nvSpPr>
        <p:spPr>
          <a:xfrm>
            <a:off x="5120640" y="2816352"/>
            <a:ext cx="1691640" cy="347472"/>
          </a:xfrm>
          <a:prstGeom prst="rect">
            <a:avLst/>
          </a:prstGeom>
          <a:noFill/>
          <a:ln/>
        </p:spPr>
        <p:txBody>
          <a:bodyPr wrap="square"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128,000+</a:t>
            </a:r>
            <a:endParaRPr lang="en-US" sz="1800" dirty="0"/>
          </a:p>
        </p:txBody>
      </p:sp>
      <p:sp>
        <p:nvSpPr>
          <p:cNvPr id="23" name="Text 20"/>
          <p:cNvSpPr/>
          <p:nvPr/>
        </p:nvSpPr>
        <p:spPr>
          <a:xfrm>
            <a:off x="5166360" y="3163824"/>
            <a:ext cx="1600200" cy="27432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Total Videos</a:t>
            </a:r>
            <a:endParaRPr lang="en-US" sz="1000" dirty="0"/>
          </a:p>
        </p:txBody>
      </p:sp>
      <p:sp>
        <p:nvSpPr>
          <p:cNvPr id="24" name="Shape 21"/>
          <p:cNvSpPr/>
          <p:nvPr/>
        </p:nvSpPr>
        <p:spPr>
          <a:xfrm>
            <a:off x="6949440" y="2743200"/>
            <a:ext cx="169164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5" name="Text 22"/>
          <p:cNvSpPr/>
          <p:nvPr/>
        </p:nvSpPr>
        <p:spPr>
          <a:xfrm>
            <a:off x="6949440" y="2816352"/>
            <a:ext cx="1691640" cy="347472"/>
          </a:xfrm>
          <a:prstGeom prst="rect">
            <a:avLst/>
          </a:prstGeom>
          <a:noFill/>
          <a:ln/>
        </p:spPr>
        <p:txBody>
          <a:bodyPr wrap="square"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3,426</a:t>
            </a:r>
            <a:endParaRPr lang="en-US" sz="1800" dirty="0"/>
          </a:p>
        </p:txBody>
      </p:sp>
      <p:sp>
        <p:nvSpPr>
          <p:cNvPr id="26" name="Text 23"/>
          <p:cNvSpPr/>
          <p:nvPr/>
        </p:nvSpPr>
        <p:spPr>
          <a:xfrm>
            <a:off x="6995160" y="3163824"/>
            <a:ext cx="1600200" cy="27432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Paid Actors</a:t>
            </a:r>
            <a:endParaRPr lang="en-US" sz="1000" dirty="0"/>
          </a:p>
        </p:txBody>
      </p:sp>
      <p:sp>
        <p:nvSpPr>
          <p:cNvPr id="27" name="Shape 24"/>
          <p:cNvSpPr/>
          <p:nvPr/>
        </p:nvSpPr>
        <p:spPr>
          <a:xfrm>
            <a:off x="5120640" y="3657600"/>
            <a:ext cx="169164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28" name="Text 25"/>
          <p:cNvSpPr/>
          <p:nvPr/>
        </p:nvSpPr>
        <p:spPr>
          <a:xfrm>
            <a:off x="5120640" y="3730752"/>
            <a:ext cx="1691640" cy="347472"/>
          </a:xfrm>
          <a:prstGeom prst="rect">
            <a:avLst/>
          </a:prstGeom>
          <a:noFill/>
          <a:ln/>
        </p:spPr>
        <p:txBody>
          <a:bodyPr wrap="square" rtlCol="0" anchor="ctr"/>
          <a:lstStyle/>
          <a:p>
            <a:pPr marL="0" indent="0" algn="ctr">
              <a:buNone/>
            </a:pPr>
            <a:r>
              <a:rPr lang="en-US" sz="1800" b="1" dirty="0">
                <a:solidFill>
                  <a:srgbClr val="FFD166"/>
                </a:solidFill>
                <a:latin typeface="Calibri" pitchFamily="34" charset="0"/>
                <a:ea typeface="Calibri" pitchFamily="34" charset="-122"/>
                <a:cs typeface="Calibri" pitchFamily="34" charset="-120"/>
              </a:rPr>
              <a:t>83.9%</a:t>
            </a:r>
            <a:endParaRPr lang="en-US" sz="1800" dirty="0"/>
          </a:p>
        </p:txBody>
      </p:sp>
      <p:sp>
        <p:nvSpPr>
          <p:cNvPr id="29" name="Text 26"/>
          <p:cNvSpPr/>
          <p:nvPr/>
        </p:nvSpPr>
        <p:spPr>
          <a:xfrm>
            <a:off x="5166360" y="4078224"/>
            <a:ext cx="1600200" cy="27432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Synthetic Content</a:t>
            </a:r>
            <a:endParaRPr lang="en-US" sz="1000" dirty="0"/>
          </a:p>
        </p:txBody>
      </p:sp>
      <p:sp>
        <p:nvSpPr>
          <p:cNvPr id="30" name="Shape 27"/>
          <p:cNvSpPr/>
          <p:nvPr/>
        </p:nvSpPr>
        <p:spPr>
          <a:xfrm>
            <a:off x="6949440" y="3657600"/>
            <a:ext cx="1691640" cy="777240"/>
          </a:xfrm>
          <a:prstGeom prst="roundRect">
            <a:avLst>
              <a:gd name="adj" fmla="val 14118"/>
            </a:avLst>
          </a:prstGeom>
          <a:solidFill>
            <a:srgbClr val="162A45"/>
          </a:solidFill>
          <a:ln/>
          <a:effectLst>
            <a:outerShdw blurRad="127000" dist="38100" dir="8100000" algn="bl" rotWithShape="0">
              <a:srgbClr val="000000">
                <a:alpha val="30000"/>
              </a:srgbClr>
            </a:outerShdw>
          </a:effectLst>
        </p:spPr>
      </p:sp>
      <p:sp>
        <p:nvSpPr>
          <p:cNvPr id="31" name="Text 28"/>
          <p:cNvSpPr/>
          <p:nvPr/>
        </p:nvSpPr>
        <p:spPr>
          <a:xfrm>
            <a:off x="6949440" y="3730752"/>
            <a:ext cx="1691640" cy="347472"/>
          </a:xfrm>
          <a:prstGeom prst="rect">
            <a:avLst/>
          </a:prstGeom>
          <a:noFill/>
          <a:ln/>
        </p:spPr>
        <p:txBody>
          <a:bodyPr wrap="square" rtlCol="0" anchor="ctr"/>
          <a:lstStyle/>
          <a:p>
            <a:pPr marL="0" indent="0" algn="ctr">
              <a:buNone/>
            </a:pPr>
            <a:r>
              <a:rPr lang="en-US" sz="1800" b="1" dirty="0">
                <a:solidFill>
                  <a:srgbClr val="00C896"/>
                </a:solidFill>
                <a:latin typeface="Calibri" pitchFamily="34" charset="0"/>
                <a:ea typeface="Calibri" pitchFamily="34" charset="-122"/>
                <a:cs typeface="Calibri" pitchFamily="34" charset="-120"/>
              </a:rPr>
              <a:t>8</a:t>
            </a:r>
            <a:endParaRPr lang="en-US" sz="1800" dirty="0"/>
          </a:p>
        </p:txBody>
      </p:sp>
      <p:sp>
        <p:nvSpPr>
          <p:cNvPr id="32" name="Text 29"/>
          <p:cNvSpPr/>
          <p:nvPr/>
        </p:nvSpPr>
        <p:spPr>
          <a:xfrm>
            <a:off x="6995160" y="4078224"/>
            <a:ext cx="1600200" cy="27432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Manipulation Algos</a:t>
            </a:r>
            <a:endParaRPr lang="en-US" sz="1000" dirty="0"/>
          </a:p>
        </p:txBody>
      </p:sp>
      <p:sp>
        <p:nvSpPr>
          <p:cNvPr id="33" name="Shape 30"/>
          <p:cNvSpPr/>
          <p:nvPr/>
        </p:nvSpPr>
        <p:spPr>
          <a:xfrm>
            <a:off x="5120640" y="4608576"/>
            <a:ext cx="3657600" cy="347472"/>
          </a:xfrm>
          <a:prstGeom prst="roundRect">
            <a:avLst>
              <a:gd name="adj" fmla="val 31579"/>
            </a:avLst>
          </a:prstGeom>
          <a:solidFill>
            <a:srgbClr val="162A45"/>
          </a:solidFill>
          <a:ln/>
          <a:effectLst>
            <a:outerShdw blurRad="127000" dist="38100" dir="8100000" algn="bl" rotWithShape="0">
              <a:srgbClr val="000000">
                <a:alpha val="30000"/>
              </a:srgbClr>
            </a:outerShdw>
          </a:effectLst>
        </p:spPr>
      </p:sp>
      <p:sp>
        <p:nvSpPr>
          <p:cNvPr id="34" name="Text 31"/>
          <p:cNvSpPr/>
          <p:nvPr/>
        </p:nvSpPr>
        <p:spPr>
          <a:xfrm>
            <a:off x="5166360" y="4645152"/>
            <a:ext cx="3566160" cy="256032"/>
          </a:xfrm>
          <a:prstGeom prst="rect">
            <a:avLst/>
          </a:prstGeom>
          <a:noFill/>
          <a:ln/>
        </p:spPr>
        <p:txBody>
          <a:bodyPr wrap="square" rtlCol="0" anchor="ctr"/>
          <a:lstStyle/>
          <a:p>
            <a:pPr marL="0" indent="0">
              <a:buNone/>
            </a:pPr>
            <a:r>
              <a:rPr lang="en-US" sz="1000" i="1" dirty="0">
                <a:solidFill>
                  <a:srgbClr val="8BA3BF"/>
                </a:solidFill>
                <a:latin typeface="Calibri" pitchFamily="34" charset="0"/>
                <a:ea typeface="Calibri" pitchFamily="34" charset="-122"/>
                <a:cs typeface="Calibri" pitchFamily="34" charset="-120"/>
              </a:rPr>
              <a:t>Reference: Dolhansky et al., arXiv:2006.07397, 2020</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Creating Our Two-Person Benchmark</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Filtering pipeline to extract multi-identity videos</a:t>
            </a:r>
            <a:endParaRPr lang="en-US" sz="1300" dirty="0"/>
          </a:p>
        </p:txBody>
      </p:sp>
      <p:sp>
        <p:nvSpPr>
          <p:cNvPr id="4" name="Shape 2"/>
          <p:cNvSpPr/>
          <p:nvPr/>
        </p:nvSpPr>
        <p:spPr>
          <a:xfrm>
            <a:off x="365760" y="1005840"/>
            <a:ext cx="1572768"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877824" y="1051560"/>
            <a:ext cx="566928" cy="566928"/>
          </a:xfrm>
          <a:prstGeom prst="ellipse">
            <a:avLst/>
          </a:prstGeom>
          <a:solidFill>
            <a:srgbClr val="00D4FF"/>
          </a:solidFill>
          <a:ln/>
        </p:spPr>
      </p:sp>
      <p:sp>
        <p:nvSpPr>
          <p:cNvPr id="6" name="Text 4"/>
          <p:cNvSpPr/>
          <p:nvPr/>
        </p:nvSpPr>
        <p:spPr>
          <a:xfrm>
            <a:off x="877824" y="1051560"/>
            <a:ext cx="566928" cy="56692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457200" y="1691640"/>
            <a:ext cx="14173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Face Detection</a:t>
            </a:r>
            <a:endParaRPr lang="en-US" sz="1100" dirty="0"/>
          </a:p>
        </p:txBody>
      </p:sp>
      <p:sp>
        <p:nvSpPr>
          <p:cNvPr id="8" name="Text 6"/>
          <p:cNvSpPr/>
          <p:nvPr/>
        </p:nvSpPr>
        <p:spPr>
          <a:xfrm>
            <a:off x="438912" y="2039112"/>
            <a:ext cx="1444752" cy="32004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MTCNN, confidence ≥ 0.9</a:t>
            </a:r>
            <a:endParaRPr lang="en-US" sz="1000" dirty="0"/>
          </a:p>
        </p:txBody>
      </p:sp>
      <p:sp>
        <p:nvSpPr>
          <p:cNvPr id="9" name="Shape 7"/>
          <p:cNvSpPr/>
          <p:nvPr/>
        </p:nvSpPr>
        <p:spPr>
          <a:xfrm>
            <a:off x="1938528" y="1673352"/>
            <a:ext cx="164592" cy="54864"/>
          </a:xfrm>
          <a:prstGeom prst="rect">
            <a:avLst/>
          </a:prstGeom>
          <a:solidFill>
            <a:srgbClr val="4A6480"/>
          </a:solidFill>
          <a:ln/>
        </p:spPr>
      </p:sp>
      <p:sp>
        <p:nvSpPr>
          <p:cNvPr id="10" name="Shape 8"/>
          <p:cNvSpPr/>
          <p:nvPr/>
        </p:nvSpPr>
        <p:spPr>
          <a:xfrm>
            <a:off x="2103120" y="1005840"/>
            <a:ext cx="1572768"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11" name="Shape 9"/>
          <p:cNvSpPr/>
          <p:nvPr/>
        </p:nvSpPr>
        <p:spPr>
          <a:xfrm>
            <a:off x="2615184" y="1051560"/>
            <a:ext cx="566928" cy="566928"/>
          </a:xfrm>
          <a:prstGeom prst="ellipse">
            <a:avLst/>
          </a:prstGeom>
          <a:solidFill>
            <a:srgbClr val="FF6B35"/>
          </a:solidFill>
          <a:ln/>
        </p:spPr>
      </p:sp>
      <p:sp>
        <p:nvSpPr>
          <p:cNvPr id="12" name="Text 10"/>
          <p:cNvSpPr/>
          <p:nvPr/>
        </p:nvSpPr>
        <p:spPr>
          <a:xfrm>
            <a:off x="2615184" y="1051560"/>
            <a:ext cx="566928" cy="56692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194560" y="1691640"/>
            <a:ext cx="14173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Embedding Extraction</a:t>
            </a:r>
            <a:endParaRPr lang="en-US" sz="1100" dirty="0"/>
          </a:p>
        </p:txBody>
      </p:sp>
      <p:sp>
        <p:nvSpPr>
          <p:cNvPr id="14" name="Text 12"/>
          <p:cNvSpPr/>
          <p:nvPr/>
        </p:nvSpPr>
        <p:spPr>
          <a:xfrm>
            <a:off x="2176272" y="2039112"/>
            <a:ext cx="1444752" cy="32004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FaceNet embeddings per frame</a:t>
            </a:r>
            <a:endParaRPr lang="en-US" sz="1000" dirty="0"/>
          </a:p>
        </p:txBody>
      </p:sp>
      <p:sp>
        <p:nvSpPr>
          <p:cNvPr id="15" name="Shape 13"/>
          <p:cNvSpPr/>
          <p:nvPr/>
        </p:nvSpPr>
        <p:spPr>
          <a:xfrm>
            <a:off x="3675888" y="1673352"/>
            <a:ext cx="164592" cy="54864"/>
          </a:xfrm>
          <a:prstGeom prst="rect">
            <a:avLst/>
          </a:prstGeom>
          <a:solidFill>
            <a:srgbClr val="4A6480"/>
          </a:solidFill>
          <a:ln/>
        </p:spPr>
      </p:sp>
      <p:sp>
        <p:nvSpPr>
          <p:cNvPr id="16" name="Shape 14"/>
          <p:cNvSpPr/>
          <p:nvPr/>
        </p:nvSpPr>
        <p:spPr>
          <a:xfrm>
            <a:off x="3840480" y="1005840"/>
            <a:ext cx="1572768"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17" name="Shape 15"/>
          <p:cNvSpPr/>
          <p:nvPr/>
        </p:nvSpPr>
        <p:spPr>
          <a:xfrm>
            <a:off x="4352544" y="1051560"/>
            <a:ext cx="566928" cy="566928"/>
          </a:xfrm>
          <a:prstGeom prst="ellipse">
            <a:avLst/>
          </a:prstGeom>
          <a:solidFill>
            <a:srgbClr val="FFD166"/>
          </a:solidFill>
          <a:ln/>
        </p:spPr>
      </p:sp>
      <p:sp>
        <p:nvSpPr>
          <p:cNvPr id="18" name="Text 16"/>
          <p:cNvSpPr/>
          <p:nvPr/>
        </p:nvSpPr>
        <p:spPr>
          <a:xfrm>
            <a:off x="4352544" y="1051560"/>
            <a:ext cx="566928" cy="56692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3931920" y="1691640"/>
            <a:ext cx="14173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Identity Clustering</a:t>
            </a:r>
            <a:endParaRPr lang="en-US" sz="1100" dirty="0"/>
          </a:p>
        </p:txBody>
      </p:sp>
      <p:sp>
        <p:nvSpPr>
          <p:cNvPr id="20" name="Text 18"/>
          <p:cNvSpPr/>
          <p:nvPr/>
        </p:nvSpPr>
        <p:spPr>
          <a:xfrm>
            <a:off x="3913632" y="2039112"/>
            <a:ext cx="1444752" cy="32004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DBSCAN (ε=0.45, min_samples=3)</a:t>
            </a:r>
            <a:endParaRPr lang="en-US" sz="1000" dirty="0"/>
          </a:p>
        </p:txBody>
      </p:sp>
      <p:sp>
        <p:nvSpPr>
          <p:cNvPr id="21" name="Shape 19"/>
          <p:cNvSpPr/>
          <p:nvPr/>
        </p:nvSpPr>
        <p:spPr>
          <a:xfrm>
            <a:off x="5413248" y="1673352"/>
            <a:ext cx="164592" cy="54864"/>
          </a:xfrm>
          <a:prstGeom prst="rect">
            <a:avLst/>
          </a:prstGeom>
          <a:solidFill>
            <a:srgbClr val="4A6480"/>
          </a:solidFill>
          <a:ln/>
        </p:spPr>
      </p:sp>
      <p:sp>
        <p:nvSpPr>
          <p:cNvPr id="22" name="Shape 20"/>
          <p:cNvSpPr/>
          <p:nvPr/>
        </p:nvSpPr>
        <p:spPr>
          <a:xfrm>
            <a:off x="5577840" y="1005840"/>
            <a:ext cx="1572768"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23" name="Shape 21"/>
          <p:cNvSpPr/>
          <p:nvPr/>
        </p:nvSpPr>
        <p:spPr>
          <a:xfrm>
            <a:off x="6089904" y="1051560"/>
            <a:ext cx="566928" cy="566928"/>
          </a:xfrm>
          <a:prstGeom prst="ellipse">
            <a:avLst/>
          </a:prstGeom>
          <a:solidFill>
            <a:srgbClr val="00C896"/>
          </a:solidFill>
          <a:ln/>
        </p:spPr>
      </p:sp>
      <p:sp>
        <p:nvSpPr>
          <p:cNvPr id="24" name="Text 22"/>
          <p:cNvSpPr/>
          <p:nvPr/>
        </p:nvSpPr>
        <p:spPr>
          <a:xfrm>
            <a:off x="6089904" y="1051560"/>
            <a:ext cx="566928" cy="56692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5669280" y="1691640"/>
            <a:ext cx="14173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Filter: Exactly 2</a:t>
            </a:r>
            <a:endParaRPr lang="en-US" sz="1100" dirty="0"/>
          </a:p>
        </p:txBody>
      </p:sp>
      <p:sp>
        <p:nvSpPr>
          <p:cNvPr id="26" name="Text 24"/>
          <p:cNvSpPr/>
          <p:nvPr/>
        </p:nvSpPr>
        <p:spPr>
          <a:xfrm>
            <a:off x="5650992" y="2039112"/>
            <a:ext cx="1444752" cy="32004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Both appear in ≥20% of frames</a:t>
            </a:r>
            <a:endParaRPr lang="en-US" sz="1000" dirty="0"/>
          </a:p>
        </p:txBody>
      </p:sp>
      <p:sp>
        <p:nvSpPr>
          <p:cNvPr id="27" name="Shape 25"/>
          <p:cNvSpPr/>
          <p:nvPr/>
        </p:nvSpPr>
        <p:spPr>
          <a:xfrm>
            <a:off x="7150608" y="1673352"/>
            <a:ext cx="164592" cy="54864"/>
          </a:xfrm>
          <a:prstGeom prst="rect">
            <a:avLst/>
          </a:prstGeom>
          <a:solidFill>
            <a:srgbClr val="4A6480"/>
          </a:solidFill>
          <a:ln/>
        </p:spPr>
      </p:sp>
      <p:sp>
        <p:nvSpPr>
          <p:cNvPr id="28" name="Shape 26"/>
          <p:cNvSpPr/>
          <p:nvPr/>
        </p:nvSpPr>
        <p:spPr>
          <a:xfrm>
            <a:off x="7315200" y="1005840"/>
            <a:ext cx="1572768"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29" name="Shape 27"/>
          <p:cNvSpPr/>
          <p:nvPr/>
        </p:nvSpPr>
        <p:spPr>
          <a:xfrm>
            <a:off x="7827264" y="1051560"/>
            <a:ext cx="566928" cy="566928"/>
          </a:xfrm>
          <a:prstGeom prst="ellipse">
            <a:avLst/>
          </a:prstGeom>
          <a:solidFill>
            <a:srgbClr val="00D4FF"/>
          </a:solidFill>
          <a:ln/>
        </p:spPr>
      </p:sp>
      <p:sp>
        <p:nvSpPr>
          <p:cNvPr id="30" name="Text 28"/>
          <p:cNvSpPr/>
          <p:nvPr/>
        </p:nvSpPr>
        <p:spPr>
          <a:xfrm>
            <a:off x="7827264" y="1051560"/>
            <a:ext cx="566928" cy="56692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7406640" y="1691640"/>
            <a:ext cx="14173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Quality Filter</a:t>
            </a:r>
            <a:endParaRPr lang="en-US" sz="1100" dirty="0"/>
          </a:p>
        </p:txBody>
      </p:sp>
      <p:sp>
        <p:nvSpPr>
          <p:cNvPr id="32" name="Text 30"/>
          <p:cNvSpPr/>
          <p:nvPr/>
        </p:nvSpPr>
        <p:spPr>
          <a:xfrm>
            <a:off x="7388352" y="2039112"/>
            <a:ext cx="1444752" cy="320040"/>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Conf ≥ 0.95, face ≥ 40×40 px</a:t>
            </a:r>
            <a:endParaRPr lang="en-US" sz="1000" dirty="0"/>
          </a:p>
        </p:txBody>
      </p:sp>
      <p:sp>
        <p:nvSpPr>
          <p:cNvPr id="33" name="Text 31"/>
          <p:cNvSpPr/>
          <p:nvPr/>
        </p:nvSpPr>
        <p:spPr>
          <a:xfrm>
            <a:off x="365760" y="2578608"/>
            <a:ext cx="8412480" cy="320040"/>
          </a:xfrm>
          <a:prstGeom prst="rect">
            <a:avLst/>
          </a:prstGeom>
          <a:noFill/>
          <a:ln/>
        </p:spPr>
        <p:txBody>
          <a:bodyPr wrap="square" rtlCol="0" anchor="ctr"/>
          <a:lstStyle/>
          <a:p>
            <a:pPr marL="0" indent="0">
              <a:buNone/>
            </a:pPr>
            <a:r>
              <a:rPr lang="en-US" sz="1500" b="1" dirty="0" smtClean="0">
                <a:solidFill>
                  <a:srgbClr val="00D4FF"/>
                </a:solidFill>
                <a:latin typeface="Calibri" pitchFamily="34" charset="0"/>
                <a:ea typeface="Calibri" pitchFamily="34" charset="-122"/>
                <a:cs typeface="Calibri" pitchFamily="34" charset="-120"/>
              </a:rPr>
              <a:t>                            Filtering </a:t>
            </a:r>
            <a:r>
              <a:rPr lang="en-US" sz="1500" b="1" dirty="0">
                <a:solidFill>
                  <a:srgbClr val="00D4FF"/>
                </a:solidFill>
                <a:latin typeface="Calibri" pitchFamily="34" charset="0"/>
                <a:ea typeface="Calibri" pitchFamily="34" charset="-122"/>
                <a:cs typeface="Calibri" pitchFamily="34" charset="-120"/>
              </a:rPr>
              <a:t>Results</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3198865831"/>
              </p:ext>
            </p:extLst>
          </p:nvPr>
        </p:nvGraphicFramePr>
        <p:xfrm>
          <a:off x="1648543" y="2926080"/>
          <a:ext cx="5623560" cy="1828800"/>
        </p:xfrm>
        <a:graphic>
          <a:graphicData uri="http://schemas.openxmlformats.org/drawingml/2006/table">
            <a:tbl>
              <a:tblPr/>
              <a:tblGrid>
                <a:gridCol w="28346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rPr>
                        <a:t>Metric</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A3A5C"/>
                    </a:solidFill>
                  </a:tcPr>
                </a:tc>
                <a:tc>
                  <a:txBody>
                    <a:bodyPr/>
                    <a:lstStyle/>
                    <a:p>
                      <a:pPr marL="0" indent="0">
                        <a:buNone/>
                      </a:pPr>
                      <a:r>
                        <a:rPr lang="en-US" sz="1200" b="1" dirty="0">
                          <a:solidFill>
                            <a:srgbClr val="0A1628"/>
                          </a:solidFill>
                        </a:rPr>
                        <a:t>Our Filtered Bench</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00D4FF"/>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E8F0F8"/>
                          </a:solidFill>
                        </a:rPr>
                        <a:t>Total Videos</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200" b="1" dirty="0">
                          <a:solidFill>
                            <a:srgbClr val="FFD166"/>
                          </a:solidFill>
                        </a:rPr>
                        <a:t>6,814</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E8F0F8"/>
                          </a:solidFill>
                        </a:rPr>
                        <a:t>Real Videos</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200" b="1" dirty="0">
                          <a:solidFill>
                            <a:srgbClr val="00C896"/>
                          </a:solidFill>
                        </a:rPr>
                        <a:t>908 (13.3%)</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rgbClr val="E8F0F8"/>
                          </a:solidFill>
                        </a:rPr>
                        <a:t>Fake Videos</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200" b="1" dirty="0">
                          <a:solidFill>
                            <a:srgbClr val="FF6B35"/>
                          </a:solidFill>
                        </a:rPr>
                        <a:t>5,906 (86.7%)</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rgbClr val="E8F0F8"/>
                          </a:solidFill>
                        </a:rPr>
                        <a:t>Split (Train/Val/Test)</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200" b="1" dirty="0">
                          <a:solidFill>
                            <a:srgbClr val="00D4FF"/>
                          </a:solidFill>
                        </a:rPr>
                        <a:t>70% / 15% / 15%</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4"/>
                  </a:ext>
                </a:extLst>
              </a:tr>
            </a:tbl>
          </a:graphicData>
        </a:graphic>
      </p:graphicFrame>
      <p:sp>
        <p:nvSpPr>
          <p:cNvPr id="35" name="Text 32"/>
          <p:cNvSpPr/>
          <p:nvPr/>
        </p:nvSpPr>
        <p:spPr>
          <a:xfrm>
            <a:off x="365760" y="4828032"/>
            <a:ext cx="8412480" cy="256032"/>
          </a:xfrm>
          <a:prstGeom prst="rect">
            <a:avLst/>
          </a:prstGeom>
          <a:noFill/>
          <a:ln/>
        </p:spPr>
        <p:txBody>
          <a:bodyPr wrap="square" rtlCol="0" anchor="ctr"/>
          <a:lstStyle/>
          <a:p>
            <a:pPr marL="0" indent="0">
              <a:buNone/>
            </a:pPr>
            <a:r>
              <a:rPr lang="en-US" sz="1100" b="1" dirty="0">
                <a:solidFill>
                  <a:srgbClr val="FFD166"/>
                </a:solidFill>
                <a:latin typeface="Calibri" pitchFamily="34" charset="0"/>
                <a:ea typeface="Calibri" pitchFamily="34" charset="-122"/>
                <a:cs typeface="Calibri" pitchFamily="34" charset="-120"/>
              </a:rPr>
              <a:t>⚠  Class imbalance: Real-to-Fake ratio ≈ 1:6.5 — addressed via weighted cross-entropy loss</a:t>
            </a:r>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Preprocessing Pipeline</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Visual and audio processing for each video</a:t>
            </a:r>
            <a:endParaRPr lang="en-US" sz="1300" dirty="0"/>
          </a:p>
        </p:txBody>
      </p:sp>
      <p:sp>
        <p:nvSpPr>
          <p:cNvPr id="4" name="Shape 2"/>
          <p:cNvSpPr/>
          <p:nvPr/>
        </p:nvSpPr>
        <p:spPr>
          <a:xfrm>
            <a:off x="365760" y="987552"/>
            <a:ext cx="411480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3749040" cy="347472"/>
          </a:xfrm>
          <a:prstGeom prst="rect">
            <a:avLst/>
          </a:prstGeom>
          <a:noFill/>
          <a:ln/>
        </p:spPr>
        <p:txBody>
          <a:bodyPr wrap="square"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Visual Preprocessing</a:t>
            </a:r>
            <a:endParaRPr lang="en-US" sz="1500" dirty="0"/>
          </a:p>
        </p:txBody>
      </p:sp>
      <p:sp>
        <p:nvSpPr>
          <p:cNvPr id="6" name="Shape 4"/>
          <p:cNvSpPr/>
          <p:nvPr/>
        </p:nvSpPr>
        <p:spPr>
          <a:xfrm>
            <a:off x="566928" y="1609344"/>
            <a:ext cx="54864" cy="502920"/>
          </a:xfrm>
          <a:prstGeom prst="rect">
            <a:avLst/>
          </a:prstGeom>
          <a:solidFill>
            <a:srgbClr val="00D4FF"/>
          </a:solidFill>
          <a:ln/>
        </p:spPr>
      </p:sp>
      <p:sp>
        <p:nvSpPr>
          <p:cNvPr id="7" name="Text 5"/>
          <p:cNvSpPr/>
          <p:nvPr/>
        </p:nvSpPr>
        <p:spPr>
          <a:xfrm>
            <a:off x="713232" y="1572768"/>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Face Tracking</a:t>
            </a:r>
            <a:endParaRPr lang="en-US" sz="1200" dirty="0"/>
          </a:p>
        </p:txBody>
      </p:sp>
      <p:sp>
        <p:nvSpPr>
          <p:cNvPr id="8" name="Text 6"/>
          <p:cNvSpPr/>
          <p:nvPr/>
        </p:nvSpPr>
        <p:spPr>
          <a:xfrm>
            <a:off x="713232" y="1810512"/>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Maintains identity consistency across frames via embedding similarity</a:t>
            </a:r>
            <a:endParaRPr lang="en-US" sz="1050" dirty="0"/>
          </a:p>
        </p:txBody>
      </p:sp>
      <p:sp>
        <p:nvSpPr>
          <p:cNvPr id="9" name="Shape 7"/>
          <p:cNvSpPr/>
          <p:nvPr/>
        </p:nvSpPr>
        <p:spPr>
          <a:xfrm>
            <a:off x="566928" y="2267712"/>
            <a:ext cx="54864" cy="502920"/>
          </a:xfrm>
          <a:prstGeom prst="rect">
            <a:avLst/>
          </a:prstGeom>
          <a:solidFill>
            <a:srgbClr val="00D4FF"/>
          </a:solidFill>
          <a:ln/>
        </p:spPr>
      </p:sp>
      <p:sp>
        <p:nvSpPr>
          <p:cNvPr id="10" name="Text 8"/>
          <p:cNvSpPr/>
          <p:nvPr/>
        </p:nvSpPr>
        <p:spPr>
          <a:xfrm>
            <a:off x="713232" y="2231136"/>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Frame Sampling</a:t>
            </a:r>
            <a:endParaRPr lang="en-US" sz="1200" dirty="0"/>
          </a:p>
        </p:txBody>
      </p:sp>
      <p:sp>
        <p:nvSpPr>
          <p:cNvPr id="11" name="Text 9"/>
          <p:cNvSpPr/>
          <p:nvPr/>
        </p:nvSpPr>
        <p:spPr>
          <a:xfrm>
            <a:off x="713232" y="2468880"/>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8 uniformly distributed frames sampled per identity per video</a:t>
            </a:r>
            <a:endParaRPr lang="en-US" sz="1050" dirty="0"/>
          </a:p>
        </p:txBody>
      </p:sp>
      <p:sp>
        <p:nvSpPr>
          <p:cNvPr id="12" name="Shape 10"/>
          <p:cNvSpPr/>
          <p:nvPr/>
        </p:nvSpPr>
        <p:spPr>
          <a:xfrm>
            <a:off x="566928" y="2926080"/>
            <a:ext cx="54864" cy="502920"/>
          </a:xfrm>
          <a:prstGeom prst="rect">
            <a:avLst/>
          </a:prstGeom>
          <a:solidFill>
            <a:srgbClr val="00D4FF"/>
          </a:solidFill>
          <a:ln/>
        </p:spPr>
      </p:sp>
      <p:sp>
        <p:nvSpPr>
          <p:cNvPr id="13" name="Text 11"/>
          <p:cNvSpPr/>
          <p:nvPr/>
        </p:nvSpPr>
        <p:spPr>
          <a:xfrm>
            <a:off x="713232" y="2889504"/>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Alignment &amp; Resize</a:t>
            </a:r>
            <a:endParaRPr lang="en-US" sz="1200" dirty="0"/>
          </a:p>
        </p:txBody>
      </p:sp>
      <p:sp>
        <p:nvSpPr>
          <p:cNvPr id="14" name="Text 12"/>
          <p:cNvSpPr/>
          <p:nvPr/>
        </p:nvSpPr>
        <p:spPr>
          <a:xfrm>
            <a:off x="713232" y="3127248"/>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Faces aligned and resized to 112×112 pixels</a:t>
            </a:r>
            <a:endParaRPr lang="en-US" sz="1050" dirty="0"/>
          </a:p>
        </p:txBody>
      </p:sp>
      <p:sp>
        <p:nvSpPr>
          <p:cNvPr id="15" name="Shape 13"/>
          <p:cNvSpPr/>
          <p:nvPr/>
        </p:nvSpPr>
        <p:spPr>
          <a:xfrm>
            <a:off x="566928" y="3584448"/>
            <a:ext cx="54864" cy="502920"/>
          </a:xfrm>
          <a:prstGeom prst="rect">
            <a:avLst/>
          </a:prstGeom>
          <a:solidFill>
            <a:srgbClr val="00D4FF"/>
          </a:solidFill>
          <a:ln/>
        </p:spPr>
      </p:sp>
      <p:sp>
        <p:nvSpPr>
          <p:cNvPr id="16" name="Text 14"/>
          <p:cNvSpPr/>
          <p:nvPr/>
        </p:nvSpPr>
        <p:spPr>
          <a:xfrm>
            <a:off x="713232" y="3547872"/>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Normalization</a:t>
            </a:r>
            <a:endParaRPr lang="en-US" sz="1200" dirty="0"/>
          </a:p>
        </p:txBody>
      </p:sp>
      <p:sp>
        <p:nvSpPr>
          <p:cNvPr id="17" name="Text 15"/>
          <p:cNvSpPr/>
          <p:nvPr/>
        </p:nvSpPr>
        <p:spPr>
          <a:xfrm>
            <a:off x="713232" y="3785616"/>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ImageNet stats: μ=[0.485,0.456,0.406], σ=[0.229,0.224,0.225]</a:t>
            </a:r>
            <a:endParaRPr lang="en-US" sz="1050" dirty="0"/>
          </a:p>
        </p:txBody>
      </p:sp>
      <p:sp>
        <p:nvSpPr>
          <p:cNvPr id="18" name="Shape 16"/>
          <p:cNvSpPr/>
          <p:nvPr/>
        </p:nvSpPr>
        <p:spPr>
          <a:xfrm>
            <a:off x="566928" y="4242816"/>
            <a:ext cx="54864" cy="502920"/>
          </a:xfrm>
          <a:prstGeom prst="rect">
            <a:avLst/>
          </a:prstGeom>
          <a:solidFill>
            <a:srgbClr val="00D4FF"/>
          </a:solidFill>
          <a:ln/>
        </p:spPr>
      </p:sp>
      <p:sp>
        <p:nvSpPr>
          <p:cNvPr id="19" name="Text 17"/>
          <p:cNvSpPr/>
          <p:nvPr/>
        </p:nvSpPr>
        <p:spPr>
          <a:xfrm>
            <a:off x="713232" y="4206240"/>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Augmentation</a:t>
            </a:r>
            <a:endParaRPr lang="en-US" sz="1200" dirty="0"/>
          </a:p>
        </p:txBody>
      </p:sp>
      <p:sp>
        <p:nvSpPr>
          <p:cNvPr id="20" name="Text 18"/>
          <p:cNvSpPr/>
          <p:nvPr/>
        </p:nvSpPr>
        <p:spPr>
          <a:xfrm>
            <a:off x="713232" y="4443984"/>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Random flip, color jitter, compression artifacts</a:t>
            </a:r>
            <a:endParaRPr lang="en-US" sz="1050" dirty="0"/>
          </a:p>
        </p:txBody>
      </p:sp>
      <p:sp>
        <p:nvSpPr>
          <p:cNvPr id="21" name="Shape 19"/>
          <p:cNvSpPr/>
          <p:nvPr/>
        </p:nvSpPr>
        <p:spPr>
          <a:xfrm>
            <a:off x="4663440" y="987552"/>
            <a:ext cx="411480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22" name="Text 20"/>
          <p:cNvSpPr/>
          <p:nvPr/>
        </p:nvSpPr>
        <p:spPr>
          <a:xfrm>
            <a:off x="4846320" y="1078992"/>
            <a:ext cx="3749040" cy="347472"/>
          </a:xfrm>
          <a:prstGeom prst="rect">
            <a:avLst/>
          </a:prstGeom>
          <a:noFill/>
          <a:ln/>
        </p:spPr>
        <p:txBody>
          <a:bodyPr wrap="square" rtlCol="0" anchor="ctr"/>
          <a:lstStyle/>
          <a:p>
            <a:pPr marL="0" indent="0">
              <a:buNone/>
            </a:pPr>
            <a:r>
              <a:rPr lang="en-US" sz="1500" b="1" dirty="0">
                <a:solidFill>
                  <a:srgbClr val="FF6B35"/>
                </a:solidFill>
                <a:latin typeface="Calibri" pitchFamily="34" charset="0"/>
                <a:ea typeface="Calibri" pitchFamily="34" charset="-122"/>
                <a:cs typeface="Calibri" pitchFamily="34" charset="-120"/>
              </a:rPr>
              <a:t>Audio Preprocessing</a:t>
            </a:r>
            <a:endParaRPr lang="en-US" sz="1500" dirty="0"/>
          </a:p>
        </p:txBody>
      </p:sp>
      <p:sp>
        <p:nvSpPr>
          <p:cNvPr id="23" name="Shape 21"/>
          <p:cNvSpPr/>
          <p:nvPr/>
        </p:nvSpPr>
        <p:spPr>
          <a:xfrm>
            <a:off x="4846320" y="1609344"/>
            <a:ext cx="54864" cy="502920"/>
          </a:xfrm>
          <a:prstGeom prst="rect">
            <a:avLst/>
          </a:prstGeom>
          <a:solidFill>
            <a:srgbClr val="FF6B35"/>
          </a:solidFill>
          <a:ln/>
        </p:spPr>
      </p:sp>
      <p:sp>
        <p:nvSpPr>
          <p:cNvPr id="24" name="Text 22"/>
          <p:cNvSpPr/>
          <p:nvPr/>
        </p:nvSpPr>
        <p:spPr>
          <a:xfrm>
            <a:off x="4992624" y="1572768"/>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Mono Conversion</a:t>
            </a:r>
            <a:endParaRPr lang="en-US" sz="1200" dirty="0"/>
          </a:p>
        </p:txBody>
      </p:sp>
      <p:sp>
        <p:nvSpPr>
          <p:cNvPr id="25" name="Text 23"/>
          <p:cNvSpPr/>
          <p:nvPr/>
        </p:nvSpPr>
        <p:spPr>
          <a:xfrm>
            <a:off x="4992624" y="1810512"/>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Extract audio from video; convert to mono channel</a:t>
            </a:r>
            <a:endParaRPr lang="en-US" sz="1050" dirty="0"/>
          </a:p>
        </p:txBody>
      </p:sp>
      <p:sp>
        <p:nvSpPr>
          <p:cNvPr id="26" name="Shape 24"/>
          <p:cNvSpPr/>
          <p:nvPr/>
        </p:nvSpPr>
        <p:spPr>
          <a:xfrm>
            <a:off x="4846320" y="2267712"/>
            <a:ext cx="54864" cy="502920"/>
          </a:xfrm>
          <a:prstGeom prst="rect">
            <a:avLst/>
          </a:prstGeom>
          <a:solidFill>
            <a:srgbClr val="FF6B35"/>
          </a:solidFill>
          <a:ln/>
        </p:spPr>
      </p:sp>
      <p:sp>
        <p:nvSpPr>
          <p:cNvPr id="27" name="Text 25"/>
          <p:cNvSpPr/>
          <p:nvPr/>
        </p:nvSpPr>
        <p:spPr>
          <a:xfrm>
            <a:off x="4992624" y="2231136"/>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Sampling Rate</a:t>
            </a:r>
            <a:endParaRPr lang="en-US" sz="1200" dirty="0"/>
          </a:p>
        </p:txBody>
      </p:sp>
      <p:sp>
        <p:nvSpPr>
          <p:cNvPr id="28" name="Text 26"/>
          <p:cNvSpPr/>
          <p:nvPr/>
        </p:nvSpPr>
        <p:spPr>
          <a:xfrm>
            <a:off x="4992624" y="2468880"/>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Resample to 16 kHz for consistency</a:t>
            </a:r>
            <a:endParaRPr lang="en-US" sz="1050" dirty="0"/>
          </a:p>
        </p:txBody>
      </p:sp>
      <p:sp>
        <p:nvSpPr>
          <p:cNvPr id="29" name="Shape 27"/>
          <p:cNvSpPr/>
          <p:nvPr/>
        </p:nvSpPr>
        <p:spPr>
          <a:xfrm>
            <a:off x="4846320" y="2926080"/>
            <a:ext cx="54864" cy="502920"/>
          </a:xfrm>
          <a:prstGeom prst="rect">
            <a:avLst/>
          </a:prstGeom>
          <a:solidFill>
            <a:srgbClr val="FF6B35"/>
          </a:solidFill>
          <a:ln/>
        </p:spPr>
      </p:sp>
      <p:sp>
        <p:nvSpPr>
          <p:cNvPr id="30" name="Text 28"/>
          <p:cNvSpPr/>
          <p:nvPr/>
        </p:nvSpPr>
        <p:spPr>
          <a:xfrm>
            <a:off x="4992624" y="2889504"/>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Fixed Length</a:t>
            </a:r>
            <a:endParaRPr lang="en-US" sz="1200" dirty="0"/>
          </a:p>
        </p:txBody>
      </p:sp>
      <p:sp>
        <p:nvSpPr>
          <p:cNvPr id="31" name="Text 29"/>
          <p:cNvSpPr/>
          <p:nvPr/>
        </p:nvSpPr>
        <p:spPr>
          <a:xfrm>
            <a:off x="4992624" y="3127248"/>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Standardize to 10 seconds (160,000 samples) via pad/truncate</a:t>
            </a:r>
            <a:endParaRPr lang="en-US" sz="1050" dirty="0"/>
          </a:p>
        </p:txBody>
      </p:sp>
      <p:sp>
        <p:nvSpPr>
          <p:cNvPr id="32" name="Shape 30"/>
          <p:cNvSpPr/>
          <p:nvPr/>
        </p:nvSpPr>
        <p:spPr>
          <a:xfrm>
            <a:off x="4846320" y="3584448"/>
            <a:ext cx="54864" cy="502920"/>
          </a:xfrm>
          <a:prstGeom prst="rect">
            <a:avLst/>
          </a:prstGeom>
          <a:solidFill>
            <a:srgbClr val="FF6B35"/>
          </a:solidFill>
          <a:ln/>
        </p:spPr>
      </p:sp>
      <p:sp>
        <p:nvSpPr>
          <p:cNvPr id="33" name="Text 31"/>
          <p:cNvSpPr/>
          <p:nvPr/>
        </p:nvSpPr>
        <p:spPr>
          <a:xfrm>
            <a:off x="4992624" y="3547872"/>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Speech Detection</a:t>
            </a:r>
            <a:endParaRPr lang="en-US" sz="1200" dirty="0"/>
          </a:p>
        </p:txBody>
      </p:sp>
      <p:sp>
        <p:nvSpPr>
          <p:cNvPr id="34" name="Text 32"/>
          <p:cNvSpPr/>
          <p:nvPr/>
        </p:nvSpPr>
        <p:spPr>
          <a:xfrm>
            <a:off x="4992624" y="3785616"/>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RMS energy thresholding: τ = μ_energy + 0.5·σ_energy</a:t>
            </a:r>
            <a:endParaRPr lang="en-US" sz="1050" dirty="0"/>
          </a:p>
        </p:txBody>
      </p:sp>
      <p:sp>
        <p:nvSpPr>
          <p:cNvPr id="35" name="Shape 33"/>
          <p:cNvSpPr/>
          <p:nvPr/>
        </p:nvSpPr>
        <p:spPr>
          <a:xfrm>
            <a:off x="4846320" y="4242816"/>
            <a:ext cx="54864" cy="502920"/>
          </a:xfrm>
          <a:prstGeom prst="rect">
            <a:avLst/>
          </a:prstGeom>
          <a:solidFill>
            <a:srgbClr val="FF6B35"/>
          </a:solidFill>
          <a:ln/>
        </p:spPr>
      </p:sp>
      <p:sp>
        <p:nvSpPr>
          <p:cNvPr id="36" name="Text 34"/>
          <p:cNvSpPr/>
          <p:nvPr/>
        </p:nvSpPr>
        <p:spPr>
          <a:xfrm>
            <a:off x="4992624" y="4206240"/>
            <a:ext cx="356616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Lip Movement</a:t>
            </a:r>
            <a:endParaRPr lang="en-US" sz="1200" dirty="0"/>
          </a:p>
        </p:txBody>
      </p:sp>
      <p:sp>
        <p:nvSpPr>
          <p:cNvPr id="37" name="Text 35"/>
          <p:cNvSpPr/>
          <p:nvPr/>
        </p:nvSpPr>
        <p:spPr>
          <a:xfrm>
            <a:off x="4992624" y="4443984"/>
            <a:ext cx="3566160" cy="228600"/>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Lower 50% of face bounding box used for mouth region</a:t>
            </a:r>
            <a:endParaRPr lang="en-US" sz="1050" dirty="0"/>
          </a:p>
        </p:txBody>
      </p:sp>
      <p:sp>
        <p:nvSpPr>
          <p:cNvPr id="38" name="Shape 36"/>
          <p:cNvSpPr/>
          <p:nvPr/>
        </p:nvSpPr>
        <p:spPr>
          <a:xfrm>
            <a:off x="365760" y="4645152"/>
            <a:ext cx="8412480" cy="365760"/>
          </a:xfrm>
          <a:prstGeom prst="roundRect">
            <a:avLst>
              <a:gd name="adj" fmla="val 30000"/>
            </a:avLst>
          </a:prstGeom>
          <a:solidFill>
            <a:srgbClr val="162A45"/>
          </a:solidFill>
          <a:ln/>
          <a:effectLst>
            <a:outerShdw blurRad="127000" dist="38100" dir="8100000" algn="bl" rotWithShape="0">
              <a:srgbClr val="000000">
                <a:alpha val="30000"/>
              </a:srgbClr>
            </a:outerShdw>
          </a:effectLst>
        </p:spPr>
      </p:sp>
      <p:sp>
        <p:nvSpPr>
          <p:cNvPr id="39" name="Text 37"/>
          <p:cNvSpPr/>
          <p:nvPr/>
        </p:nvSpPr>
        <p:spPr>
          <a:xfrm>
            <a:off x="548640" y="4681728"/>
            <a:ext cx="8229600" cy="274320"/>
          </a:xfrm>
          <a:prstGeom prst="rect">
            <a:avLst/>
          </a:prstGeom>
          <a:noFill/>
          <a:ln/>
        </p:spPr>
        <p:txBody>
          <a:bodyPr wrap="square" rtlCol="0" anchor="ctr"/>
          <a:lstStyle/>
          <a:p>
            <a:pPr marL="0" indent="0">
              <a:buNone/>
            </a:pPr>
            <a:r>
              <a:rPr lang="en-US" sz="1100" b="1" dirty="0">
                <a:solidFill>
                  <a:srgbClr val="FFD166"/>
                </a:solidFill>
                <a:latin typeface="Calibri" pitchFamily="34" charset="0"/>
                <a:ea typeface="Calibri" pitchFamily="34" charset="-122"/>
                <a:cs typeface="Calibri" pitchFamily="34" charset="-120"/>
              </a:rPr>
              <a:t>Why 8 frames?  →  Optimal tradeoff between temporal coverage and computational cost on T4 GPU with batch size 4</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Speaker-Face Association Module</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Identifying the active speaker using lip movement analysis</a:t>
            </a:r>
            <a:endParaRPr lang="en-US" sz="1300" dirty="0"/>
          </a:p>
        </p:txBody>
      </p:sp>
      <p:sp>
        <p:nvSpPr>
          <p:cNvPr id="4" name="Shape 2"/>
          <p:cNvSpPr/>
          <p:nvPr/>
        </p:nvSpPr>
        <p:spPr>
          <a:xfrm>
            <a:off x="365760" y="987552"/>
            <a:ext cx="8412480" cy="1024128"/>
          </a:xfrm>
          <a:prstGeom prst="roundRect">
            <a:avLst>
              <a:gd name="adj" fmla="val 10714"/>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94360" y="1078992"/>
            <a:ext cx="27432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Why is this needed?</a:t>
            </a:r>
            <a:endParaRPr lang="en-US" sz="1300" dirty="0"/>
          </a:p>
        </p:txBody>
      </p:sp>
      <p:sp>
        <p:nvSpPr>
          <p:cNvPr id="6" name="Text 4"/>
          <p:cNvSpPr/>
          <p:nvPr/>
        </p:nvSpPr>
        <p:spPr>
          <a:xfrm>
            <a:off x="594360" y="1344168"/>
            <a:ext cx="7955280" cy="54864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In multi-person videos, audio belongs to one person but the model has no inherent way to know who is speaking. Naively applying audio features to both people hurts performance and causes confusion.</a:t>
            </a:r>
            <a:endParaRPr lang="en-US" sz="1200" dirty="0"/>
          </a:p>
        </p:txBody>
      </p:sp>
      <p:sp>
        <p:nvSpPr>
          <p:cNvPr id="7" name="Shape 5"/>
          <p:cNvSpPr/>
          <p:nvPr/>
        </p:nvSpPr>
        <p:spPr>
          <a:xfrm>
            <a:off x="365760" y="2121408"/>
            <a:ext cx="5029200" cy="1755648"/>
          </a:xfrm>
          <a:prstGeom prst="roundRect">
            <a:avLst>
              <a:gd name="adj" fmla="val 6250"/>
            </a:avLst>
          </a:prstGeom>
          <a:solidFill>
            <a:srgbClr val="162A45"/>
          </a:solidFill>
          <a:ln/>
          <a:effectLst>
            <a:outerShdw blurRad="127000" dist="38100" dir="8100000" algn="bl" rotWithShape="0">
              <a:srgbClr val="000000">
                <a:alpha val="30000"/>
              </a:srgbClr>
            </a:outerShdw>
          </a:effectLst>
        </p:spPr>
      </p:sp>
      <p:sp>
        <p:nvSpPr>
          <p:cNvPr id="8" name="Text 6"/>
          <p:cNvSpPr/>
          <p:nvPr/>
        </p:nvSpPr>
        <p:spPr>
          <a:xfrm>
            <a:off x="548640" y="2212848"/>
            <a:ext cx="4663440" cy="292608"/>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Lip Movement Intensity Formula</a:t>
            </a:r>
            <a:endParaRPr lang="en-US" sz="1300" dirty="0"/>
          </a:p>
        </p:txBody>
      </p:sp>
      <p:sp>
        <p:nvSpPr>
          <p:cNvPr id="9" name="Shape 7"/>
          <p:cNvSpPr/>
          <p:nvPr/>
        </p:nvSpPr>
        <p:spPr>
          <a:xfrm>
            <a:off x="594360" y="2578608"/>
            <a:ext cx="4526280" cy="1143000"/>
          </a:xfrm>
          <a:prstGeom prst="roundRect">
            <a:avLst>
              <a:gd name="adj" fmla="val 6400"/>
            </a:avLst>
          </a:prstGeom>
          <a:solidFill>
            <a:srgbClr val="0A1628"/>
          </a:solidFill>
          <a:ln/>
        </p:spPr>
      </p:sp>
      <p:sp>
        <p:nvSpPr>
          <p:cNvPr id="10" name="Text 8"/>
          <p:cNvSpPr/>
          <p:nvPr/>
        </p:nvSpPr>
        <p:spPr>
          <a:xfrm>
            <a:off x="640080" y="2651760"/>
            <a:ext cx="4434840" cy="457200"/>
          </a:xfrm>
          <a:prstGeom prst="rect">
            <a:avLst/>
          </a:prstGeom>
          <a:noFill/>
          <a:ln/>
        </p:spPr>
        <p:txBody>
          <a:bodyPr wrap="square" rtlCol="0" anchor="ctr"/>
          <a:lstStyle/>
          <a:p>
            <a:pPr marL="0" indent="0" algn="ctr">
              <a:buNone/>
            </a:pPr>
            <a:r>
              <a:rPr lang="en-US" sz="1400" b="1" dirty="0">
                <a:solidFill>
                  <a:srgbClr val="FFD166"/>
                </a:solidFill>
                <a:latin typeface="Consolas" pitchFamily="34" charset="0"/>
                <a:ea typeface="Consolas" pitchFamily="34" charset="-122"/>
                <a:cs typeface="Consolas" pitchFamily="34" charset="-120"/>
              </a:rPr>
              <a:t>Li = (1 / N−1)  ∑(t=1 to N−1)  ‖ Mᵢᵗ − Mᵢᵗ⁺¹ ‖₂</a:t>
            </a:r>
            <a:endParaRPr lang="en-US" sz="1400" dirty="0"/>
          </a:p>
        </p:txBody>
      </p:sp>
      <p:sp>
        <p:nvSpPr>
          <p:cNvPr id="11" name="Text 9"/>
          <p:cNvSpPr/>
          <p:nvPr/>
        </p:nvSpPr>
        <p:spPr>
          <a:xfrm>
            <a:off x="640080" y="3127248"/>
            <a:ext cx="4434840" cy="365760"/>
          </a:xfrm>
          <a:prstGeom prst="rect">
            <a:avLst/>
          </a:prstGeom>
          <a:noFill/>
          <a:ln/>
        </p:spPr>
        <p:txBody>
          <a:bodyPr wrap="square" rtlCol="0" anchor="ctr"/>
          <a:lstStyle/>
          <a:p>
            <a:pPr marL="0" indent="0" algn="ctr">
              <a:buNone/>
            </a:pPr>
            <a:r>
              <a:rPr lang="en-US" sz="1300" b="1" dirty="0">
                <a:solidFill>
                  <a:srgbClr val="00C896"/>
                </a:solidFill>
                <a:latin typeface="Consolas" pitchFamily="34" charset="0"/>
                <a:ea typeface="Consolas" pitchFamily="34" charset="-122"/>
                <a:cs typeface="Consolas" pitchFamily="34" charset="-120"/>
              </a:rPr>
              <a:t>i* = argmax  Li   (for i ∈ {1, 2})</a:t>
            </a:r>
            <a:endParaRPr lang="en-US" sz="1300" dirty="0"/>
          </a:p>
        </p:txBody>
      </p:sp>
      <p:sp>
        <p:nvSpPr>
          <p:cNvPr id="12" name="Shape 10"/>
          <p:cNvSpPr/>
          <p:nvPr/>
        </p:nvSpPr>
        <p:spPr>
          <a:xfrm>
            <a:off x="5577840" y="2121408"/>
            <a:ext cx="3200400" cy="1755648"/>
          </a:xfrm>
          <a:prstGeom prst="roundRect">
            <a:avLst>
              <a:gd name="adj" fmla="val 6250"/>
            </a:avLst>
          </a:prstGeom>
          <a:solidFill>
            <a:srgbClr val="162A45"/>
          </a:solidFill>
          <a:ln/>
          <a:effectLst>
            <a:outerShdw blurRad="127000" dist="38100" dir="8100000" algn="bl" rotWithShape="0">
              <a:srgbClr val="000000">
                <a:alpha val="30000"/>
              </a:srgbClr>
            </a:outerShdw>
          </a:effectLst>
        </p:spPr>
      </p:sp>
      <p:sp>
        <p:nvSpPr>
          <p:cNvPr id="13" name="Text 11"/>
          <p:cNvSpPr/>
          <p:nvPr/>
        </p:nvSpPr>
        <p:spPr>
          <a:xfrm>
            <a:off x="5760720" y="2212848"/>
            <a:ext cx="2834640" cy="274320"/>
          </a:xfrm>
          <a:prstGeom prst="rect">
            <a:avLst/>
          </a:prstGeom>
          <a:noFill/>
          <a:ln/>
        </p:spPr>
        <p:txBody>
          <a:bodyPr wrap="square"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How it works:</a:t>
            </a:r>
            <a:endParaRPr lang="en-US" sz="1300" dirty="0"/>
          </a:p>
        </p:txBody>
      </p:sp>
      <p:sp>
        <p:nvSpPr>
          <p:cNvPr id="14" name="Shape 12"/>
          <p:cNvSpPr/>
          <p:nvPr/>
        </p:nvSpPr>
        <p:spPr>
          <a:xfrm>
            <a:off x="5760720" y="2615184"/>
            <a:ext cx="109728" cy="109728"/>
          </a:xfrm>
          <a:prstGeom prst="ellipse">
            <a:avLst/>
          </a:prstGeom>
          <a:solidFill>
            <a:srgbClr val="FF6B35"/>
          </a:solidFill>
          <a:ln/>
        </p:spPr>
      </p:sp>
      <p:sp>
        <p:nvSpPr>
          <p:cNvPr id="15" name="Text 13"/>
          <p:cNvSpPr/>
          <p:nvPr/>
        </p:nvSpPr>
        <p:spPr>
          <a:xfrm>
            <a:off x="5943600" y="2551176"/>
            <a:ext cx="2697480" cy="32004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Mᵢᵗ = mouth region of person i at frame t (lower 50% of face bounding box)</a:t>
            </a:r>
            <a:endParaRPr lang="en-US" sz="1050" dirty="0"/>
          </a:p>
        </p:txBody>
      </p:sp>
      <p:sp>
        <p:nvSpPr>
          <p:cNvPr id="16" name="Shape 14"/>
          <p:cNvSpPr/>
          <p:nvPr/>
        </p:nvSpPr>
        <p:spPr>
          <a:xfrm>
            <a:off x="5760720" y="2962656"/>
            <a:ext cx="109728" cy="109728"/>
          </a:xfrm>
          <a:prstGeom prst="ellipse">
            <a:avLst/>
          </a:prstGeom>
          <a:solidFill>
            <a:srgbClr val="FF6B35"/>
          </a:solidFill>
          <a:ln/>
        </p:spPr>
      </p:sp>
      <p:sp>
        <p:nvSpPr>
          <p:cNvPr id="17" name="Text 15"/>
          <p:cNvSpPr/>
          <p:nvPr/>
        </p:nvSpPr>
        <p:spPr>
          <a:xfrm>
            <a:off x="5943600" y="2898648"/>
            <a:ext cx="2697480" cy="32004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Measure L2 distance between consecutive frames</a:t>
            </a:r>
            <a:endParaRPr lang="en-US" sz="1050" dirty="0"/>
          </a:p>
        </p:txBody>
      </p:sp>
      <p:sp>
        <p:nvSpPr>
          <p:cNvPr id="18" name="Shape 16"/>
          <p:cNvSpPr/>
          <p:nvPr/>
        </p:nvSpPr>
        <p:spPr>
          <a:xfrm>
            <a:off x="5760720" y="3310128"/>
            <a:ext cx="109728" cy="109728"/>
          </a:xfrm>
          <a:prstGeom prst="ellipse">
            <a:avLst/>
          </a:prstGeom>
          <a:solidFill>
            <a:srgbClr val="FF6B35"/>
          </a:solidFill>
          <a:ln/>
        </p:spPr>
      </p:sp>
      <p:sp>
        <p:nvSpPr>
          <p:cNvPr id="19" name="Text 17"/>
          <p:cNvSpPr/>
          <p:nvPr/>
        </p:nvSpPr>
        <p:spPr>
          <a:xfrm>
            <a:off x="5943600" y="3246120"/>
            <a:ext cx="2697480" cy="32004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More lip movement → more likely speaking</a:t>
            </a:r>
            <a:endParaRPr lang="en-US" sz="1050" dirty="0"/>
          </a:p>
        </p:txBody>
      </p:sp>
      <p:sp>
        <p:nvSpPr>
          <p:cNvPr id="20" name="Shape 18"/>
          <p:cNvSpPr/>
          <p:nvPr/>
        </p:nvSpPr>
        <p:spPr>
          <a:xfrm>
            <a:off x="5760720" y="3657600"/>
            <a:ext cx="109728" cy="109728"/>
          </a:xfrm>
          <a:prstGeom prst="ellipse">
            <a:avLst/>
          </a:prstGeom>
          <a:solidFill>
            <a:srgbClr val="FF6B35"/>
          </a:solidFill>
          <a:ln/>
        </p:spPr>
      </p:sp>
      <p:sp>
        <p:nvSpPr>
          <p:cNvPr id="21" name="Text 19"/>
          <p:cNvSpPr/>
          <p:nvPr/>
        </p:nvSpPr>
        <p:spPr>
          <a:xfrm>
            <a:off x="5943600" y="3593592"/>
            <a:ext cx="2697480" cy="32004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Person with highest Lᵢ is the active speaker i*</a:t>
            </a:r>
            <a:endParaRPr lang="en-US" sz="1050" dirty="0"/>
          </a:p>
        </p:txBody>
      </p:sp>
      <p:sp>
        <p:nvSpPr>
          <p:cNvPr id="22" name="Shape 20"/>
          <p:cNvSpPr/>
          <p:nvPr/>
        </p:nvSpPr>
        <p:spPr>
          <a:xfrm>
            <a:off x="365760" y="3986784"/>
            <a:ext cx="8412480" cy="1024128"/>
          </a:xfrm>
          <a:prstGeom prst="roundRect">
            <a:avLst>
              <a:gd name="adj" fmla="val 10714"/>
            </a:avLst>
          </a:prstGeom>
          <a:solidFill>
            <a:srgbClr val="162A45"/>
          </a:solidFill>
          <a:ln/>
          <a:effectLst>
            <a:outerShdw blurRad="127000" dist="38100" dir="8100000" algn="bl" rotWithShape="0">
              <a:srgbClr val="000000">
                <a:alpha val="30000"/>
              </a:srgbClr>
            </a:outerShdw>
          </a:effectLst>
        </p:spPr>
      </p:sp>
      <p:sp>
        <p:nvSpPr>
          <p:cNvPr id="23" name="Text 21"/>
          <p:cNvSpPr/>
          <p:nvPr/>
        </p:nvSpPr>
        <p:spPr>
          <a:xfrm>
            <a:off x="594360" y="4078224"/>
            <a:ext cx="27432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Impact on Architecture</a:t>
            </a:r>
            <a:endParaRPr lang="en-US" sz="1300" dirty="0"/>
          </a:p>
        </p:txBody>
      </p:sp>
      <p:sp>
        <p:nvSpPr>
          <p:cNvPr id="24" name="Text 22"/>
          <p:cNvSpPr/>
          <p:nvPr/>
        </p:nvSpPr>
        <p:spPr>
          <a:xfrm>
            <a:off x="594360" y="4343400"/>
            <a:ext cx="7955280" cy="54864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The speaker flag sᵢ ∈ {0, 1} is passed to the cross-modal attention layer. Audio features are fused ONLY with the speaking identity — this is the key novelty that prevents audio contaminating the silent person's visual features.</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Architecture Overview</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Four-component pipeline for multi-identity multimodal detection</a:t>
            </a:r>
            <a:endParaRPr lang="en-US" sz="1300" dirty="0"/>
          </a:p>
        </p:txBody>
      </p:sp>
      <p:sp>
        <p:nvSpPr>
          <p:cNvPr id="4" name="Shape 2"/>
          <p:cNvSpPr/>
          <p:nvPr/>
        </p:nvSpPr>
        <p:spPr>
          <a:xfrm>
            <a:off x="365760" y="98755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457200" y="1197864"/>
            <a:ext cx="475488" cy="475488"/>
          </a:xfrm>
          <a:prstGeom prst="ellipse">
            <a:avLst/>
          </a:prstGeom>
          <a:solidFill>
            <a:srgbClr val="00D4FF"/>
          </a:solidFill>
          <a:ln/>
        </p:spPr>
      </p:sp>
      <p:sp>
        <p:nvSpPr>
          <p:cNvPr id="6" name="Text 4"/>
          <p:cNvSpPr/>
          <p:nvPr/>
        </p:nvSpPr>
        <p:spPr>
          <a:xfrm>
            <a:off x="457200" y="1197864"/>
            <a:ext cx="475488" cy="475488"/>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51560" y="1078992"/>
            <a:ext cx="2286000" cy="292608"/>
          </a:xfrm>
          <a:prstGeom prst="rect">
            <a:avLst/>
          </a:prstGeom>
          <a:noFill/>
          <a:ln/>
        </p:spPr>
        <p:txBody>
          <a:bodyPr wrap="square" rtlCol="0" anchor="ctr"/>
          <a:lstStyle/>
          <a:p>
            <a:pPr marL="0" indent="0">
              <a:buNone/>
            </a:pPr>
            <a:r>
              <a:rPr lang="en-US" sz="1350" b="1" dirty="0">
                <a:solidFill>
                  <a:srgbClr val="00D4FF"/>
                </a:solidFill>
                <a:latin typeface="Calibri" pitchFamily="34" charset="0"/>
                <a:ea typeface="Calibri" pitchFamily="34" charset="-122"/>
                <a:cs typeface="Calibri" pitchFamily="34" charset="-120"/>
              </a:rPr>
              <a:t>Visual Backbone</a:t>
            </a:r>
            <a:endParaRPr lang="en-US" sz="1350" dirty="0"/>
          </a:p>
        </p:txBody>
      </p:sp>
      <p:sp>
        <p:nvSpPr>
          <p:cNvPr id="8" name="Text 6"/>
          <p:cNvSpPr/>
          <p:nvPr/>
        </p:nvSpPr>
        <p:spPr>
          <a:xfrm>
            <a:off x="1051560" y="1389888"/>
            <a:ext cx="2286000" cy="256032"/>
          </a:xfrm>
          <a:prstGeom prst="rect">
            <a:avLst/>
          </a:prstGeom>
          <a:noFill/>
          <a:ln/>
        </p:spPr>
        <p:txBody>
          <a:bodyPr wrap="square" rtlCol="0" anchor="ctr"/>
          <a:lstStyle/>
          <a:p>
            <a:pPr marL="0" indent="0">
              <a:buNone/>
            </a:pPr>
            <a:r>
              <a:rPr lang="en-US" sz="1100" dirty="0">
                <a:solidFill>
                  <a:srgbClr val="8BA3BF"/>
                </a:solidFill>
                <a:latin typeface="Calibri" pitchFamily="34" charset="0"/>
                <a:ea typeface="Calibri" pitchFamily="34" charset="-122"/>
                <a:cs typeface="Calibri" pitchFamily="34" charset="-120"/>
              </a:rPr>
              <a:t>MobileNetV3-Small</a:t>
            </a:r>
            <a:endParaRPr lang="en-US" sz="1100" dirty="0"/>
          </a:p>
        </p:txBody>
      </p:sp>
      <p:sp>
        <p:nvSpPr>
          <p:cNvPr id="9" name="Shape 7"/>
          <p:cNvSpPr/>
          <p:nvPr/>
        </p:nvSpPr>
        <p:spPr>
          <a:xfrm>
            <a:off x="3474720" y="1261872"/>
            <a:ext cx="1554480" cy="347472"/>
          </a:xfrm>
          <a:prstGeom prst="roundRect">
            <a:avLst>
              <a:gd name="adj" fmla="val 21053"/>
            </a:avLst>
          </a:prstGeom>
          <a:solidFill>
            <a:srgbClr val="00D4FF">
              <a:alpha val="20000"/>
            </a:srgbClr>
          </a:solidFill>
          <a:ln/>
        </p:spPr>
      </p:sp>
      <p:sp>
        <p:nvSpPr>
          <p:cNvPr id="10" name="Text 8"/>
          <p:cNvSpPr/>
          <p:nvPr/>
        </p:nvSpPr>
        <p:spPr>
          <a:xfrm>
            <a:off x="3474720" y="1261872"/>
            <a:ext cx="1554480" cy="347472"/>
          </a:xfrm>
          <a:prstGeom prst="rect">
            <a:avLst/>
          </a:prstGeom>
          <a:noFill/>
          <a:ln/>
        </p:spPr>
        <p:txBody>
          <a:bodyPr wrap="square" rtlCol="0" anchor="ctr"/>
          <a:lstStyle/>
          <a:p>
            <a:pPr marL="0" indent="0" algn="ctr">
              <a:buNone/>
            </a:pPr>
            <a:r>
              <a:rPr lang="en-US" sz="1100" b="1" dirty="0">
                <a:solidFill>
                  <a:srgbClr val="00D4FF"/>
                </a:solidFill>
                <a:latin typeface="Calibri" pitchFamily="34" charset="0"/>
                <a:ea typeface="Calibri" pitchFamily="34" charset="-122"/>
                <a:cs typeface="Calibri" pitchFamily="34" charset="-120"/>
              </a:rPr>
              <a:t>→ 576-d vector</a:t>
            </a:r>
            <a:endParaRPr lang="en-US" sz="1100" dirty="0"/>
          </a:p>
        </p:txBody>
      </p:sp>
      <p:sp>
        <p:nvSpPr>
          <p:cNvPr id="11" name="Text 9"/>
          <p:cNvSpPr/>
          <p:nvPr/>
        </p:nvSpPr>
        <p:spPr>
          <a:xfrm>
            <a:off x="5120640" y="1152144"/>
            <a:ext cx="3520440" cy="56692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Lightweight visual feature extraction per frame. 2.5M params. Maps 3×H×W → R⁵⁷⁶.</a:t>
            </a:r>
            <a:endParaRPr lang="en-US" sz="1100" dirty="0"/>
          </a:p>
        </p:txBody>
      </p:sp>
      <p:sp>
        <p:nvSpPr>
          <p:cNvPr id="12" name="Shape 10"/>
          <p:cNvSpPr/>
          <p:nvPr/>
        </p:nvSpPr>
        <p:spPr>
          <a:xfrm>
            <a:off x="365760" y="199339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13" name="Shape 11"/>
          <p:cNvSpPr/>
          <p:nvPr/>
        </p:nvSpPr>
        <p:spPr>
          <a:xfrm>
            <a:off x="457200" y="2203704"/>
            <a:ext cx="475488" cy="475488"/>
          </a:xfrm>
          <a:prstGeom prst="ellipse">
            <a:avLst/>
          </a:prstGeom>
          <a:solidFill>
            <a:srgbClr val="FF6B35"/>
          </a:solidFill>
          <a:ln/>
        </p:spPr>
      </p:sp>
      <p:sp>
        <p:nvSpPr>
          <p:cNvPr id="14" name="Text 12"/>
          <p:cNvSpPr/>
          <p:nvPr/>
        </p:nvSpPr>
        <p:spPr>
          <a:xfrm>
            <a:off x="457200" y="2203704"/>
            <a:ext cx="475488" cy="475488"/>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051560" y="2084832"/>
            <a:ext cx="2286000" cy="292608"/>
          </a:xfrm>
          <a:prstGeom prst="rect">
            <a:avLst/>
          </a:prstGeom>
          <a:noFill/>
          <a:ln/>
        </p:spPr>
        <p:txBody>
          <a:bodyPr wrap="square" rtlCol="0" anchor="ctr"/>
          <a:lstStyle/>
          <a:p>
            <a:pPr marL="0" indent="0">
              <a:buNone/>
            </a:pPr>
            <a:r>
              <a:rPr lang="en-US" sz="1350" b="1" dirty="0">
                <a:solidFill>
                  <a:srgbClr val="FF6B35"/>
                </a:solidFill>
                <a:latin typeface="Calibri" pitchFamily="34" charset="0"/>
                <a:ea typeface="Calibri" pitchFamily="34" charset="-122"/>
                <a:cs typeface="Calibri" pitchFamily="34" charset="-120"/>
              </a:rPr>
              <a:t>Temporal Modeling</a:t>
            </a:r>
            <a:endParaRPr lang="en-US" sz="1350" dirty="0"/>
          </a:p>
        </p:txBody>
      </p:sp>
      <p:sp>
        <p:nvSpPr>
          <p:cNvPr id="16" name="Text 14"/>
          <p:cNvSpPr/>
          <p:nvPr/>
        </p:nvSpPr>
        <p:spPr>
          <a:xfrm>
            <a:off x="1051560" y="2395728"/>
            <a:ext cx="2286000" cy="256032"/>
          </a:xfrm>
          <a:prstGeom prst="rect">
            <a:avLst/>
          </a:prstGeom>
          <a:noFill/>
          <a:ln/>
        </p:spPr>
        <p:txBody>
          <a:bodyPr wrap="square" rtlCol="0" anchor="ctr"/>
          <a:lstStyle/>
          <a:p>
            <a:pPr marL="0" indent="0">
              <a:buNone/>
            </a:pPr>
            <a:r>
              <a:rPr lang="en-US" sz="1100" dirty="0">
                <a:solidFill>
                  <a:srgbClr val="8BA3BF"/>
                </a:solidFill>
                <a:latin typeface="Calibri" pitchFamily="34" charset="0"/>
                <a:ea typeface="Calibri" pitchFamily="34" charset="-122"/>
                <a:cs typeface="Calibri" pitchFamily="34" charset="-120"/>
              </a:rPr>
              <a:t>Bidirectional LSTM</a:t>
            </a:r>
            <a:endParaRPr lang="en-US" sz="1100" dirty="0"/>
          </a:p>
        </p:txBody>
      </p:sp>
      <p:sp>
        <p:nvSpPr>
          <p:cNvPr id="17" name="Shape 15"/>
          <p:cNvSpPr/>
          <p:nvPr/>
        </p:nvSpPr>
        <p:spPr>
          <a:xfrm>
            <a:off x="3474720" y="2267712"/>
            <a:ext cx="1554480" cy="347472"/>
          </a:xfrm>
          <a:prstGeom prst="roundRect">
            <a:avLst>
              <a:gd name="adj" fmla="val 21053"/>
            </a:avLst>
          </a:prstGeom>
          <a:solidFill>
            <a:srgbClr val="FF6B35">
              <a:alpha val="20000"/>
            </a:srgbClr>
          </a:solidFill>
          <a:ln/>
        </p:spPr>
      </p:sp>
      <p:sp>
        <p:nvSpPr>
          <p:cNvPr id="18" name="Text 16"/>
          <p:cNvSpPr/>
          <p:nvPr/>
        </p:nvSpPr>
        <p:spPr>
          <a:xfrm>
            <a:off x="3474720" y="2267712"/>
            <a:ext cx="1554480" cy="347472"/>
          </a:xfrm>
          <a:prstGeom prst="rect">
            <a:avLst/>
          </a:prstGeom>
          <a:noFill/>
          <a:ln/>
        </p:spPr>
        <p:txBody>
          <a:bodyPr wrap="square" rtlCol="0" anchor="ctr"/>
          <a:lstStyle/>
          <a:p>
            <a:pPr marL="0" indent="0" algn="ctr">
              <a:buNone/>
            </a:pPr>
            <a:r>
              <a:rPr lang="en-US" sz="1100" b="1" dirty="0">
                <a:solidFill>
                  <a:srgbClr val="FF6B35"/>
                </a:solidFill>
                <a:latin typeface="Calibri" pitchFamily="34" charset="0"/>
                <a:ea typeface="Calibri" pitchFamily="34" charset="-122"/>
                <a:cs typeface="Calibri" pitchFamily="34" charset="-120"/>
              </a:rPr>
              <a:t>→ 512-d vector</a:t>
            </a:r>
            <a:endParaRPr lang="en-US" sz="1100" dirty="0"/>
          </a:p>
        </p:txBody>
      </p:sp>
      <p:sp>
        <p:nvSpPr>
          <p:cNvPr id="19" name="Text 17"/>
          <p:cNvSpPr/>
          <p:nvPr/>
        </p:nvSpPr>
        <p:spPr>
          <a:xfrm>
            <a:off x="5120640" y="2157984"/>
            <a:ext cx="3520440" cy="56692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Captures how face changes over time in both temporal directions.</a:t>
            </a:r>
            <a:endParaRPr lang="en-US" sz="1100" dirty="0"/>
          </a:p>
        </p:txBody>
      </p:sp>
      <p:sp>
        <p:nvSpPr>
          <p:cNvPr id="20" name="Shape 18"/>
          <p:cNvSpPr/>
          <p:nvPr/>
        </p:nvSpPr>
        <p:spPr>
          <a:xfrm>
            <a:off x="365760" y="299923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21" name="Shape 19"/>
          <p:cNvSpPr/>
          <p:nvPr/>
        </p:nvSpPr>
        <p:spPr>
          <a:xfrm>
            <a:off x="457200" y="3209544"/>
            <a:ext cx="475488" cy="475488"/>
          </a:xfrm>
          <a:prstGeom prst="ellipse">
            <a:avLst/>
          </a:prstGeom>
          <a:solidFill>
            <a:srgbClr val="FFD166"/>
          </a:solidFill>
          <a:ln/>
        </p:spPr>
      </p:sp>
      <p:sp>
        <p:nvSpPr>
          <p:cNvPr id="22" name="Text 20"/>
          <p:cNvSpPr/>
          <p:nvPr/>
        </p:nvSpPr>
        <p:spPr>
          <a:xfrm>
            <a:off x="457200" y="3209544"/>
            <a:ext cx="475488" cy="475488"/>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1051560" y="3090672"/>
            <a:ext cx="2286000" cy="292608"/>
          </a:xfrm>
          <a:prstGeom prst="rect">
            <a:avLst/>
          </a:prstGeom>
          <a:noFill/>
          <a:ln/>
        </p:spPr>
        <p:txBody>
          <a:bodyPr wrap="square" rtlCol="0" anchor="ctr"/>
          <a:lstStyle/>
          <a:p>
            <a:pPr marL="0" indent="0">
              <a:buNone/>
            </a:pPr>
            <a:r>
              <a:rPr lang="en-US" sz="1350" b="1" dirty="0">
                <a:solidFill>
                  <a:srgbClr val="FFD166"/>
                </a:solidFill>
                <a:latin typeface="Calibri" pitchFamily="34" charset="0"/>
                <a:ea typeface="Calibri" pitchFamily="34" charset="-122"/>
                <a:cs typeface="Calibri" pitchFamily="34" charset="-120"/>
              </a:rPr>
              <a:t>Audio Encoder</a:t>
            </a:r>
            <a:endParaRPr lang="en-US" sz="1350" dirty="0"/>
          </a:p>
        </p:txBody>
      </p:sp>
      <p:sp>
        <p:nvSpPr>
          <p:cNvPr id="24" name="Text 22"/>
          <p:cNvSpPr/>
          <p:nvPr/>
        </p:nvSpPr>
        <p:spPr>
          <a:xfrm>
            <a:off x="1051560" y="3401568"/>
            <a:ext cx="2286000" cy="256032"/>
          </a:xfrm>
          <a:prstGeom prst="rect">
            <a:avLst/>
          </a:prstGeom>
          <a:noFill/>
          <a:ln/>
        </p:spPr>
        <p:txBody>
          <a:bodyPr wrap="square" rtlCol="0" anchor="ctr"/>
          <a:lstStyle/>
          <a:p>
            <a:pPr marL="0" indent="0">
              <a:buNone/>
            </a:pPr>
            <a:r>
              <a:rPr lang="en-US" sz="1100" dirty="0">
                <a:solidFill>
                  <a:srgbClr val="8BA3BF"/>
                </a:solidFill>
                <a:latin typeface="Calibri" pitchFamily="34" charset="0"/>
                <a:ea typeface="Calibri" pitchFamily="34" charset="-122"/>
                <a:cs typeface="Calibri" pitchFamily="34" charset="-120"/>
              </a:rPr>
              <a:t>1D CNN</a:t>
            </a:r>
            <a:endParaRPr lang="en-US" sz="1100" dirty="0"/>
          </a:p>
        </p:txBody>
      </p:sp>
      <p:sp>
        <p:nvSpPr>
          <p:cNvPr id="25" name="Shape 23"/>
          <p:cNvSpPr/>
          <p:nvPr/>
        </p:nvSpPr>
        <p:spPr>
          <a:xfrm>
            <a:off x="3474720" y="3273552"/>
            <a:ext cx="1554480" cy="347472"/>
          </a:xfrm>
          <a:prstGeom prst="roundRect">
            <a:avLst>
              <a:gd name="adj" fmla="val 21053"/>
            </a:avLst>
          </a:prstGeom>
          <a:solidFill>
            <a:srgbClr val="FFD166">
              <a:alpha val="20000"/>
            </a:srgbClr>
          </a:solidFill>
          <a:ln/>
        </p:spPr>
      </p:sp>
      <p:sp>
        <p:nvSpPr>
          <p:cNvPr id="26" name="Text 24"/>
          <p:cNvSpPr/>
          <p:nvPr/>
        </p:nvSpPr>
        <p:spPr>
          <a:xfrm>
            <a:off x="3474720" y="3273552"/>
            <a:ext cx="1554480" cy="347472"/>
          </a:xfrm>
          <a:prstGeom prst="rect">
            <a:avLst/>
          </a:prstGeom>
          <a:noFill/>
          <a:ln/>
        </p:spPr>
        <p:txBody>
          <a:bodyPr wrap="square" rtlCol="0" anchor="ctr"/>
          <a:lstStyle/>
          <a:p>
            <a:pPr marL="0" indent="0" algn="ctr">
              <a:buNone/>
            </a:pPr>
            <a:r>
              <a:rPr lang="en-US" sz="1100" b="1" dirty="0">
                <a:solidFill>
                  <a:srgbClr val="FFD166"/>
                </a:solidFill>
                <a:latin typeface="Calibri" pitchFamily="34" charset="0"/>
                <a:ea typeface="Calibri" pitchFamily="34" charset="-122"/>
                <a:cs typeface="Calibri" pitchFamily="34" charset="-120"/>
              </a:rPr>
              <a:t>→ 256-d vector</a:t>
            </a:r>
            <a:endParaRPr lang="en-US" sz="1100" dirty="0"/>
          </a:p>
        </p:txBody>
      </p:sp>
      <p:sp>
        <p:nvSpPr>
          <p:cNvPr id="27" name="Text 25"/>
          <p:cNvSpPr/>
          <p:nvPr/>
        </p:nvSpPr>
        <p:spPr>
          <a:xfrm>
            <a:off x="5120640" y="3163824"/>
            <a:ext cx="3520440" cy="56692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Lightweight convolutional network to extract audio embeddings from waveform.</a:t>
            </a:r>
            <a:endParaRPr lang="en-US" sz="1100" dirty="0"/>
          </a:p>
        </p:txBody>
      </p:sp>
      <p:sp>
        <p:nvSpPr>
          <p:cNvPr id="28" name="Shape 26"/>
          <p:cNvSpPr/>
          <p:nvPr/>
        </p:nvSpPr>
        <p:spPr>
          <a:xfrm>
            <a:off x="365760" y="400507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29" name="Shape 27"/>
          <p:cNvSpPr/>
          <p:nvPr/>
        </p:nvSpPr>
        <p:spPr>
          <a:xfrm>
            <a:off x="457200" y="4215384"/>
            <a:ext cx="475488" cy="475488"/>
          </a:xfrm>
          <a:prstGeom prst="ellipse">
            <a:avLst/>
          </a:prstGeom>
          <a:solidFill>
            <a:srgbClr val="00C896"/>
          </a:solidFill>
          <a:ln/>
        </p:spPr>
      </p:sp>
      <p:sp>
        <p:nvSpPr>
          <p:cNvPr id="30" name="Text 28"/>
          <p:cNvSpPr/>
          <p:nvPr/>
        </p:nvSpPr>
        <p:spPr>
          <a:xfrm>
            <a:off x="457200" y="4215384"/>
            <a:ext cx="475488" cy="475488"/>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31" name="Text 29"/>
          <p:cNvSpPr/>
          <p:nvPr/>
        </p:nvSpPr>
        <p:spPr>
          <a:xfrm>
            <a:off x="1051560" y="4096512"/>
            <a:ext cx="2286000" cy="292608"/>
          </a:xfrm>
          <a:prstGeom prst="rect">
            <a:avLst/>
          </a:prstGeom>
          <a:noFill/>
          <a:ln/>
        </p:spPr>
        <p:txBody>
          <a:bodyPr wrap="square" rtlCol="0" anchor="ctr"/>
          <a:lstStyle/>
          <a:p>
            <a:pPr marL="0" indent="0">
              <a:buNone/>
            </a:pPr>
            <a:r>
              <a:rPr lang="en-US" sz="1350" b="1" dirty="0">
                <a:solidFill>
                  <a:srgbClr val="00C896"/>
                </a:solidFill>
                <a:latin typeface="Calibri" pitchFamily="34" charset="0"/>
                <a:ea typeface="Calibri" pitchFamily="34" charset="-122"/>
                <a:cs typeface="Calibri" pitchFamily="34" charset="-120"/>
              </a:rPr>
              <a:t>Cross-Modal Attn.</a:t>
            </a:r>
            <a:endParaRPr lang="en-US" sz="1350" dirty="0"/>
          </a:p>
        </p:txBody>
      </p:sp>
      <p:sp>
        <p:nvSpPr>
          <p:cNvPr id="32" name="Text 30"/>
          <p:cNvSpPr/>
          <p:nvPr/>
        </p:nvSpPr>
        <p:spPr>
          <a:xfrm>
            <a:off x="1051560" y="4407408"/>
            <a:ext cx="2286000" cy="256032"/>
          </a:xfrm>
          <a:prstGeom prst="rect">
            <a:avLst/>
          </a:prstGeom>
          <a:noFill/>
          <a:ln/>
        </p:spPr>
        <p:txBody>
          <a:bodyPr wrap="square" rtlCol="0" anchor="ctr"/>
          <a:lstStyle/>
          <a:p>
            <a:pPr marL="0" indent="0">
              <a:buNone/>
            </a:pPr>
            <a:r>
              <a:rPr lang="en-US" sz="1100" dirty="0">
                <a:solidFill>
                  <a:srgbClr val="8BA3BF"/>
                </a:solidFill>
                <a:latin typeface="Calibri" pitchFamily="34" charset="0"/>
                <a:ea typeface="Calibri" pitchFamily="34" charset="-122"/>
                <a:cs typeface="Calibri" pitchFamily="34" charset="-120"/>
              </a:rPr>
              <a:t>Identity-Conditioned</a:t>
            </a:r>
            <a:endParaRPr lang="en-US" sz="1100" dirty="0"/>
          </a:p>
        </p:txBody>
      </p:sp>
      <p:sp>
        <p:nvSpPr>
          <p:cNvPr id="33" name="Shape 31"/>
          <p:cNvSpPr/>
          <p:nvPr/>
        </p:nvSpPr>
        <p:spPr>
          <a:xfrm>
            <a:off x="3474720" y="4279392"/>
            <a:ext cx="1554480" cy="347472"/>
          </a:xfrm>
          <a:prstGeom prst="roundRect">
            <a:avLst>
              <a:gd name="adj" fmla="val 21053"/>
            </a:avLst>
          </a:prstGeom>
          <a:solidFill>
            <a:srgbClr val="00C896">
              <a:alpha val="20000"/>
            </a:srgbClr>
          </a:solidFill>
          <a:ln/>
        </p:spPr>
      </p:sp>
      <p:sp>
        <p:nvSpPr>
          <p:cNvPr id="34" name="Text 32"/>
          <p:cNvSpPr/>
          <p:nvPr/>
        </p:nvSpPr>
        <p:spPr>
          <a:xfrm>
            <a:off x="3474720" y="4279392"/>
            <a:ext cx="1554480" cy="347472"/>
          </a:xfrm>
          <a:prstGeom prst="rect">
            <a:avLst/>
          </a:prstGeom>
          <a:noFill/>
          <a:ln/>
        </p:spPr>
        <p:txBody>
          <a:bodyPr wrap="square" rtlCol="0" anchor="ctr"/>
          <a:lstStyle/>
          <a:p>
            <a:pPr marL="0" indent="0" algn="ctr">
              <a:buNone/>
            </a:pPr>
            <a:r>
              <a:rPr lang="en-US" sz="1100" b="1" dirty="0">
                <a:solidFill>
                  <a:srgbClr val="00C896"/>
                </a:solidFill>
                <a:latin typeface="Calibri" pitchFamily="34" charset="0"/>
                <a:ea typeface="Calibri" pitchFamily="34" charset="-122"/>
                <a:cs typeface="Calibri" pitchFamily="34" charset="-120"/>
              </a:rPr>
              <a:t>→ fused 512-d</a:t>
            </a:r>
            <a:endParaRPr lang="en-US" sz="1100" dirty="0"/>
          </a:p>
        </p:txBody>
      </p:sp>
      <p:sp>
        <p:nvSpPr>
          <p:cNvPr id="35" name="Text 33"/>
          <p:cNvSpPr/>
          <p:nvPr/>
        </p:nvSpPr>
        <p:spPr>
          <a:xfrm>
            <a:off x="5120640" y="4169664"/>
            <a:ext cx="3520440" cy="56692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Key innovation: applies attention only to speaking identity. Prevents audio-visual confusion.</a:t>
            </a:r>
            <a:endParaRPr lang="en-US" sz="1100" dirty="0"/>
          </a:p>
        </p:txBody>
      </p:sp>
      <p:sp>
        <p:nvSpPr>
          <p:cNvPr id="36" name="Shape 34"/>
          <p:cNvSpPr/>
          <p:nvPr/>
        </p:nvSpPr>
        <p:spPr>
          <a:xfrm>
            <a:off x="365760" y="5047488"/>
            <a:ext cx="8412480" cy="347472"/>
          </a:xfrm>
          <a:prstGeom prst="roundRect">
            <a:avLst>
              <a:gd name="adj" fmla="val 21053"/>
            </a:avLst>
          </a:prstGeom>
          <a:solidFill>
            <a:srgbClr val="1A3A5C"/>
          </a:solidFill>
          <a:ln/>
        </p:spPr>
      </p:sp>
      <p:sp>
        <p:nvSpPr>
          <p:cNvPr id="37" name="Text 35"/>
          <p:cNvSpPr/>
          <p:nvPr/>
        </p:nvSpPr>
        <p:spPr>
          <a:xfrm>
            <a:off x="548640" y="5084064"/>
            <a:ext cx="8229600" cy="256032"/>
          </a:xfrm>
          <a:prstGeom prst="rect">
            <a:avLst/>
          </a:prstGeom>
          <a:noFill/>
          <a:ln/>
        </p:spPr>
        <p:txBody>
          <a:bodyPr wrap="square" rtlCol="0" anchor="ctr"/>
          <a:lstStyle/>
          <a:p>
            <a:pPr marL="0" indent="0" algn="ctr">
              <a:buNone/>
            </a:pPr>
            <a:r>
              <a:rPr lang="en-US" sz="1200" b="1" dirty="0">
                <a:solidFill>
                  <a:srgbClr val="00D4FF"/>
                </a:solidFill>
                <a:latin typeface="Calibri" pitchFamily="34" charset="0"/>
                <a:ea typeface="Calibri" pitchFamily="34" charset="-122"/>
                <a:cs typeface="Calibri" pitchFamily="34" charset="-120"/>
              </a:rPr>
              <a:t>Total Architecture: 5.7M parameters  |  10× fewer than transformer-based approaches  |  Optimized for T4 GPU deployment</a:t>
            </a:r>
            <a:endParaRPr lang="en-US" sz="1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Architecture Details: Visual Encoder &amp; Temporal Modeling</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Components 1 &amp; 2</a:t>
            </a:r>
            <a:endParaRPr lang="en-US" sz="1300" dirty="0"/>
          </a:p>
        </p:txBody>
      </p:sp>
      <p:sp>
        <p:nvSpPr>
          <p:cNvPr id="4" name="Shape 2"/>
          <p:cNvSpPr/>
          <p:nvPr/>
        </p:nvSpPr>
        <p:spPr>
          <a:xfrm>
            <a:off x="365760" y="987552"/>
            <a:ext cx="420624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3840480" cy="347472"/>
          </a:xfrm>
          <a:prstGeom prst="rect">
            <a:avLst/>
          </a:prstGeom>
          <a:noFill/>
          <a:ln/>
        </p:spPr>
        <p:txBody>
          <a:bodyPr wrap="square"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① MobileNetV3-Small</a:t>
            </a:r>
            <a:endParaRPr lang="en-US" sz="1500" dirty="0"/>
          </a:p>
        </p:txBody>
      </p:sp>
      <p:sp>
        <p:nvSpPr>
          <p:cNvPr id="6" name="Text 4"/>
          <p:cNvSpPr/>
          <p:nvPr/>
        </p:nvSpPr>
        <p:spPr>
          <a:xfrm>
            <a:off x="548640" y="1417320"/>
            <a:ext cx="3840480" cy="256032"/>
          </a:xfrm>
          <a:prstGeom prst="rect">
            <a:avLst/>
          </a:prstGeom>
          <a:noFill/>
          <a:ln/>
        </p:spPr>
        <p:txBody>
          <a:bodyPr wrap="square" rtlCol="0" anchor="ctr"/>
          <a:lstStyle/>
          <a:p>
            <a:pPr marL="0" indent="0">
              <a:buNone/>
            </a:pPr>
            <a:r>
              <a:rPr lang="en-US" sz="1100" i="1" dirty="0">
                <a:solidFill>
                  <a:srgbClr val="8BA3BF"/>
                </a:solidFill>
                <a:latin typeface="Calibri" pitchFamily="34" charset="0"/>
                <a:ea typeface="Calibri" pitchFamily="34" charset="-122"/>
                <a:cs typeface="Calibri" pitchFamily="34" charset="-120"/>
              </a:rPr>
              <a:t>Visual Feature Extractor</a:t>
            </a:r>
            <a:endParaRPr lang="en-US" sz="1100" dirty="0"/>
          </a:p>
        </p:txBody>
      </p:sp>
      <p:sp>
        <p:nvSpPr>
          <p:cNvPr id="7" name="Shape 5"/>
          <p:cNvSpPr/>
          <p:nvPr/>
        </p:nvSpPr>
        <p:spPr>
          <a:xfrm>
            <a:off x="548640" y="1755648"/>
            <a:ext cx="3840480" cy="548640"/>
          </a:xfrm>
          <a:prstGeom prst="roundRect">
            <a:avLst>
              <a:gd name="adj" fmla="val 20000"/>
            </a:avLst>
          </a:prstGeom>
          <a:solidFill>
            <a:srgbClr val="162A45"/>
          </a:solidFill>
          <a:ln/>
          <a:effectLst>
            <a:outerShdw blurRad="127000" dist="38100" dir="8100000" algn="bl" rotWithShape="0">
              <a:srgbClr val="000000">
                <a:alpha val="30000"/>
              </a:srgbClr>
            </a:outerShdw>
          </a:effectLst>
        </p:spPr>
      </p:sp>
      <p:sp>
        <p:nvSpPr>
          <p:cNvPr id="8" name="Text 6"/>
          <p:cNvSpPr/>
          <p:nvPr/>
        </p:nvSpPr>
        <p:spPr>
          <a:xfrm>
            <a:off x="685800" y="1801368"/>
            <a:ext cx="1188720" cy="45720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Mapping:</a:t>
            </a:r>
            <a:endParaRPr lang="en-US" sz="1100" dirty="0"/>
          </a:p>
        </p:txBody>
      </p:sp>
      <p:sp>
        <p:nvSpPr>
          <p:cNvPr id="9" name="Text 7"/>
          <p:cNvSpPr/>
          <p:nvPr/>
        </p:nvSpPr>
        <p:spPr>
          <a:xfrm>
            <a:off x="1920240" y="1801368"/>
            <a:ext cx="2286000" cy="45720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fᵥ : R³×H×W → R⁵⁷⁶</a:t>
            </a:r>
            <a:endParaRPr lang="en-US" sz="1100" dirty="0"/>
          </a:p>
        </p:txBody>
      </p:sp>
      <p:sp>
        <p:nvSpPr>
          <p:cNvPr id="10" name="Shape 8"/>
          <p:cNvSpPr/>
          <p:nvPr/>
        </p:nvSpPr>
        <p:spPr>
          <a:xfrm>
            <a:off x="548640" y="2377440"/>
            <a:ext cx="3840480" cy="548640"/>
          </a:xfrm>
          <a:prstGeom prst="roundRect">
            <a:avLst>
              <a:gd name="adj" fmla="val 20000"/>
            </a:avLst>
          </a:prstGeom>
          <a:solidFill>
            <a:srgbClr val="162A45"/>
          </a:solidFill>
          <a:ln/>
          <a:effectLst>
            <a:outerShdw blurRad="127000" dist="38100" dir="8100000" algn="bl" rotWithShape="0">
              <a:srgbClr val="000000">
                <a:alpha val="30000"/>
              </a:srgbClr>
            </a:outerShdw>
          </a:effectLst>
        </p:spPr>
      </p:sp>
      <p:sp>
        <p:nvSpPr>
          <p:cNvPr id="11" name="Text 9"/>
          <p:cNvSpPr/>
          <p:nvPr/>
        </p:nvSpPr>
        <p:spPr>
          <a:xfrm>
            <a:off x="685800" y="2423160"/>
            <a:ext cx="1188720" cy="45720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Parameters:</a:t>
            </a:r>
            <a:endParaRPr lang="en-US" sz="1100" dirty="0"/>
          </a:p>
        </p:txBody>
      </p:sp>
      <p:sp>
        <p:nvSpPr>
          <p:cNvPr id="12" name="Text 10"/>
          <p:cNvSpPr/>
          <p:nvPr/>
        </p:nvSpPr>
        <p:spPr>
          <a:xfrm>
            <a:off x="1920240" y="2423160"/>
            <a:ext cx="2286000" cy="45720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Only 2.5M (vs 88M for XceptionNet)</a:t>
            </a:r>
            <a:endParaRPr lang="en-US" sz="1100" dirty="0"/>
          </a:p>
        </p:txBody>
      </p:sp>
      <p:sp>
        <p:nvSpPr>
          <p:cNvPr id="13" name="Shape 11"/>
          <p:cNvSpPr/>
          <p:nvPr/>
        </p:nvSpPr>
        <p:spPr>
          <a:xfrm>
            <a:off x="548640" y="2999232"/>
            <a:ext cx="3840480" cy="548640"/>
          </a:xfrm>
          <a:prstGeom prst="roundRect">
            <a:avLst>
              <a:gd name="adj" fmla="val 20000"/>
            </a:avLst>
          </a:prstGeom>
          <a:solidFill>
            <a:srgbClr val="162A45"/>
          </a:solidFill>
          <a:ln/>
          <a:effectLst>
            <a:outerShdw blurRad="127000" dist="38100" dir="8100000" algn="bl" rotWithShape="0">
              <a:srgbClr val="000000">
                <a:alpha val="30000"/>
              </a:srgbClr>
            </a:outerShdw>
          </a:effectLst>
        </p:spPr>
      </p:sp>
      <p:sp>
        <p:nvSpPr>
          <p:cNvPr id="14" name="Text 12"/>
          <p:cNvSpPr/>
          <p:nvPr/>
        </p:nvSpPr>
        <p:spPr>
          <a:xfrm>
            <a:off x="685800" y="3044952"/>
            <a:ext cx="1188720" cy="45720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Input size:</a:t>
            </a:r>
            <a:endParaRPr lang="en-US" sz="1100" dirty="0"/>
          </a:p>
        </p:txBody>
      </p:sp>
      <p:sp>
        <p:nvSpPr>
          <p:cNvPr id="15" name="Text 13"/>
          <p:cNvSpPr/>
          <p:nvPr/>
        </p:nvSpPr>
        <p:spPr>
          <a:xfrm>
            <a:off x="1920240" y="3044952"/>
            <a:ext cx="2286000" cy="45720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112 × 112 × 3 per frame</a:t>
            </a:r>
            <a:endParaRPr lang="en-US" sz="1100" dirty="0"/>
          </a:p>
        </p:txBody>
      </p:sp>
      <p:sp>
        <p:nvSpPr>
          <p:cNvPr id="16" name="Shape 14"/>
          <p:cNvSpPr/>
          <p:nvPr/>
        </p:nvSpPr>
        <p:spPr>
          <a:xfrm>
            <a:off x="548640" y="3621024"/>
            <a:ext cx="3840480" cy="548640"/>
          </a:xfrm>
          <a:prstGeom prst="roundRect">
            <a:avLst>
              <a:gd name="adj" fmla="val 20000"/>
            </a:avLst>
          </a:prstGeom>
          <a:solidFill>
            <a:srgbClr val="162A45"/>
          </a:solidFill>
          <a:ln/>
          <a:effectLst>
            <a:outerShdw blurRad="127000" dist="38100" dir="8100000" algn="bl" rotWithShape="0">
              <a:srgbClr val="000000">
                <a:alpha val="30000"/>
              </a:srgbClr>
            </a:outerShdw>
          </a:effectLst>
        </p:spPr>
      </p:sp>
      <p:sp>
        <p:nvSpPr>
          <p:cNvPr id="17" name="Text 15"/>
          <p:cNvSpPr/>
          <p:nvPr/>
        </p:nvSpPr>
        <p:spPr>
          <a:xfrm>
            <a:off x="685800" y="3666744"/>
            <a:ext cx="1188720" cy="45720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Why not ResNet?:</a:t>
            </a:r>
            <a:endParaRPr lang="en-US" sz="1100" dirty="0"/>
          </a:p>
        </p:txBody>
      </p:sp>
      <p:sp>
        <p:nvSpPr>
          <p:cNvPr id="18" name="Text 16"/>
          <p:cNvSpPr/>
          <p:nvPr/>
        </p:nvSpPr>
        <p:spPr>
          <a:xfrm>
            <a:off x="1920240" y="3666744"/>
            <a:ext cx="2286000" cy="45720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ResNet is deeper &amp; slower — MobileNetV3 gives optimal accuracy/speed tradeoff for deployment</a:t>
            </a:r>
            <a:endParaRPr lang="en-US" sz="1100" dirty="0"/>
          </a:p>
        </p:txBody>
      </p:sp>
      <p:sp>
        <p:nvSpPr>
          <p:cNvPr id="19" name="Shape 17"/>
          <p:cNvSpPr/>
          <p:nvPr/>
        </p:nvSpPr>
        <p:spPr>
          <a:xfrm>
            <a:off x="548640" y="4242816"/>
            <a:ext cx="3840480" cy="548640"/>
          </a:xfrm>
          <a:prstGeom prst="roundRect">
            <a:avLst>
              <a:gd name="adj" fmla="val 20000"/>
            </a:avLst>
          </a:prstGeom>
          <a:solidFill>
            <a:srgbClr val="162A45"/>
          </a:solidFill>
          <a:ln/>
          <a:effectLst>
            <a:outerShdw blurRad="127000" dist="38100" dir="8100000" algn="bl" rotWithShape="0">
              <a:srgbClr val="000000">
                <a:alpha val="30000"/>
              </a:srgbClr>
            </a:outerShdw>
          </a:effectLst>
        </p:spPr>
      </p:sp>
      <p:sp>
        <p:nvSpPr>
          <p:cNvPr id="20" name="Text 18"/>
          <p:cNvSpPr/>
          <p:nvPr/>
        </p:nvSpPr>
        <p:spPr>
          <a:xfrm>
            <a:off x="685800" y="4288536"/>
            <a:ext cx="1188720" cy="45720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Why not ViT?:</a:t>
            </a:r>
            <a:endParaRPr lang="en-US" sz="1100" dirty="0"/>
          </a:p>
        </p:txBody>
      </p:sp>
      <p:sp>
        <p:nvSpPr>
          <p:cNvPr id="21" name="Text 19"/>
          <p:cNvSpPr/>
          <p:nvPr/>
        </p:nvSpPr>
        <p:spPr>
          <a:xfrm>
            <a:off x="1920240" y="4288536"/>
            <a:ext cx="2286000" cy="45720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Vision Transformers need much more compute and data — infeasible on T4 GPU with batch=4</a:t>
            </a:r>
            <a:endParaRPr lang="en-US" sz="1100" dirty="0"/>
          </a:p>
        </p:txBody>
      </p:sp>
      <p:sp>
        <p:nvSpPr>
          <p:cNvPr id="22" name="Shape 20"/>
          <p:cNvSpPr/>
          <p:nvPr/>
        </p:nvSpPr>
        <p:spPr>
          <a:xfrm>
            <a:off x="4754880" y="987552"/>
            <a:ext cx="402336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23" name="Text 21"/>
          <p:cNvSpPr/>
          <p:nvPr/>
        </p:nvSpPr>
        <p:spPr>
          <a:xfrm>
            <a:off x="4937760" y="1078992"/>
            <a:ext cx="3657600" cy="347472"/>
          </a:xfrm>
          <a:prstGeom prst="rect">
            <a:avLst/>
          </a:prstGeom>
          <a:noFill/>
          <a:ln/>
        </p:spPr>
        <p:txBody>
          <a:bodyPr wrap="square" rtlCol="0" anchor="ctr"/>
          <a:lstStyle/>
          <a:p>
            <a:pPr marL="0" indent="0">
              <a:buNone/>
            </a:pPr>
            <a:r>
              <a:rPr lang="en-US" sz="1500" b="1" dirty="0">
                <a:solidFill>
                  <a:srgbClr val="FF6B35"/>
                </a:solidFill>
                <a:latin typeface="Calibri" pitchFamily="34" charset="0"/>
                <a:ea typeface="Calibri" pitchFamily="34" charset="-122"/>
                <a:cs typeface="Calibri" pitchFamily="34" charset="-120"/>
              </a:rPr>
              <a:t>② Bidirectional LSTM</a:t>
            </a:r>
            <a:endParaRPr lang="en-US" sz="1500" dirty="0"/>
          </a:p>
        </p:txBody>
      </p:sp>
      <p:sp>
        <p:nvSpPr>
          <p:cNvPr id="24" name="Text 22"/>
          <p:cNvSpPr/>
          <p:nvPr/>
        </p:nvSpPr>
        <p:spPr>
          <a:xfrm>
            <a:off x="4937760" y="1417320"/>
            <a:ext cx="3657600" cy="256032"/>
          </a:xfrm>
          <a:prstGeom prst="rect">
            <a:avLst/>
          </a:prstGeom>
          <a:noFill/>
          <a:ln/>
        </p:spPr>
        <p:txBody>
          <a:bodyPr wrap="square" rtlCol="0" anchor="ctr"/>
          <a:lstStyle/>
          <a:p>
            <a:pPr marL="0" indent="0">
              <a:buNone/>
            </a:pPr>
            <a:r>
              <a:rPr lang="en-US" sz="1100" i="1" dirty="0">
                <a:solidFill>
                  <a:srgbClr val="8BA3BF"/>
                </a:solidFill>
                <a:latin typeface="Calibri" pitchFamily="34" charset="0"/>
                <a:ea typeface="Calibri" pitchFamily="34" charset="-122"/>
                <a:cs typeface="Calibri" pitchFamily="34" charset="-120"/>
              </a:rPr>
              <a:t>Temporal Encoder</a:t>
            </a:r>
            <a:endParaRPr lang="en-US" sz="1100" dirty="0"/>
          </a:p>
        </p:txBody>
      </p:sp>
      <p:sp>
        <p:nvSpPr>
          <p:cNvPr id="25" name="Shape 23"/>
          <p:cNvSpPr/>
          <p:nvPr/>
        </p:nvSpPr>
        <p:spPr>
          <a:xfrm>
            <a:off x="4937760" y="1755648"/>
            <a:ext cx="3611880" cy="502920"/>
          </a:xfrm>
          <a:prstGeom prst="roundRect">
            <a:avLst>
              <a:gd name="adj" fmla="val 14545"/>
            </a:avLst>
          </a:prstGeom>
          <a:solidFill>
            <a:srgbClr val="0A1628"/>
          </a:solidFill>
          <a:ln/>
        </p:spPr>
      </p:sp>
      <p:sp>
        <p:nvSpPr>
          <p:cNvPr id="26" name="Text 24"/>
          <p:cNvSpPr/>
          <p:nvPr/>
        </p:nvSpPr>
        <p:spPr>
          <a:xfrm>
            <a:off x="4937760" y="1755648"/>
            <a:ext cx="3611880" cy="502920"/>
          </a:xfrm>
          <a:prstGeom prst="rect">
            <a:avLst/>
          </a:prstGeom>
          <a:noFill/>
          <a:ln/>
        </p:spPr>
        <p:txBody>
          <a:bodyPr wrap="square" rtlCol="0" anchor="ctr"/>
          <a:lstStyle/>
          <a:p>
            <a:pPr marL="0" indent="0" algn="ctr">
              <a:buNone/>
            </a:pPr>
            <a:r>
              <a:rPr lang="en-US" sz="1200" b="1" dirty="0">
                <a:solidFill>
                  <a:srgbClr val="FFD166"/>
                </a:solidFill>
                <a:latin typeface="Consolas" pitchFamily="34" charset="0"/>
                <a:ea typeface="Consolas" pitchFamily="34" charset="-122"/>
                <a:cs typeface="Consolas" pitchFamily="34" charset="-120"/>
              </a:rPr>
              <a:t>hᵢ = BiLSTM( fᵥ(x¹ᵢ), ..., fᵥ(xᵀᵢ) )</a:t>
            </a:r>
            <a:endParaRPr lang="en-US" sz="1200" dirty="0"/>
          </a:p>
        </p:txBody>
      </p:sp>
      <p:sp>
        <p:nvSpPr>
          <p:cNvPr id="27" name="Text 25"/>
          <p:cNvSpPr/>
          <p:nvPr/>
        </p:nvSpPr>
        <p:spPr>
          <a:xfrm>
            <a:off x="4937760" y="2304288"/>
            <a:ext cx="3611880" cy="320040"/>
          </a:xfrm>
          <a:prstGeom prst="rect">
            <a:avLst/>
          </a:prstGeom>
          <a:noFill/>
          <a:ln/>
        </p:spPr>
        <p:txBody>
          <a:bodyPr wrap="square" rtlCol="0" anchor="ctr"/>
          <a:lstStyle/>
          <a:p>
            <a:pPr marL="0" indent="0">
              <a:buNone/>
            </a:pPr>
            <a:r>
              <a:rPr lang="en-US" sz="1100" dirty="0">
                <a:solidFill>
                  <a:srgbClr val="8BA3BF"/>
                </a:solidFill>
                <a:latin typeface="Calibri" pitchFamily="34" charset="0"/>
                <a:ea typeface="Calibri" pitchFamily="34" charset="-122"/>
                <a:cs typeface="Calibri" pitchFamily="34" charset="-120"/>
              </a:rPr>
              <a:t>hᵢ ∈ R⁵¹² (concat of fwd + bwd hidden states)</a:t>
            </a:r>
            <a:endParaRPr lang="en-US" sz="1100" dirty="0"/>
          </a:p>
        </p:txBody>
      </p:sp>
      <p:sp>
        <p:nvSpPr>
          <p:cNvPr id="28" name="Shape 26"/>
          <p:cNvSpPr/>
          <p:nvPr/>
        </p:nvSpPr>
        <p:spPr>
          <a:xfrm>
            <a:off x="4937760" y="2724912"/>
            <a:ext cx="3611880" cy="502920"/>
          </a:xfrm>
          <a:prstGeom prst="roundRect">
            <a:avLst>
              <a:gd name="adj" fmla="val 21818"/>
            </a:avLst>
          </a:prstGeom>
          <a:solidFill>
            <a:srgbClr val="162A45"/>
          </a:solidFill>
          <a:ln/>
          <a:effectLst>
            <a:outerShdw blurRad="127000" dist="38100" dir="8100000" algn="bl" rotWithShape="0">
              <a:srgbClr val="000000">
                <a:alpha val="30000"/>
              </a:srgbClr>
            </a:outerShdw>
          </a:effectLst>
        </p:spPr>
      </p:sp>
      <p:sp>
        <p:nvSpPr>
          <p:cNvPr id="29" name="Text 27"/>
          <p:cNvSpPr/>
          <p:nvPr/>
        </p:nvSpPr>
        <p:spPr>
          <a:xfrm>
            <a:off x="5074920" y="2770632"/>
            <a:ext cx="1463040" cy="411480"/>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Why BiLSTM?:</a:t>
            </a:r>
            <a:endParaRPr lang="en-US" sz="1100" dirty="0"/>
          </a:p>
        </p:txBody>
      </p:sp>
      <p:sp>
        <p:nvSpPr>
          <p:cNvPr id="30" name="Text 28"/>
          <p:cNvSpPr/>
          <p:nvPr/>
        </p:nvSpPr>
        <p:spPr>
          <a:xfrm>
            <a:off x="6583680" y="2770632"/>
            <a:ext cx="1847088" cy="41148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Captures temporal dependencies in BOTH forward and backward directions — important for detecting temporal artifacts</a:t>
            </a:r>
            <a:endParaRPr lang="en-US" sz="1000" dirty="0"/>
          </a:p>
        </p:txBody>
      </p:sp>
      <p:sp>
        <p:nvSpPr>
          <p:cNvPr id="31" name="Shape 29"/>
          <p:cNvSpPr/>
          <p:nvPr/>
        </p:nvSpPr>
        <p:spPr>
          <a:xfrm>
            <a:off x="4937760" y="3291840"/>
            <a:ext cx="3611880" cy="502920"/>
          </a:xfrm>
          <a:prstGeom prst="roundRect">
            <a:avLst>
              <a:gd name="adj" fmla="val 21818"/>
            </a:avLst>
          </a:prstGeom>
          <a:solidFill>
            <a:srgbClr val="162A45"/>
          </a:solidFill>
          <a:ln/>
          <a:effectLst>
            <a:outerShdw blurRad="127000" dist="38100" dir="8100000" algn="bl" rotWithShape="0">
              <a:srgbClr val="000000">
                <a:alpha val="30000"/>
              </a:srgbClr>
            </a:outerShdw>
          </a:effectLst>
        </p:spPr>
      </p:sp>
      <p:sp>
        <p:nvSpPr>
          <p:cNvPr id="32" name="Text 30"/>
          <p:cNvSpPr/>
          <p:nvPr/>
        </p:nvSpPr>
        <p:spPr>
          <a:xfrm>
            <a:off x="5074920" y="3337560"/>
            <a:ext cx="1463040" cy="411480"/>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Input:</a:t>
            </a:r>
            <a:endParaRPr lang="en-US" sz="1100" dirty="0"/>
          </a:p>
        </p:txBody>
      </p:sp>
      <p:sp>
        <p:nvSpPr>
          <p:cNvPr id="33" name="Text 31"/>
          <p:cNvSpPr/>
          <p:nvPr/>
        </p:nvSpPr>
        <p:spPr>
          <a:xfrm>
            <a:off x="6583680" y="3337560"/>
            <a:ext cx="1847088" cy="41148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Sequence of 576-d visual features from 8 frames</a:t>
            </a:r>
            <a:endParaRPr lang="en-US" sz="1000" dirty="0"/>
          </a:p>
        </p:txBody>
      </p:sp>
      <p:sp>
        <p:nvSpPr>
          <p:cNvPr id="34" name="Shape 32"/>
          <p:cNvSpPr/>
          <p:nvPr/>
        </p:nvSpPr>
        <p:spPr>
          <a:xfrm>
            <a:off x="4937760" y="3858768"/>
            <a:ext cx="3611880" cy="502920"/>
          </a:xfrm>
          <a:prstGeom prst="roundRect">
            <a:avLst>
              <a:gd name="adj" fmla="val 21818"/>
            </a:avLst>
          </a:prstGeom>
          <a:solidFill>
            <a:srgbClr val="162A45"/>
          </a:solidFill>
          <a:ln/>
          <a:effectLst>
            <a:outerShdw blurRad="127000" dist="38100" dir="8100000" algn="bl" rotWithShape="0">
              <a:srgbClr val="000000">
                <a:alpha val="30000"/>
              </a:srgbClr>
            </a:outerShdw>
          </a:effectLst>
        </p:spPr>
      </p:sp>
      <p:sp>
        <p:nvSpPr>
          <p:cNvPr id="35" name="Text 33"/>
          <p:cNvSpPr/>
          <p:nvPr/>
        </p:nvSpPr>
        <p:spPr>
          <a:xfrm>
            <a:off x="5074920" y="3904488"/>
            <a:ext cx="1463040" cy="411480"/>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Output:</a:t>
            </a:r>
            <a:endParaRPr lang="en-US" sz="1100" dirty="0"/>
          </a:p>
        </p:txBody>
      </p:sp>
      <p:sp>
        <p:nvSpPr>
          <p:cNvPr id="36" name="Text 34"/>
          <p:cNvSpPr/>
          <p:nvPr/>
        </p:nvSpPr>
        <p:spPr>
          <a:xfrm>
            <a:off x="6583680" y="3904488"/>
            <a:ext cx="1847088" cy="41148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512-d temporal encoding per identity</a:t>
            </a:r>
            <a:endParaRPr lang="en-US" sz="1000" dirty="0"/>
          </a:p>
        </p:txBody>
      </p:sp>
      <p:sp>
        <p:nvSpPr>
          <p:cNvPr id="37" name="Shape 35"/>
          <p:cNvSpPr/>
          <p:nvPr/>
        </p:nvSpPr>
        <p:spPr>
          <a:xfrm>
            <a:off x="4937760" y="4425696"/>
            <a:ext cx="3611880" cy="502920"/>
          </a:xfrm>
          <a:prstGeom prst="roundRect">
            <a:avLst>
              <a:gd name="adj" fmla="val 21818"/>
            </a:avLst>
          </a:prstGeom>
          <a:solidFill>
            <a:srgbClr val="162A45"/>
          </a:solidFill>
          <a:ln/>
          <a:effectLst>
            <a:outerShdw blurRad="127000" dist="38100" dir="8100000" algn="bl" rotWithShape="0">
              <a:srgbClr val="000000">
                <a:alpha val="30000"/>
              </a:srgbClr>
            </a:outerShdw>
          </a:effectLst>
        </p:spPr>
      </p:sp>
      <p:sp>
        <p:nvSpPr>
          <p:cNvPr id="38" name="Text 36"/>
          <p:cNvSpPr/>
          <p:nvPr/>
        </p:nvSpPr>
        <p:spPr>
          <a:xfrm>
            <a:off x="5074920" y="4471416"/>
            <a:ext cx="1463040" cy="411480"/>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Why not Transformer?:</a:t>
            </a:r>
            <a:endParaRPr lang="en-US" sz="1100" dirty="0"/>
          </a:p>
        </p:txBody>
      </p:sp>
      <p:sp>
        <p:nvSpPr>
          <p:cNvPr id="39" name="Text 37"/>
          <p:cNvSpPr/>
          <p:nvPr/>
        </p:nvSpPr>
        <p:spPr>
          <a:xfrm>
            <a:off x="6583680" y="4471416"/>
            <a:ext cx="1847088" cy="41148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With only 8 frames and batch=4, transformers don't get enough data to generalize — BiLSTM is more stable</a:t>
            </a:r>
            <a:endParaRPr lang="en-US" sz="1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Architecture Details: Audio Encoder &amp; Cross-Modal Attention</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Components 3 &amp; 4 — the key innovation</a:t>
            </a:r>
            <a:endParaRPr lang="en-US" sz="1300" dirty="0"/>
          </a:p>
        </p:txBody>
      </p:sp>
      <p:sp>
        <p:nvSpPr>
          <p:cNvPr id="4" name="Shape 2"/>
          <p:cNvSpPr/>
          <p:nvPr/>
        </p:nvSpPr>
        <p:spPr>
          <a:xfrm>
            <a:off x="365760" y="987552"/>
            <a:ext cx="402336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3657600" cy="347472"/>
          </a:xfrm>
          <a:prstGeom prst="rect">
            <a:avLst/>
          </a:prstGeom>
          <a:noFill/>
          <a:ln/>
        </p:spPr>
        <p:txBody>
          <a:bodyPr wrap="square" rtlCol="0" anchor="ctr"/>
          <a:lstStyle/>
          <a:p>
            <a:pPr marL="0" indent="0">
              <a:buNone/>
            </a:pPr>
            <a:r>
              <a:rPr lang="en-US" sz="1400" b="1" dirty="0">
                <a:solidFill>
                  <a:srgbClr val="FFD166"/>
                </a:solidFill>
                <a:latin typeface="Calibri" pitchFamily="34" charset="0"/>
                <a:ea typeface="Calibri" pitchFamily="34" charset="-122"/>
                <a:cs typeface="Calibri" pitchFamily="34" charset="-120"/>
              </a:rPr>
              <a:t>③ Audio Encoder (1D CNN)</a:t>
            </a:r>
            <a:endParaRPr lang="en-US" sz="1400" dirty="0"/>
          </a:p>
        </p:txBody>
      </p:sp>
      <p:sp>
        <p:nvSpPr>
          <p:cNvPr id="6" name="Shape 4"/>
          <p:cNvSpPr/>
          <p:nvPr/>
        </p:nvSpPr>
        <p:spPr>
          <a:xfrm>
            <a:off x="548640" y="1508760"/>
            <a:ext cx="3611880" cy="457200"/>
          </a:xfrm>
          <a:prstGeom prst="roundRect">
            <a:avLst>
              <a:gd name="adj" fmla="val 12000"/>
            </a:avLst>
          </a:prstGeom>
          <a:solidFill>
            <a:srgbClr val="0A1628"/>
          </a:solidFill>
          <a:ln/>
        </p:spPr>
      </p:sp>
      <p:sp>
        <p:nvSpPr>
          <p:cNvPr id="7" name="Text 5"/>
          <p:cNvSpPr/>
          <p:nvPr/>
        </p:nvSpPr>
        <p:spPr>
          <a:xfrm>
            <a:off x="548640" y="1508760"/>
            <a:ext cx="3611880" cy="457200"/>
          </a:xfrm>
          <a:prstGeom prst="rect">
            <a:avLst/>
          </a:prstGeom>
          <a:noFill/>
          <a:ln/>
        </p:spPr>
        <p:txBody>
          <a:bodyPr wrap="square" rtlCol="0" anchor="ctr"/>
          <a:lstStyle/>
          <a:p>
            <a:pPr marL="0" indent="0" algn="ctr">
              <a:buNone/>
            </a:pPr>
            <a:r>
              <a:rPr lang="en-US" sz="1200" dirty="0">
                <a:solidFill>
                  <a:srgbClr val="FFD166"/>
                </a:solidFill>
                <a:latin typeface="Consolas" pitchFamily="34" charset="0"/>
                <a:ea typeface="Consolas" pitchFamily="34" charset="-122"/>
                <a:cs typeface="Consolas" pitchFamily="34" charset="-120"/>
              </a:rPr>
              <a:t>a₁ = Conv1D₈₀,₁₆(audio)</a:t>
            </a:r>
            <a:endParaRPr lang="en-US" sz="1200" dirty="0"/>
          </a:p>
        </p:txBody>
      </p:sp>
      <p:sp>
        <p:nvSpPr>
          <p:cNvPr id="8" name="Shape 6"/>
          <p:cNvSpPr/>
          <p:nvPr/>
        </p:nvSpPr>
        <p:spPr>
          <a:xfrm>
            <a:off x="548640" y="2039112"/>
            <a:ext cx="3611880" cy="457200"/>
          </a:xfrm>
          <a:prstGeom prst="roundRect">
            <a:avLst>
              <a:gd name="adj" fmla="val 12000"/>
            </a:avLst>
          </a:prstGeom>
          <a:solidFill>
            <a:srgbClr val="0A1628"/>
          </a:solidFill>
          <a:ln/>
        </p:spPr>
      </p:sp>
      <p:sp>
        <p:nvSpPr>
          <p:cNvPr id="9" name="Text 7"/>
          <p:cNvSpPr/>
          <p:nvPr/>
        </p:nvSpPr>
        <p:spPr>
          <a:xfrm>
            <a:off x="548640" y="2039112"/>
            <a:ext cx="3611880" cy="457200"/>
          </a:xfrm>
          <a:prstGeom prst="rect">
            <a:avLst/>
          </a:prstGeom>
          <a:noFill/>
          <a:ln/>
        </p:spPr>
        <p:txBody>
          <a:bodyPr wrap="square" rtlCol="0" anchor="ctr"/>
          <a:lstStyle/>
          <a:p>
            <a:pPr marL="0" indent="0" algn="ctr">
              <a:buNone/>
            </a:pPr>
            <a:r>
              <a:rPr lang="en-US" sz="1200" dirty="0">
                <a:solidFill>
                  <a:srgbClr val="FFD166"/>
                </a:solidFill>
                <a:latin typeface="Consolas" pitchFamily="34" charset="0"/>
                <a:ea typeface="Consolas" pitchFamily="34" charset="-122"/>
                <a:cs typeface="Consolas" pitchFamily="34" charset="-120"/>
              </a:rPr>
              <a:t>a₂ = MaxPool₄(ReLU(BN(a₁)))</a:t>
            </a:r>
            <a:endParaRPr lang="en-US" sz="1200" dirty="0"/>
          </a:p>
        </p:txBody>
      </p:sp>
      <p:sp>
        <p:nvSpPr>
          <p:cNvPr id="10" name="Shape 8"/>
          <p:cNvSpPr/>
          <p:nvPr/>
        </p:nvSpPr>
        <p:spPr>
          <a:xfrm>
            <a:off x="548640" y="2569464"/>
            <a:ext cx="3611880" cy="457200"/>
          </a:xfrm>
          <a:prstGeom prst="roundRect">
            <a:avLst>
              <a:gd name="adj" fmla="val 12000"/>
            </a:avLst>
          </a:prstGeom>
          <a:solidFill>
            <a:srgbClr val="0A1628"/>
          </a:solidFill>
          <a:ln/>
        </p:spPr>
      </p:sp>
      <p:sp>
        <p:nvSpPr>
          <p:cNvPr id="11" name="Text 9"/>
          <p:cNvSpPr/>
          <p:nvPr/>
        </p:nvSpPr>
        <p:spPr>
          <a:xfrm>
            <a:off x="548640" y="2569464"/>
            <a:ext cx="3611880" cy="457200"/>
          </a:xfrm>
          <a:prstGeom prst="rect">
            <a:avLst/>
          </a:prstGeom>
          <a:noFill/>
          <a:ln/>
        </p:spPr>
        <p:txBody>
          <a:bodyPr wrap="square" rtlCol="0" anchor="ctr"/>
          <a:lstStyle/>
          <a:p>
            <a:pPr marL="0" indent="0" algn="ctr">
              <a:buNone/>
            </a:pPr>
            <a:r>
              <a:rPr lang="en-US" sz="1200" dirty="0">
                <a:solidFill>
                  <a:srgbClr val="FFD166"/>
                </a:solidFill>
                <a:latin typeface="Consolas" pitchFamily="34" charset="0"/>
                <a:ea typeface="Consolas" pitchFamily="34" charset="-122"/>
                <a:cs typeface="Consolas" pitchFamily="34" charset="-120"/>
              </a:rPr>
              <a:t>a₃ = Conv1D₃,₁(a₂)</a:t>
            </a:r>
            <a:endParaRPr lang="en-US" sz="1200" dirty="0"/>
          </a:p>
        </p:txBody>
      </p:sp>
      <p:sp>
        <p:nvSpPr>
          <p:cNvPr id="12" name="Shape 10"/>
          <p:cNvSpPr/>
          <p:nvPr/>
        </p:nvSpPr>
        <p:spPr>
          <a:xfrm>
            <a:off x="548640" y="3099816"/>
            <a:ext cx="3611880" cy="457200"/>
          </a:xfrm>
          <a:prstGeom prst="roundRect">
            <a:avLst>
              <a:gd name="adj" fmla="val 12000"/>
            </a:avLst>
          </a:prstGeom>
          <a:solidFill>
            <a:srgbClr val="0A1628"/>
          </a:solidFill>
          <a:ln/>
        </p:spPr>
      </p:sp>
      <p:sp>
        <p:nvSpPr>
          <p:cNvPr id="13" name="Text 11"/>
          <p:cNvSpPr/>
          <p:nvPr/>
        </p:nvSpPr>
        <p:spPr>
          <a:xfrm>
            <a:off x="548640" y="3099816"/>
            <a:ext cx="3611880" cy="457200"/>
          </a:xfrm>
          <a:prstGeom prst="rect">
            <a:avLst/>
          </a:prstGeom>
          <a:noFill/>
          <a:ln/>
        </p:spPr>
        <p:txBody>
          <a:bodyPr wrap="square" rtlCol="0" anchor="ctr"/>
          <a:lstStyle/>
          <a:p>
            <a:pPr marL="0" indent="0" algn="ctr">
              <a:buNone/>
            </a:pPr>
            <a:r>
              <a:rPr lang="en-US" sz="1200" dirty="0">
                <a:solidFill>
                  <a:srgbClr val="FFD166"/>
                </a:solidFill>
                <a:latin typeface="Consolas" pitchFamily="34" charset="0"/>
                <a:ea typeface="Consolas" pitchFamily="34" charset="-122"/>
                <a:cs typeface="Consolas" pitchFamily="34" charset="-120"/>
              </a:rPr>
              <a:t>aout = AdaptiveAvgPool(ReLU(BN(a₃)))</a:t>
            </a:r>
            <a:endParaRPr lang="en-US" sz="1200" dirty="0"/>
          </a:p>
        </p:txBody>
      </p:sp>
      <p:sp>
        <p:nvSpPr>
          <p:cNvPr id="14" name="Text 12"/>
          <p:cNvSpPr/>
          <p:nvPr/>
        </p:nvSpPr>
        <p:spPr>
          <a:xfrm>
            <a:off x="548640" y="3657600"/>
            <a:ext cx="36118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Output: aout ∈ R²⁵⁶</a:t>
            </a:r>
            <a:endParaRPr lang="en-US" sz="1200" dirty="0"/>
          </a:p>
        </p:txBody>
      </p:sp>
      <p:sp>
        <p:nvSpPr>
          <p:cNvPr id="15" name="Shape 13"/>
          <p:cNvSpPr/>
          <p:nvPr/>
        </p:nvSpPr>
        <p:spPr>
          <a:xfrm>
            <a:off x="566928" y="4078224"/>
            <a:ext cx="109728" cy="109728"/>
          </a:xfrm>
          <a:prstGeom prst="ellipse">
            <a:avLst/>
          </a:prstGeom>
          <a:solidFill>
            <a:srgbClr val="FFD166"/>
          </a:solidFill>
          <a:ln/>
        </p:spPr>
      </p:sp>
      <p:sp>
        <p:nvSpPr>
          <p:cNvPr id="16" name="Text 14"/>
          <p:cNvSpPr/>
          <p:nvPr/>
        </p:nvSpPr>
        <p:spPr>
          <a:xfrm>
            <a:off x="749808" y="4014216"/>
            <a:ext cx="3429000" cy="347472"/>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Why 1D CNN? Raw waveform input captures low-level acoustic artifacts better than spectrograms for deepfake detection</a:t>
            </a:r>
            <a:endParaRPr lang="en-US" sz="1050" dirty="0"/>
          </a:p>
        </p:txBody>
      </p:sp>
      <p:sp>
        <p:nvSpPr>
          <p:cNvPr id="17" name="Shape 15"/>
          <p:cNvSpPr/>
          <p:nvPr/>
        </p:nvSpPr>
        <p:spPr>
          <a:xfrm>
            <a:off x="566928" y="4462272"/>
            <a:ext cx="109728" cy="109728"/>
          </a:xfrm>
          <a:prstGeom prst="ellipse">
            <a:avLst/>
          </a:prstGeom>
          <a:solidFill>
            <a:srgbClr val="FFD166"/>
          </a:solidFill>
          <a:ln/>
        </p:spPr>
      </p:sp>
      <p:sp>
        <p:nvSpPr>
          <p:cNvPr id="18" name="Text 16"/>
          <p:cNvSpPr/>
          <p:nvPr/>
        </p:nvSpPr>
        <p:spPr>
          <a:xfrm>
            <a:off x="749808" y="4398264"/>
            <a:ext cx="3429000" cy="347472"/>
          </a:xfrm>
          <a:prstGeom prst="rect">
            <a:avLst/>
          </a:prstGeom>
          <a:noFill/>
          <a:ln/>
        </p:spPr>
        <p:txBody>
          <a:bodyPr wrap="square" rtlCol="0" anchor="ctr"/>
          <a:lstStyle/>
          <a:p>
            <a:pPr marL="0" indent="0">
              <a:buNone/>
            </a:pPr>
            <a:r>
              <a:rPr lang="en-US" sz="1050" dirty="0">
                <a:solidFill>
                  <a:srgbClr val="8BA3BF"/>
                </a:solidFill>
                <a:latin typeface="Calibri" pitchFamily="34" charset="0"/>
                <a:ea typeface="Calibri" pitchFamily="34" charset="-122"/>
                <a:cs typeface="Calibri" pitchFamily="34" charset="-120"/>
              </a:rPr>
              <a:t>Lightweight — fast inference suitable for real-time use</a:t>
            </a:r>
            <a:endParaRPr lang="en-US" sz="1050" dirty="0"/>
          </a:p>
        </p:txBody>
      </p:sp>
      <p:sp>
        <p:nvSpPr>
          <p:cNvPr id="19" name="Shape 17"/>
          <p:cNvSpPr/>
          <p:nvPr/>
        </p:nvSpPr>
        <p:spPr>
          <a:xfrm>
            <a:off x="4572000" y="987552"/>
            <a:ext cx="4206240" cy="4005072"/>
          </a:xfrm>
          <a:prstGeom prst="roundRect">
            <a:avLst>
              <a:gd name="adj" fmla="val 2740"/>
            </a:avLst>
          </a:prstGeom>
          <a:solidFill>
            <a:srgbClr val="162A45"/>
          </a:solidFill>
          <a:ln/>
          <a:effectLst>
            <a:outerShdw blurRad="127000" dist="38100" dir="8100000" algn="bl" rotWithShape="0">
              <a:srgbClr val="000000">
                <a:alpha val="30000"/>
              </a:srgbClr>
            </a:outerShdw>
          </a:effectLst>
        </p:spPr>
      </p:sp>
      <p:sp>
        <p:nvSpPr>
          <p:cNvPr id="20" name="Text 18"/>
          <p:cNvSpPr/>
          <p:nvPr/>
        </p:nvSpPr>
        <p:spPr>
          <a:xfrm>
            <a:off x="4754880" y="1078992"/>
            <a:ext cx="3840480" cy="475488"/>
          </a:xfrm>
          <a:prstGeom prst="rect">
            <a:avLst/>
          </a:prstGeom>
          <a:noFill/>
          <a:ln/>
        </p:spPr>
        <p:txBody>
          <a:bodyPr wrap="square" rtlCol="0" anchor="ctr"/>
          <a:lstStyle/>
          <a:p>
            <a:pPr marL="0" indent="0">
              <a:buNone/>
            </a:pPr>
            <a:r>
              <a:rPr lang="en-US" sz="1400" b="1" dirty="0">
                <a:solidFill>
                  <a:srgbClr val="00C896"/>
                </a:solidFill>
                <a:latin typeface="Calibri" pitchFamily="34" charset="0"/>
                <a:ea typeface="Calibri" pitchFamily="34" charset="-122"/>
                <a:cs typeface="Calibri" pitchFamily="34" charset="-120"/>
              </a:rPr>
              <a:t>④ Identity-Conditioned Cross-Modal Attention</a:t>
            </a:r>
            <a:endParaRPr lang="en-US" sz="1400" dirty="0"/>
          </a:p>
        </p:txBody>
      </p:sp>
      <p:sp>
        <p:nvSpPr>
          <p:cNvPr id="21" name="Shape 19"/>
          <p:cNvSpPr/>
          <p:nvPr/>
        </p:nvSpPr>
        <p:spPr>
          <a:xfrm>
            <a:off x="4754880" y="1627632"/>
            <a:ext cx="3794760" cy="438912"/>
          </a:xfrm>
          <a:prstGeom prst="roundRect">
            <a:avLst>
              <a:gd name="adj" fmla="val 12500"/>
            </a:avLst>
          </a:prstGeom>
          <a:solidFill>
            <a:srgbClr val="0A1628"/>
          </a:solidFill>
          <a:ln/>
        </p:spPr>
      </p:sp>
      <p:sp>
        <p:nvSpPr>
          <p:cNvPr id="22" name="Text 20"/>
          <p:cNvSpPr/>
          <p:nvPr/>
        </p:nvSpPr>
        <p:spPr>
          <a:xfrm>
            <a:off x="4754880" y="1627632"/>
            <a:ext cx="3794760" cy="438912"/>
          </a:xfrm>
          <a:prstGeom prst="rect">
            <a:avLst/>
          </a:prstGeom>
          <a:noFill/>
          <a:ln/>
        </p:spPr>
        <p:txBody>
          <a:bodyPr wrap="square" rtlCol="0" anchor="ctr"/>
          <a:lstStyle/>
          <a:p>
            <a:pPr marL="0" indent="0" algn="ctr">
              <a:buNone/>
            </a:pPr>
            <a:r>
              <a:rPr lang="en-US" sz="1100" b="1" dirty="0">
                <a:solidFill>
                  <a:srgbClr val="00C896"/>
                </a:solidFill>
                <a:latin typeface="Consolas" pitchFamily="34" charset="0"/>
                <a:ea typeface="Consolas" pitchFamily="34" charset="-122"/>
                <a:cs typeface="Consolas" pitchFamily="34" charset="-120"/>
              </a:rPr>
              <a:t>aproj = Wₐ · aout   (Wₐ ∈ R⁵¹²×²⁵⁶)</a:t>
            </a:r>
            <a:endParaRPr lang="en-US" sz="1100" dirty="0"/>
          </a:p>
        </p:txBody>
      </p:sp>
      <p:sp>
        <p:nvSpPr>
          <p:cNvPr id="23" name="Shape 21"/>
          <p:cNvSpPr/>
          <p:nvPr/>
        </p:nvSpPr>
        <p:spPr>
          <a:xfrm>
            <a:off x="4754880" y="2157984"/>
            <a:ext cx="3794760" cy="804672"/>
          </a:xfrm>
          <a:prstGeom prst="roundRect">
            <a:avLst>
              <a:gd name="adj" fmla="val 6818"/>
            </a:avLst>
          </a:prstGeom>
          <a:solidFill>
            <a:srgbClr val="0A1628"/>
          </a:solidFill>
          <a:ln/>
        </p:spPr>
      </p:sp>
      <p:sp>
        <p:nvSpPr>
          <p:cNvPr id="24" name="Text 22"/>
          <p:cNvSpPr/>
          <p:nvPr/>
        </p:nvSpPr>
        <p:spPr>
          <a:xfrm>
            <a:off x="4754880" y="2212848"/>
            <a:ext cx="3794760" cy="320040"/>
          </a:xfrm>
          <a:prstGeom prst="rect">
            <a:avLst/>
          </a:prstGeom>
          <a:noFill/>
          <a:ln/>
        </p:spPr>
        <p:txBody>
          <a:bodyPr wrap="square" rtlCol="0" anchor="ctr"/>
          <a:lstStyle/>
          <a:p>
            <a:pPr marL="0" indent="0" algn="ctr">
              <a:buNone/>
            </a:pPr>
            <a:r>
              <a:rPr lang="en-US" sz="1100" b="1" dirty="0">
                <a:solidFill>
                  <a:srgbClr val="00D4FF"/>
                </a:solidFill>
                <a:latin typeface="Consolas" pitchFamily="34" charset="0"/>
                <a:ea typeface="Consolas" pitchFamily="34" charset="-122"/>
                <a:cs typeface="Consolas" pitchFamily="34" charset="-120"/>
              </a:rPr>
              <a:t>h̃ᵢ = hᵢ + Attention(hᵢ, aproj, aproj)   if sᵢ=1</a:t>
            </a:r>
            <a:endParaRPr lang="en-US" sz="1100" dirty="0"/>
          </a:p>
        </p:txBody>
      </p:sp>
      <p:sp>
        <p:nvSpPr>
          <p:cNvPr id="25" name="Text 23"/>
          <p:cNvSpPr/>
          <p:nvPr/>
        </p:nvSpPr>
        <p:spPr>
          <a:xfrm>
            <a:off x="4754880" y="2542032"/>
            <a:ext cx="3794760" cy="320040"/>
          </a:xfrm>
          <a:prstGeom prst="rect">
            <a:avLst/>
          </a:prstGeom>
          <a:noFill/>
          <a:ln/>
        </p:spPr>
        <p:txBody>
          <a:bodyPr wrap="square" rtlCol="0" anchor="ctr"/>
          <a:lstStyle/>
          <a:p>
            <a:pPr marL="0" indent="0" algn="ctr">
              <a:buNone/>
            </a:pPr>
            <a:r>
              <a:rPr lang="en-US" sz="1100" b="1" dirty="0">
                <a:solidFill>
                  <a:srgbClr val="8BA3BF"/>
                </a:solidFill>
                <a:latin typeface="Consolas" pitchFamily="34" charset="0"/>
                <a:ea typeface="Consolas" pitchFamily="34" charset="-122"/>
                <a:cs typeface="Consolas" pitchFamily="34" charset="-120"/>
              </a:rPr>
              <a:t>h̃ᵢ = hᵢ                                  if sᵢ=0</a:t>
            </a:r>
            <a:endParaRPr lang="en-US" sz="1100" dirty="0"/>
          </a:p>
        </p:txBody>
      </p:sp>
      <p:sp>
        <p:nvSpPr>
          <p:cNvPr id="26" name="Shape 24"/>
          <p:cNvSpPr/>
          <p:nvPr/>
        </p:nvSpPr>
        <p:spPr>
          <a:xfrm>
            <a:off x="4754880" y="3063240"/>
            <a:ext cx="3794760" cy="438912"/>
          </a:xfrm>
          <a:prstGeom prst="roundRect">
            <a:avLst>
              <a:gd name="adj" fmla="val 12500"/>
            </a:avLst>
          </a:prstGeom>
          <a:solidFill>
            <a:srgbClr val="0A1628"/>
          </a:solidFill>
          <a:ln/>
        </p:spPr>
      </p:sp>
      <p:sp>
        <p:nvSpPr>
          <p:cNvPr id="27" name="Text 25"/>
          <p:cNvSpPr/>
          <p:nvPr/>
        </p:nvSpPr>
        <p:spPr>
          <a:xfrm>
            <a:off x="4754880" y="3063240"/>
            <a:ext cx="3794760" cy="438912"/>
          </a:xfrm>
          <a:prstGeom prst="rect">
            <a:avLst/>
          </a:prstGeom>
          <a:noFill/>
          <a:ln/>
        </p:spPr>
        <p:txBody>
          <a:bodyPr wrap="square" rtlCol="0" anchor="ctr"/>
          <a:lstStyle/>
          <a:p>
            <a:pPr marL="0" indent="0" algn="ctr">
              <a:buNone/>
            </a:pPr>
            <a:r>
              <a:rPr lang="en-US" sz="1100" b="1" dirty="0">
                <a:solidFill>
                  <a:srgbClr val="FFD166"/>
                </a:solidFill>
                <a:latin typeface="Consolas" pitchFamily="34" charset="0"/>
                <a:ea typeface="Consolas" pitchFamily="34" charset="-122"/>
                <a:cs typeface="Consolas" pitchFamily="34" charset="-120"/>
              </a:rPr>
              <a:t>Attention(Q,K,V) = softmax(QKᵀ / √dₖ) · V</a:t>
            </a:r>
            <a:endParaRPr lang="en-US" sz="1100" dirty="0"/>
          </a:p>
        </p:txBody>
      </p:sp>
      <p:sp>
        <p:nvSpPr>
          <p:cNvPr id="28" name="Text 26"/>
          <p:cNvSpPr/>
          <p:nvPr/>
        </p:nvSpPr>
        <p:spPr>
          <a:xfrm>
            <a:off x="4754880" y="3611880"/>
            <a:ext cx="3794760" cy="256032"/>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Why this matters:</a:t>
            </a:r>
            <a:endParaRPr lang="en-US" sz="1200" dirty="0"/>
          </a:p>
        </p:txBody>
      </p:sp>
      <p:sp>
        <p:nvSpPr>
          <p:cNvPr id="29" name="Shape 27"/>
          <p:cNvSpPr/>
          <p:nvPr/>
        </p:nvSpPr>
        <p:spPr>
          <a:xfrm>
            <a:off x="4754880" y="3986784"/>
            <a:ext cx="109728" cy="109728"/>
          </a:xfrm>
          <a:prstGeom prst="ellipse">
            <a:avLst/>
          </a:prstGeom>
          <a:solidFill>
            <a:srgbClr val="00C896"/>
          </a:solidFill>
          <a:ln/>
        </p:spPr>
      </p:sp>
      <p:sp>
        <p:nvSpPr>
          <p:cNvPr id="30" name="Text 28"/>
          <p:cNvSpPr/>
          <p:nvPr/>
        </p:nvSpPr>
        <p:spPr>
          <a:xfrm>
            <a:off x="4937760" y="3922776"/>
            <a:ext cx="3429000" cy="3200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Audio ONLY fused with speaking identity → prevents contamination</a:t>
            </a:r>
            <a:endParaRPr lang="en-US" sz="1100" dirty="0"/>
          </a:p>
        </p:txBody>
      </p:sp>
      <p:sp>
        <p:nvSpPr>
          <p:cNvPr id="31" name="Shape 29"/>
          <p:cNvSpPr/>
          <p:nvPr/>
        </p:nvSpPr>
        <p:spPr>
          <a:xfrm>
            <a:off x="4754880" y="4334256"/>
            <a:ext cx="109728" cy="109728"/>
          </a:xfrm>
          <a:prstGeom prst="ellipse">
            <a:avLst/>
          </a:prstGeom>
          <a:solidFill>
            <a:srgbClr val="00C896"/>
          </a:solidFill>
          <a:ln/>
        </p:spPr>
      </p:sp>
      <p:sp>
        <p:nvSpPr>
          <p:cNvPr id="32" name="Text 30"/>
          <p:cNvSpPr/>
          <p:nvPr/>
        </p:nvSpPr>
        <p:spPr>
          <a:xfrm>
            <a:off x="4937760" y="4270248"/>
            <a:ext cx="3429000" cy="3200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Silent person keeps pure visual features → cleaner classification</a:t>
            </a:r>
            <a:endParaRPr lang="en-US" sz="1100" dirty="0"/>
          </a:p>
        </p:txBody>
      </p:sp>
      <p:sp>
        <p:nvSpPr>
          <p:cNvPr id="33" name="Shape 31"/>
          <p:cNvSpPr/>
          <p:nvPr/>
        </p:nvSpPr>
        <p:spPr>
          <a:xfrm>
            <a:off x="4754880" y="4681728"/>
            <a:ext cx="109728" cy="109728"/>
          </a:xfrm>
          <a:prstGeom prst="ellipse">
            <a:avLst/>
          </a:prstGeom>
          <a:solidFill>
            <a:srgbClr val="00C896"/>
          </a:solidFill>
          <a:ln/>
        </p:spPr>
      </p:sp>
      <p:sp>
        <p:nvSpPr>
          <p:cNvPr id="34" name="Text 32"/>
          <p:cNvSpPr/>
          <p:nvPr/>
        </p:nvSpPr>
        <p:spPr>
          <a:xfrm>
            <a:off x="4937760" y="4617720"/>
            <a:ext cx="3429000" cy="32004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sᵢ flag from lip movement module controls attention gating</a:t>
            </a:r>
            <a:endParaRPr lang="en-US" sz="11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Final Prediction &amp; Loss Function</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Classification head, aggregation, and handling class imbalance</a:t>
            </a:r>
            <a:endParaRPr lang="en-US" sz="1300" dirty="0"/>
          </a:p>
        </p:txBody>
      </p:sp>
      <p:sp>
        <p:nvSpPr>
          <p:cNvPr id="4" name="Shape 2"/>
          <p:cNvSpPr/>
          <p:nvPr/>
        </p:nvSpPr>
        <p:spPr>
          <a:xfrm>
            <a:off x="365760" y="993670"/>
            <a:ext cx="4114800" cy="2029968"/>
          </a:xfrm>
          <a:prstGeom prst="roundRect">
            <a:avLst>
              <a:gd name="adj" fmla="val 5405"/>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3749040" cy="320040"/>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Final Classification</a:t>
            </a:r>
            <a:endParaRPr lang="en-US" sz="1400" dirty="0"/>
          </a:p>
        </p:txBody>
      </p:sp>
      <p:sp>
        <p:nvSpPr>
          <p:cNvPr id="6" name="Shape 4"/>
          <p:cNvSpPr/>
          <p:nvPr/>
        </p:nvSpPr>
        <p:spPr>
          <a:xfrm>
            <a:off x="548640" y="1481328"/>
            <a:ext cx="3749040" cy="457200"/>
          </a:xfrm>
          <a:prstGeom prst="roundRect">
            <a:avLst>
              <a:gd name="adj" fmla="val 16000"/>
            </a:avLst>
          </a:prstGeom>
          <a:solidFill>
            <a:srgbClr val="0A1628"/>
          </a:solidFill>
          <a:ln/>
        </p:spPr>
      </p:sp>
      <p:sp>
        <p:nvSpPr>
          <p:cNvPr id="7" name="Text 5"/>
          <p:cNvSpPr/>
          <p:nvPr/>
        </p:nvSpPr>
        <p:spPr>
          <a:xfrm>
            <a:off x="548640" y="1554480"/>
            <a:ext cx="3749040" cy="310896"/>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pᵢ = Classifier(h̃ᵢ)     pᵢ ∈ [0, 1]</a:t>
            </a:r>
            <a:endParaRPr lang="en-US" sz="1300" dirty="0"/>
          </a:p>
        </p:txBody>
      </p:sp>
      <p:sp>
        <p:nvSpPr>
          <p:cNvPr id="8" name="Shape 6"/>
          <p:cNvSpPr/>
          <p:nvPr/>
        </p:nvSpPr>
        <p:spPr>
          <a:xfrm>
            <a:off x="548640" y="2061972"/>
            <a:ext cx="3749040" cy="420624"/>
          </a:xfrm>
          <a:prstGeom prst="roundRect">
            <a:avLst>
              <a:gd name="adj" fmla="val 16000"/>
            </a:avLst>
          </a:prstGeom>
          <a:solidFill>
            <a:srgbClr val="0A1628"/>
          </a:solidFill>
          <a:ln/>
        </p:spPr>
      </p:sp>
      <p:sp>
        <p:nvSpPr>
          <p:cNvPr id="9" name="Text 7"/>
          <p:cNvSpPr/>
          <p:nvPr/>
        </p:nvSpPr>
        <p:spPr>
          <a:xfrm>
            <a:off x="548640" y="2029968"/>
            <a:ext cx="3749040" cy="457200"/>
          </a:xfrm>
          <a:prstGeom prst="rect">
            <a:avLst/>
          </a:prstGeom>
          <a:noFill/>
          <a:ln/>
        </p:spPr>
        <p:txBody>
          <a:bodyPr wrap="square" rtlCol="0" anchor="ctr"/>
          <a:lstStyle/>
          <a:p>
            <a:pPr marL="0" indent="0" algn="ctr">
              <a:buNone/>
            </a:pPr>
            <a:r>
              <a:rPr lang="en-US" sz="1500" b="1" dirty="0">
                <a:solidFill>
                  <a:srgbClr val="FFD166"/>
                </a:solidFill>
                <a:latin typeface="Consolas" pitchFamily="34" charset="0"/>
                <a:ea typeface="Consolas" pitchFamily="34" charset="-122"/>
                <a:cs typeface="Consolas" pitchFamily="34" charset="-120"/>
              </a:rPr>
              <a:t>pvideo = max(p₁, p₂)</a:t>
            </a:r>
            <a:endParaRPr lang="en-US" sz="1500" dirty="0"/>
          </a:p>
        </p:txBody>
      </p:sp>
      <p:sp>
        <p:nvSpPr>
          <p:cNvPr id="10" name="Text 8"/>
          <p:cNvSpPr/>
          <p:nvPr/>
        </p:nvSpPr>
        <p:spPr>
          <a:xfrm>
            <a:off x="548640" y="2450592"/>
            <a:ext cx="3749040" cy="25603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Why MAX aggregation?</a:t>
            </a:r>
            <a:endParaRPr lang="en-US" sz="1100" dirty="0"/>
          </a:p>
        </p:txBody>
      </p:sp>
      <p:sp>
        <p:nvSpPr>
          <p:cNvPr id="11" name="Text 9"/>
          <p:cNvSpPr/>
          <p:nvPr/>
        </p:nvSpPr>
        <p:spPr>
          <a:xfrm>
            <a:off x="548640" y="2569464"/>
            <a:ext cx="3749040" cy="502920"/>
          </a:xfrm>
          <a:prstGeom prst="rect">
            <a:avLst/>
          </a:prstGeom>
          <a:noFill/>
          <a:ln/>
        </p:spPr>
        <p:txBody>
          <a:bodyPr wrap="square" rtlCol="0" anchor="ctr"/>
          <a:lstStyle/>
          <a:p>
            <a:pPr marL="0" indent="0">
              <a:buNone/>
            </a:pPr>
            <a:r>
              <a:rPr lang="en-US" sz="900" dirty="0">
                <a:solidFill>
                  <a:srgbClr val="E8F0F8"/>
                </a:solidFill>
                <a:latin typeface="Calibri" pitchFamily="34" charset="0"/>
                <a:ea typeface="Calibri" pitchFamily="34" charset="-122"/>
                <a:cs typeface="Calibri" pitchFamily="34" charset="-120"/>
              </a:rPr>
              <a:t>If ANY person in the video is fake → the video is fake. Max captures this principle faithfully. Average would dilute the fake signal with a real score.</a:t>
            </a:r>
            <a:endParaRPr lang="en-US" sz="900" dirty="0"/>
          </a:p>
        </p:txBody>
      </p:sp>
      <p:sp>
        <p:nvSpPr>
          <p:cNvPr id="12" name="Shape 10"/>
          <p:cNvSpPr/>
          <p:nvPr/>
        </p:nvSpPr>
        <p:spPr>
          <a:xfrm>
            <a:off x="4663440" y="987552"/>
            <a:ext cx="4114800" cy="2029968"/>
          </a:xfrm>
          <a:prstGeom prst="roundRect">
            <a:avLst>
              <a:gd name="adj" fmla="val 5405"/>
            </a:avLst>
          </a:prstGeom>
          <a:solidFill>
            <a:srgbClr val="162A45"/>
          </a:solidFill>
          <a:ln/>
          <a:effectLst>
            <a:outerShdw blurRad="127000" dist="38100" dir="8100000" algn="bl" rotWithShape="0">
              <a:srgbClr val="000000">
                <a:alpha val="30000"/>
              </a:srgbClr>
            </a:outerShdw>
          </a:effectLst>
        </p:spPr>
      </p:sp>
      <p:sp>
        <p:nvSpPr>
          <p:cNvPr id="13" name="Text 11"/>
          <p:cNvSpPr/>
          <p:nvPr/>
        </p:nvSpPr>
        <p:spPr>
          <a:xfrm>
            <a:off x="4846320" y="1078992"/>
            <a:ext cx="3749040" cy="320040"/>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Weighted Cross-Entropy Loss</a:t>
            </a:r>
            <a:endParaRPr lang="en-US" sz="1400" dirty="0"/>
          </a:p>
        </p:txBody>
      </p:sp>
      <p:sp>
        <p:nvSpPr>
          <p:cNvPr id="14" name="Shape 12"/>
          <p:cNvSpPr/>
          <p:nvPr/>
        </p:nvSpPr>
        <p:spPr>
          <a:xfrm>
            <a:off x="4846320" y="1481328"/>
            <a:ext cx="3749040" cy="457200"/>
          </a:xfrm>
          <a:prstGeom prst="roundRect">
            <a:avLst>
              <a:gd name="adj" fmla="val 16000"/>
            </a:avLst>
          </a:prstGeom>
          <a:solidFill>
            <a:srgbClr val="0A1628"/>
          </a:solidFill>
          <a:ln/>
        </p:spPr>
      </p:sp>
      <p:sp>
        <p:nvSpPr>
          <p:cNvPr id="15" name="Text 13"/>
          <p:cNvSpPr/>
          <p:nvPr/>
        </p:nvSpPr>
        <p:spPr>
          <a:xfrm>
            <a:off x="4846320" y="1481328"/>
            <a:ext cx="3749040" cy="45720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L = −∑ wᵧᵢ · log p(yᵢ|xᵢ)</a:t>
            </a:r>
            <a:endParaRPr lang="en-US" sz="1400" dirty="0"/>
          </a:p>
        </p:txBody>
      </p:sp>
      <p:sp>
        <p:nvSpPr>
          <p:cNvPr id="16" name="Shape 14"/>
          <p:cNvSpPr/>
          <p:nvPr/>
        </p:nvSpPr>
        <p:spPr>
          <a:xfrm>
            <a:off x="4846320" y="2029968"/>
            <a:ext cx="3749040" cy="457200"/>
          </a:xfrm>
          <a:prstGeom prst="roundRect">
            <a:avLst>
              <a:gd name="adj" fmla="val 16000"/>
            </a:avLst>
          </a:prstGeom>
          <a:solidFill>
            <a:srgbClr val="0A1628"/>
          </a:solidFill>
          <a:ln/>
        </p:spPr>
      </p:sp>
      <p:sp>
        <p:nvSpPr>
          <p:cNvPr id="17" name="Text 15"/>
          <p:cNvSpPr/>
          <p:nvPr/>
        </p:nvSpPr>
        <p:spPr>
          <a:xfrm>
            <a:off x="4846320" y="2029968"/>
            <a:ext cx="3749040" cy="457200"/>
          </a:xfrm>
          <a:prstGeom prst="rect">
            <a:avLst/>
          </a:prstGeom>
          <a:noFill/>
          <a:ln/>
        </p:spPr>
        <p:txBody>
          <a:bodyPr wrap="square" rtlCol="0" anchor="ctr"/>
          <a:lstStyle/>
          <a:p>
            <a:pPr marL="0" indent="0" algn="ctr">
              <a:buNone/>
            </a:pPr>
            <a:r>
              <a:rPr lang="en-US" sz="1400" b="1" dirty="0">
                <a:solidFill>
                  <a:srgbClr val="FFD166"/>
                </a:solidFill>
                <a:latin typeface="Consolas" pitchFamily="34" charset="0"/>
                <a:ea typeface="Consolas" pitchFamily="34" charset="-122"/>
                <a:cs typeface="Consolas" pitchFamily="34" charset="-120"/>
              </a:rPr>
              <a:t>wc = Ntotal / (2 · Nc)</a:t>
            </a:r>
            <a:endParaRPr lang="en-US" sz="1400" dirty="0"/>
          </a:p>
        </p:txBody>
      </p:sp>
      <p:sp>
        <p:nvSpPr>
          <p:cNvPr id="18" name="Shape 16"/>
          <p:cNvSpPr/>
          <p:nvPr/>
        </p:nvSpPr>
        <p:spPr>
          <a:xfrm>
            <a:off x="4846320" y="2606040"/>
            <a:ext cx="1783080" cy="658368"/>
          </a:xfrm>
          <a:prstGeom prst="roundRect">
            <a:avLst>
              <a:gd name="adj" fmla="val 16667"/>
            </a:avLst>
          </a:prstGeom>
          <a:solidFill>
            <a:srgbClr val="162A45"/>
          </a:solidFill>
          <a:ln/>
          <a:effectLst>
            <a:outerShdw blurRad="127000" dist="38100" dir="8100000" algn="bl" rotWithShape="0">
              <a:srgbClr val="000000">
                <a:alpha val="30000"/>
              </a:srgbClr>
            </a:outerShdw>
          </a:effectLst>
        </p:spPr>
      </p:sp>
      <p:sp>
        <p:nvSpPr>
          <p:cNvPr id="19" name="Text 17"/>
          <p:cNvSpPr/>
          <p:nvPr/>
        </p:nvSpPr>
        <p:spPr>
          <a:xfrm>
            <a:off x="4846320" y="2633472"/>
            <a:ext cx="1783080" cy="347472"/>
          </a:xfrm>
          <a:prstGeom prst="rect">
            <a:avLst/>
          </a:prstGeom>
          <a:noFill/>
          <a:ln/>
        </p:spPr>
        <p:txBody>
          <a:bodyPr wrap="square" rtlCol="0" anchor="ctr"/>
          <a:lstStyle/>
          <a:p>
            <a:pPr marL="0" indent="0" algn="ctr">
              <a:buNone/>
            </a:pPr>
            <a:r>
              <a:rPr lang="en-US" sz="2400" b="1" dirty="0">
                <a:solidFill>
                  <a:srgbClr val="00C896"/>
                </a:solidFill>
                <a:latin typeface="Calibri" pitchFamily="34" charset="0"/>
                <a:ea typeface="Calibri" pitchFamily="34" charset="-122"/>
                <a:cs typeface="Calibri" pitchFamily="34" charset="-120"/>
              </a:rPr>
              <a:t>3.76</a:t>
            </a:r>
            <a:endParaRPr lang="en-US" sz="2400" dirty="0"/>
          </a:p>
        </p:txBody>
      </p:sp>
      <p:sp>
        <p:nvSpPr>
          <p:cNvPr id="20" name="Text 18"/>
          <p:cNvSpPr/>
          <p:nvPr/>
        </p:nvSpPr>
        <p:spPr>
          <a:xfrm>
            <a:off x="4846320" y="2980944"/>
            <a:ext cx="1783080" cy="256032"/>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Real weight (wreal)</a:t>
            </a:r>
            <a:endParaRPr lang="en-US" sz="1000" dirty="0"/>
          </a:p>
        </p:txBody>
      </p:sp>
      <p:sp>
        <p:nvSpPr>
          <p:cNvPr id="21" name="Shape 19"/>
          <p:cNvSpPr/>
          <p:nvPr/>
        </p:nvSpPr>
        <p:spPr>
          <a:xfrm>
            <a:off x="6748272" y="2606040"/>
            <a:ext cx="1783080" cy="658368"/>
          </a:xfrm>
          <a:prstGeom prst="roundRect">
            <a:avLst>
              <a:gd name="adj" fmla="val 16667"/>
            </a:avLst>
          </a:prstGeom>
          <a:solidFill>
            <a:srgbClr val="162A45"/>
          </a:solidFill>
          <a:ln/>
          <a:effectLst>
            <a:outerShdw blurRad="127000" dist="38100" dir="8100000" algn="bl" rotWithShape="0">
              <a:srgbClr val="000000">
                <a:alpha val="30000"/>
              </a:srgbClr>
            </a:outerShdw>
          </a:effectLst>
        </p:spPr>
      </p:sp>
      <p:sp>
        <p:nvSpPr>
          <p:cNvPr id="22" name="Text 20"/>
          <p:cNvSpPr/>
          <p:nvPr/>
        </p:nvSpPr>
        <p:spPr>
          <a:xfrm>
            <a:off x="6748272" y="2633472"/>
            <a:ext cx="1783080" cy="347472"/>
          </a:xfrm>
          <a:prstGeom prst="rect">
            <a:avLst/>
          </a:prstGeom>
          <a:noFill/>
          <a:ln/>
        </p:spPr>
        <p:txBody>
          <a:bodyPr wrap="square" rtlCol="0" anchor="ctr"/>
          <a:lstStyle/>
          <a:p>
            <a:pPr marL="0" indent="0" algn="ctr">
              <a:buNone/>
            </a:pPr>
            <a:r>
              <a:rPr lang="en-US" sz="2400" b="1" dirty="0">
                <a:solidFill>
                  <a:srgbClr val="FF6B35"/>
                </a:solidFill>
                <a:latin typeface="Calibri" pitchFamily="34" charset="0"/>
                <a:ea typeface="Calibri" pitchFamily="34" charset="-122"/>
                <a:cs typeface="Calibri" pitchFamily="34" charset="-120"/>
              </a:rPr>
              <a:t>0.58</a:t>
            </a:r>
            <a:endParaRPr lang="en-US" sz="2400" dirty="0"/>
          </a:p>
        </p:txBody>
      </p:sp>
      <p:sp>
        <p:nvSpPr>
          <p:cNvPr id="23" name="Text 21"/>
          <p:cNvSpPr/>
          <p:nvPr/>
        </p:nvSpPr>
        <p:spPr>
          <a:xfrm>
            <a:off x="6748272" y="2980944"/>
            <a:ext cx="1783080" cy="256032"/>
          </a:xfrm>
          <a:prstGeom prst="rect">
            <a:avLst/>
          </a:prstGeom>
          <a:noFill/>
          <a:ln/>
        </p:spPr>
        <p:txBody>
          <a:bodyPr wrap="square" rtlCol="0" anchor="ctr"/>
          <a:lstStyle/>
          <a:p>
            <a:pPr marL="0" indent="0" algn="ctr">
              <a:buNone/>
            </a:pPr>
            <a:r>
              <a:rPr lang="en-US" sz="1000" dirty="0">
                <a:solidFill>
                  <a:srgbClr val="8BA3BF"/>
                </a:solidFill>
                <a:latin typeface="Calibri" pitchFamily="34" charset="0"/>
                <a:ea typeface="Calibri" pitchFamily="34" charset="-122"/>
                <a:cs typeface="Calibri" pitchFamily="34" charset="-120"/>
              </a:rPr>
              <a:t>Fake weight (wfake)</a:t>
            </a:r>
            <a:endParaRPr lang="en-US" sz="1000" dirty="0"/>
          </a:p>
        </p:txBody>
      </p:sp>
      <p:sp>
        <p:nvSpPr>
          <p:cNvPr id="24" name="Text 22"/>
          <p:cNvSpPr/>
          <p:nvPr/>
        </p:nvSpPr>
        <p:spPr>
          <a:xfrm>
            <a:off x="4846320" y="3337560"/>
            <a:ext cx="3749040" cy="256032"/>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Why weighted loss?</a:t>
            </a:r>
            <a:endParaRPr lang="en-US" sz="1200" dirty="0"/>
          </a:p>
        </p:txBody>
      </p:sp>
      <p:sp>
        <p:nvSpPr>
          <p:cNvPr id="25" name="Text 23"/>
          <p:cNvSpPr/>
          <p:nvPr/>
        </p:nvSpPr>
        <p:spPr>
          <a:xfrm>
            <a:off x="4846320" y="3584448"/>
            <a:ext cx="3749040" cy="502920"/>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Without weighting, model collapses to predicting 'fake' always (86.7% accuracy) — the weights force the model to learn real video patterns.</a:t>
            </a:r>
            <a:endParaRPr lang="en-US" sz="1100" dirty="0"/>
          </a:p>
        </p:txBody>
      </p:sp>
      <p:sp>
        <p:nvSpPr>
          <p:cNvPr id="26" name="Text 24"/>
          <p:cNvSpPr/>
          <p:nvPr/>
        </p:nvSpPr>
        <p:spPr>
          <a:xfrm>
            <a:off x="365760" y="3127248"/>
            <a:ext cx="4114800" cy="256032"/>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Training Configuration</a:t>
            </a:r>
            <a:endParaRPr lang="en-US" sz="1400" dirty="0"/>
          </a:p>
        </p:txBody>
      </p:sp>
      <p:sp>
        <p:nvSpPr>
          <p:cNvPr id="27" name="Text 25"/>
          <p:cNvSpPr/>
          <p:nvPr/>
        </p:nvSpPr>
        <p:spPr>
          <a:xfrm>
            <a:off x="365760" y="345643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Optimizer:</a:t>
            </a:r>
            <a:endParaRPr lang="en-US" sz="1100" dirty="0"/>
          </a:p>
        </p:txBody>
      </p:sp>
      <p:sp>
        <p:nvSpPr>
          <p:cNvPr id="28" name="Text 26"/>
          <p:cNvSpPr/>
          <p:nvPr/>
        </p:nvSpPr>
        <p:spPr>
          <a:xfrm>
            <a:off x="1417320" y="345643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Adam (</a:t>
            </a:r>
            <a:r>
              <a:rPr lang="en-US" sz="1100" dirty="0" err="1" smtClean="0">
                <a:solidFill>
                  <a:srgbClr val="E8F0F8"/>
                </a:solidFill>
                <a:latin typeface="Calibri" pitchFamily="34" charset="0"/>
                <a:ea typeface="Calibri" pitchFamily="34" charset="-122"/>
                <a:cs typeface="Calibri" pitchFamily="34" charset="-120"/>
              </a:rPr>
              <a:t>lr</a:t>
            </a:r>
            <a:r>
              <a:rPr lang="en-US" sz="1100" dirty="0" smtClean="0">
                <a:solidFill>
                  <a:srgbClr val="E8F0F8"/>
                </a:solidFill>
                <a:latin typeface="Calibri" pitchFamily="34" charset="0"/>
                <a:ea typeface="Calibri" pitchFamily="34" charset="-122"/>
                <a:cs typeface="Calibri" pitchFamily="34" charset="-120"/>
              </a:rPr>
              <a:t>=1e-4)</a:t>
            </a:r>
            <a:endParaRPr lang="en-US" sz="1100" dirty="0"/>
          </a:p>
        </p:txBody>
      </p:sp>
      <p:sp>
        <p:nvSpPr>
          <p:cNvPr id="29" name="Text 27"/>
          <p:cNvSpPr/>
          <p:nvPr/>
        </p:nvSpPr>
        <p:spPr>
          <a:xfrm>
            <a:off x="2468880" y="345643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Schedule:</a:t>
            </a:r>
            <a:endParaRPr lang="en-US" sz="1100" dirty="0"/>
          </a:p>
        </p:txBody>
      </p:sp>
      <p:sp>
        <p:nvSpPr>
          <p:cNvPr id="30" name="Text 28"/>
          <p:cNvSpPr/>
          <p:nvPr/>
        </p:nvSpPr>
        <p:spPr>
          <a:xfrm>
            <a:off x="3520440" y="345643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Cosine Annealing</a:t>
            </a:r>
            <a:endParaRPr lang="en-US" sz="1100" dirty="0"/>
          </a:p>
        </p:txBody>
      </p:sp>
      <p:sp>
        <p:nvSpPr>
          <p:cNvPr id="31" name="Text 29"/>
          <p:cNvSpPr/>
          <p:nvPr/>
        </p:nvSpPr>
        <p:spPr>
          <a:xfrm>
            <a:off x="365760" y="386791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Batch Size:</a:t>
            </a:r>
            <a:endParaRPr lang="en-US" sz="1100" dirty="0"/>
          </a:p>
        </p:txBody>
      </p:sp>
      <p:sp>
        <p:nvSpPr>
          <p:cNvPr id="32" name="Text 30"/>
          <p:cNvSpPr/>
          <p:nvPr/>
        </p:nvSpPr>
        <p:spPr>
          <a:xfrm>
            <a:off x="1417320" y="386791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4 (GPU memory limited)</a:t>
            </a:r>
            <a:endParaRPr lang="en-US" sz="1100" dirty="0"/>
          </a:p>
        </p:txBody>
      </p:sp>
      <p:sp>
        <p:nvSpPr>
          <p:cNvPr id="33" name="Text 31"/>
          <p:cNvSpPr/>
          <p:nvPr/>
        </p:nvSpPr>
        <p:spPr>
          <a:xfrm>
            <a:off x="2468880" y="386791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Epochs:</a:t>
            </a:r>
            <a:endParaRPr lang="en-US" sz="1100" dirty="0"/>
          </a:p>
        </p:txBody>
      </p:sp>
      <p:sp>
        <p:nvSpPr>
          <p:cNvPr id="34" name="Text 32"/>
          <p:cNvSpPr/>
          <p:nvPr/>
        </p:nvSpPr>
        <p:spPr>
          <a:xfrm>
            <a:off x="3520440" y="386791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Max 30, Early Stop (patience=5)</a:t>
            </a:r>
            <a:endParaRPr lang="en-US" sz="1100" dirty="0"/>
          </a:p>
        </p:txBody>
      </p:sp>
      <p:sp>
        <p:nvSpPr>
          <p:cNvPr id="35" name="Text 33"/>
          <p:cNvSpPr/>
          <p:nvPr/>
        </p:nvSpPr>
        <p:spPr>
          <a:xfrm>
            <a:off x="365760" y="427939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Precision:</a:t>
            </a:r>
            <a:endParaRPr lang="en-US" sz="1100" dirty="0"/>
          </a:p>
        </p:txBody>
      </p:sp>
      <p:sp>
        <p:nvSpPr>
          <p:cNvPr id="36" name="Text 34"/>
          <p:cNvSpPr/>
          <p:nvPr/>
        </p:nvSpPr>
        <p:spPr>
          <a:xfrm>
            <a:off x="1417320" y="4331559"/>
            <a:ext cx="1024128" cy="243138"/>
          </a:xfrm>
          <a:prstGeom prst="rect">
            <a:avLst/>
          </a:prstGeom>
          <a:noFill/>
          <a:ln/>
        </p:spPr>
        <p:txBody>
          <a:bodyPr wrap="square" rtlCol="0" anchor="ctr"/>
          <a:lstStyle/>
          <a:p>
            <a:pPr marL="0" indent="0">
              <a:buNone/>
            </a:pPr>
            <a:r>
              <a:rPr lang="en-US" sz="1100" dirty="0" smtClean="0">
                <a:solidFill>
                  <a:srgbClr val="E8F0F8"/>
                </a:solidFill>
                <a:latin typeface="Calibri" pitchFamily="34" charset="0"/>
                <a:ea typeface="Calibri" pitchFamily="34" charset="-122"/>
                <a:cs typeface="Calibri" pitchFamily="34" charset="-120"/>
              </a:rPr>
              <a:t>FP16 Mixed </a:t>
            </a:r>
            <a:r>
              <a:rPr lang="en-US" sz="1100" dirty="0">
                <a:solidFill>
                  <a:srgbClr val="E8F0F8"/>
                </a:solidFill>
                <a:latin typeface="Calibri" pitchFamily="34" charset="0"/>
                <a:ea typeface="Calibri" pitchFamily="34" charset="-122"/>
                <a:cs typeface="Calibri" pitchFamily="34" charset="-120"/>
              </a:rPr>
              <a:t>(saves 50% memory)</a:t>
            </a:r>
            <a:endParaRPr lang="en-US" sz="1100" dirty="0"/>
          </a:p>
        </p:txBody>
      </p:sp>
      <p:sp>
        <p:nvSpPr>
          <p:cNvPr id="37" name="Text 35"/>
          <p:cNvSpPr/>
          <p:nvPr/>
        </p:nvSpPr>
        <p:spPr>
          <a:xfrm>
            <a:off x="2468880" y="427939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Hardware:</a:t>
            </a:r>
            <a:endParaRPr lang="en-US" sz="1100" dirty="0"/>
          </a:p>
        </p:txBody>
      </p:sp>
      <p:sp>
        <p:nvSpPr>
          <p:cNvPr id="38" name="Text 36"/>
          <p:cNvSpPr/>
          <p:nvPr/>
        </p:nvSpPr>
        <p:spPr>
          <a:xfrm>
            <a:off x="3520440" y="427939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NVIDIA Tesla T4</a:t>
            </a:r>
            <a:endParaRPr lang="en-US" sz="1100" dirty="0"/>
          </a:p>
        </p:txBody>
      </p:sp>
      <p:sp>
        <p:nvSpPr>
          <p:cNvPr id="39" name="Text 37"/>
          <p:cNvSpPr/>
          <p:nvPr/>
        </p:nvSpPr>
        <p:spPr>
          <a:xfrm>
            <a:off x="365760" y="469087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Training Time:</a:t>
            </a:r>
            <a:endParaRPr lang="en-US" sz="1100" dirty="0"/>
          </a:p>
        </p:txBody>
      </p:sp>
      <p:sp>
        <p:nvSpPr>
          <p:cNvPr id="40" name="Text 38"/>
          <p:cNvSpPr/>
          <p:nvPr/>
        </p:nvSpPr>
        <p:spPr>
          <a:xfrm>
            <a:off x="1417320" y="4743039"/>
            <a:ext cx="1024128" cy="243138"/>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~42 hours total</a:t>
            </a:r>
            <a:endParaRPr lang="en-US" sz="1100" dirty="0"/>
          </a:p>
        </p:txBody>
      </p:sp>
      <p:sp>
        <p:nvSpPr>
          <p:cNvPr id="41" name="Text 39"/>
          <p:cNvSpPr/>
          <p:nvPr/>
        </p:nvSpPr>
        <p:spPr>
          <a:xfrm>
            <a:off x="2468880" y="4690872"/>
            <a:ext cx="1024128" cy="347472"/>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Framework:</a:t>
            </a:r>
            <a:endParaRPr lang="en-US" sz="1100" dirty="0"/>
          </a:p>
        </p:txBody>
      </p:sp>
      <p:sp>
        <p:nvSpPr>
          <p:cNvPr id="42" name="Text 40"/>
          <p:cNvSpPr/>
          <p:nvPr/>
        </p:nvSpPr>
        <p:spPr>
          <a:xfrm>
            <a:off x="3520440" y="4690872"/>
            <a:ext cx="1024128" cy="34747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PyTorch 2.0</a:t>
            </a:r>
            <a:endParaRPr lang="en-US" sz="11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Evaluation Metrics</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Why standard accuracy is insufficient for imbalanced datasets</a:t>
            </a:r>
            <a:endParaRPr lang="en-US" sz="1300" dirty="0"/>
          </a:p>
        </p:txBody>
      </p:sp>
      <p:sp>
        <p:nvSpPr>
          <p:cNvPr id="4" name="Shape 2"/>
          <p:cNvSpPr/>
          <p:nvPr/>
        </p:nvSpPr>
        <p:spPr>
          <a:xfrm>
            <a:off x="365760" y="987552"/>
            <a:ext cx="8412480" cy="1024128"/>
          </a:xfrm>
          <a:prstGeom prst="roundRect">
            <a:avLst>
              <a:gd name="adj" fmla="val 10714"/>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48640" y="1078992"/>
            <a:ext cx="2743200" cy="292608"/>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The Imbalance Problem</a:t>
            </a:r>
            <a:endParaRPr lang="en-US" sz="1400" dirty="0"/>
          </a:p>
        </p:txBody>
      </p:sp>
      <p:sp>
        <p:nvSpPr>
          <p:cNvPr id="6" name="Text 4"/>
          <p:cNvSpPr/>
          <p:nvPr/>
        </p:nvSpPr>
        <p:spPr>
          <a:xfrm>
            <a:off x="548640" y="1353312"/>
            <a:ext cx="7955280" cy="548640"/>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With 86.7% fake videos, a naive model predicting 'fake' for every video achieves 86.7% accuracy while being completely useless for detecting real videos. This is why we need specialized metrics.</a:t>
            </a:r>
            <a:endParaRPr lang="en-US" sz="1200" dirty="0"/>
          </a:p>
        </p:txBody>
      </p:sp>
      <p:sp>
        <p:nvSpPr>
          <p:cNvPr id="7" name="Shape 5"/>
          <p:cNvSpPr/>
          <p:nvPr/>
        </p:nvSpPr>
        <p:spPr>
          <a:xfrm>
            <a:off x="365760" y="2121408"/>
            <a:ext cx="4251960"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8" name="Shape 6"/>
          <p:cNvSpPr/>
          <p:nvPr/>
        </p:nvSpPr>
        <p:spPr>
          <a:xfrm>
            <a:off x="365760" y="2121408"/>
            <a:ext cx="4251960" cy="329184"/>
          </a:xfrm>
          <a:prstGeom prst="rect">
            <a:avLst/>
          </a:prstGeom>
          <a:solidFill>
            <a:srgbClr val="00D4FF"/>
          </a:solidFill>
          <a:ln/>
        </p:spPr>
      </p:sp>
      <p:sp>
        <p:nvSpPr>
          <p:cNvPr id="9" name="Text 7"/>
          <p:cNvSpPr/>
          <p:nvPr/>
        </p:nvSpPr>
        <p:spPr>
          <a:xfrm>
            <a:off x="475488" y="2157984"/>
            <a:ext cx="4023360" cy="256032"/>
          </a:xfrm>
          <a:prstGeom prst="rect">
            <a:avLst/>
          </a:prstGeom>
          <a:noFill/>
          <a:ln/>
        </p:spPr>
        <p:txBody>
          <a:bodyPr wrap="square" rtlCol="0" anchor="ctr"/>
          <a:lstStyle/>
          <a:p>
            <a:pPr marL="0" indent="0">
              <a:buNone/>
            </a:pPr>
            <a:r>
              <a:rPr lang="en-US" sz="1250" b="1" dirty="0">
                <a:solidFill>
                  <a:srgbClr val="0A1628"/>
                </a:solidFill>
                <a:latin typeface="Calibri" pitchFamily="34" charset="0"/>
                <a:ea typeface="Calibri" pitchFamily="34" charset="-122"/>
                <a:cs typeface="Calibri" pitchFamily="34" charset="-120"/>
              </a:rPr>
              <a:t>Balanced Accuracy ← PRIMARY</a:t>
            </a:r>
            <a:endParaRPr lang="en-US" sz="1250" dirty="0"/>
          </a:p>
        </p:txBody>
      </p:sp>
      <p:sp>
        <p:nvSpPr>
          <p:cNvPr id="10" name="Shape 8"/>
          <p:cNvSpPr/>
          <p:nvPr/>
        </p:nvSpPr>
        <p:spPr>
          <a:xfrm>
            <a:off x="502920" y="2523744"/>
            <a:ext cx="3977640" cy="365760"/>
          </a:xfrm>
          <a:prstGeom prst="roundRect">
            <a:avLst>
              <a:gd name="adj" fmla="val 15000"/>
            </a:avLst>
          </a:prstGeom>
          <a:solidFill>
            <a:srgbClr val="0A1628"/>
          </a:solidFill>
          <a:ln/>
        </p:spPr>
      </p:sp>
      <p:sp>
        <p:nvSpPr>
          <p:cNvPr id="11" name="Text 9"/>
          <p:cNvSpPr/>
          <p:nvPr/>
        </p:nvSpPr>
        <p:spPr>
          <a:xfrm>
            <a:off x="502920" y="2523744"/>
            <a:ext cx="3977640" cy="365760"/>
          </a:xfrm>
          <a:prstGeom prst="rect">
            <a:avLst/>
          </a:prstGeom>
          <a:noFill/>
          <a:ln/>
        </p:spPr>
        <p:txBody>
          <a:bodyPr wrap="square" rtlCol="0" anchor="ctr"/>
          <a:lstStyle/>
          <a:p>
            <a:pPr marL="0" indent="0" algn="ctr">
              <a:buNone/>
            </a:pPr>
            <a:r>
              <a:rPr lang="en-US" sz="1050" b="1" dirty="0">
                <a:solidFill>
                  <a:srgbClr val="00D4FF"/>
                </a:solidFill>
                <a:latin typeface="Consolas" pitchFamily="34" charset="0"/>
                <a:ea typeface="Consolas" pitchFamily="34" charset="-122"/>
                <a:cs typeface="Consolas" pitchFamily="34" charset="-120"/>
              </a:rPr>
              <a:t>BA = ½ · (TP/(TP+FN) + TN/(TN+FP))</a:t>
            </a:r>
            <a:endParaRPr lang="en-US" sz="1050" dirty="0"/>
          </a:p>
        </p:txBody>
      </p:sp>
      <p:sp>
        <p:nvSpPr>
          <p:cNvPr id="12" name="Text 10"/>
          <p:cNvSpPr/>
          <p:nvPr/>
        </p:nvSpPr>
        <p:spPr>
          <a:xfrm>
            <a:off x="502920" y="2962656"/>
            <a:ext cx="3977640" cy="45720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Equally weights sensitivity (recall for real) and specificity (recall for fake). Primary metric — accounts for class imbalance fairly.</a:t>
            </a:r>
            <a:endParaRPr lang="en-US" sz="1050" dirty="0"/>
          </a:p>
        </p:txBody>
      </p:sp>
      <p:sp>
        <p:nvSpPr>
          <p:cNvPr id="13" name="Shape 11"/>
          <p:cNvSpPr/>
          <p:nvPr/>
        </p:nvSpPr>
        <p:spPr>
          <a:xfrm>
            <a:off x="4800600" y="2121408"/>
            <a:ext cx="4251960"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14" name="Shape 12"/>
          <p:cNvSpPr/>
          <p:nvPr/>
        </p:nvSpPr>
        <p:spPr>
          <a:xfrm>
            <a:off x="4800600" y="2121408"/>
            <a:ext cx="4251960" cy="329184"/>
          </a:xfrm>
          <a:prstGeom prst="rect">
            <a:avLst/>
          </a:prstGeom>
          <a:solidFill>
            <a:srgbClr val="FFD166">
              <a:alpha val="60000"/>
            </a:srgbClr>
          </a:solidFill>
          <a:ln/>
        </p:spPr>
      </p:sp>
      <p:sp>
        <p:nvSpPr>
          <p:cNvPr id="15" name="Text 13"/>
          <p:cNvSpPr/>
          <p:nvPr/>
        </p:nvSpPr>
        <p:spPr>
          <a:xfrm>
            <a:off x="4910328" y="2157984"/>
            <a:ext cx="4023360" cy="25603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AUC-ROC</a:t>
            </a:r>
            <a:endParaRPr lang="en-US" sz="1250" dirty="0"/>
          </a:p>
        </p:txBody>
      </p:sp>
      <p:sp>
        <p:nvSpPr>
          <p:cNvPr id="16" name="Shape 14"/>
          <p:cNvSpPr/>
          <p:nvPr/>
        </p:nvSpPr>
        <p:spPr>
          <a:xfrm>
            <a:off x="4937760" y="2523744"/>
            <a:ext cx="3977640" cy="365760"/>
          </a:xfrm>
          <a:prstGeom prst="roundRect">
            <a:avLst>
              <a:gd name="adj" fmla="val 15000"/>
            </a:avLst>
          </a:prstGeom>
          <a:solidFill>
            <a:srgbClr val="0A1628"/>
          </a:solidFill>
          <a:ln/>
        </p:spPr>
      </p:sp>
      <p:sp>
        <p:nvSpPr>
          <p:cNvPr id="17" name="Text 15"/>
          <p:cNvSpPr/>
          <p:nvPr/>
        </p:nvSpPr>
        <p:spPr>
          <a:xfrm>
            <a:off x="4937760" y="2523744"/>
            <a:ext cx="3977640" cy="365760"/>
          </a:xfrm>
          <a:prstGeom prst="rect">
            <a:avLst/>
          </a:prstGeom>
          <a:noFill/>
          <a:ln/>
        </p:spPr>
        <p:txBody>
          <a:bodyPr wrap="square" rtlCol="0" anchor="ctr"/>
          <a:lstStyle/>
          <a:p>
            <a:pPr marL="0" indent="0" algn="ctr">
              <a:buNone/>
            </a:pPr>
            <a:r>
              <a:rPr lang="en-US" sz="1050" b="1" dirty="0">
                <a:solidFill>
                  <a:srgbClr val="FFD166"/>
                </a:solidFill>
                <a:latin typeface="Consolas" pitchFamily="34" charset="0"/>
                <a:ea typeface="Consolas" pitchFamily="34" charset="-122"/>
                <a:cs typeface="Consolas" pitchFamily="34" charset="-120"/>
              </a:rPr>
              <a:t>Area under Receiver Operating Characteristic curve</a:t>
            </a:r>
            <a:endParaRPr lang="en-US" sz="1050" dirty="0"/>
          </a:p>
        </p:txBody>
      </p:sp>
      <p:sp>
        <p:nvSpPr>
          <p:cNvPr id="18" name="Text 16"/>
          <p:cNvSpPr/>
          <p:nvPr/>
        </p:nvSpPr>
        <p:spPr>
          <a:xfrm>
            <a:off x="4937760" y="2962656"/>
            <a:ext cx="3977640" cy="45720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Threshold-independent measure of discrimination ability. Score of 0.5 = random, 1.0 = perfect.</a:t>
            </a:r>
            <a:endParaRPr lang="en-US" sz="1050" dirty="0"/>
          </a:p>
        </p:txBody>
      </p:sp>
      <p:sp>
        <p:nvSpPr>
          <p:cNvPr id="19" name="Shape 17"/>
          <p:cNvSpPr/>
          <p:nvPr/>
        </p:nvSpPr>
        <p:spPr>
          <a:xfrm>
            <a:off x="365760" y="3602736"/>
            <a:ext cx="4251960"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20" name="Shape 18"/>
          <p:cNvSpPr/>
          <p:nvPr/>
        </p:nvSpPr>
        <p:spPr>
          <a:xfrm>
            <a:off x="365760" y="3602736"/>
            <a:ext cx="4251960" cy="329184"/>
          </a:xfrm>
          <a:prstGeom prst="rect">
            <a:avLst/>
          </a:prstGeom>
          <a:solidFill>
            <a:srgbClr val="00C896">
              <a:alpha val="60000"/>
            </a:srgbClr>
          </a:solidFill>
          <a:ln/>
        </p:spPr>
      </p:sp>
      <p:sp>
        <p:nvSpPr>
          <p:cNvPr id="21" name="Text 19"/>
          <p:cNvSpPr/>
          <p:nvPr/>
        </p:nvSpPr>
        <p:spPr>
          <a:xfrm>
            <a:off x="475488" y="3639312"/>
            <a:ext cx="4023360" cy="25603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F1 Score (per class)</a:t>
            </a:r>
            <a:endParaRPr lang="en-US" sz="1250" dirty="0"/>
          </a:p>
        </p:txBody>
      </p:sp>
      <p:sp>
        <p:nvSpPr>
          <p:cNvPr id="22" name="Shape 20"/>
          <p:cNvSpPr/>
          <p:nvPr/>
        </p:nvSpPr>
        <p:spPr>
          <a:xfrm>
            <a:off x="502920" y="4005072"/>
            <a:ext cx="3977640" cy="365760"/>
          </a:xfrm>
          <a:prstGeom prst="roundRect">
            <a:avLst>
              <a:gd name="adj" fmla="val 15000"/>
            </a:avLst>
          </a:prstGeom>
          <a:solidFill>
            <a:srgbClr val="0A1628"/>
          </a:solidFill>
          <a:ln/>
        </p:spPr>
      </p:sp>
      <p:sp>
        <p:nvSpPr>
          <p:cNvPr id="23" name="Text 21"/>
          <p:cNvSpPr/>
          <p:nvPr/>
        </p:nvSpPr>
        <p:spPr>
          <a:xfrm>
            <a:off x="502920" y="4005072"/>
            <a:ext cx="3977640" cy="365760"/>
          </a:xfrm>
          <a:prstGeom prst="rect">
            <a:avLst/>
          </a:prstGeom>
          <a:noFill/>
          <a:ln/>
        </p:spPr>
        <p:txBody>
          <a:bodyPr wrap="square" rtlCol="0" anchor="ctr"/>
          <a:lstStyle/>
          <a:p>
            <a:pPr marL="0" indent="0" algn="ctr">
              <a:buNone/>
            </a:pPr>
            <a:r>
              <a:rPr lang="en-US" sz="1050" b="1" dirty="0">
                <a:solidFill>
                  <a:srgbClr val="00C896"/>
                </a:solidFill>
                <a:latin typeface="Consolas" pitchFamily="34" charset="0"/>
                <a:ea typeface="Consolas" pitchFamily="34" charset="-122"/>
                <a:cs typeface="Consolas" pitchFamily="34" charset="-120"/>
              </a:rPr>
              <a:t>F1 = 2 · (Precision · Recall) / (Precision + Recall)</a:t>
            </a:r>
            <a:endParaRPr lang="en-US" sz="1050" dirty="0"/>
          </a:p>
        </p:txBody>
      </p:sp>
      <p:sp>
        <p:nvSpPr>
          <p:cNvPr id="24" name="Text 22"/>
          <p:cNvSpPr/>
          <p:nvPr/>
        </p:nvSpPr>
        <p:spPr>
          <a:xfrm>
            <a:off x="502920" y="4443984"/>
            <a:ext cx="3977640" cy="45720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Computed separately for real and fake classes to reveal per-class performance disparity.</a:t>
            </a:r>
            <a:endParaRPr lang="en-US" sz="1050" dirty="0"/>
          </a:p>
        </p:txBody>
      </p:sp>
      <p:sp>
        <p:nvSpPr>
          <p:cNvPr id="25" name="Shape 23"/>
          <p:cNvSpPr/>
          <p:nvPr/>
        </p:nvSpPr>
        <p:spPr>
          <a:xfrm>
            <a:off x="4800600" y="3602736"/>
            <a:ext cx="4251960" cy="1371600"/>
          </a:xfrm>
          <a:prstGeom prst="roundRect">
            <a:avLst>
              <a:gd name="adj" fmla="val 8000"/>
            </a:avLst>
          </a:prstGeom>
          <a:solidFill>
            <a:srgbClr val="162A45"/>
          </a:solidFill>
          <a:ln/>
          <a:effectLst>
            <a:outerShdw blurRad="127000" dist="38100" dir="8100000" algn="bl" rotWithShape="0">
              <a:srgbClr val="000000">
                <a:alpha val="30000"/>
              </a:srgbClr>
            </a:outerShdw>
          </a:effectLst>
        </p:spPr>
      </p:sp>
      <p:sp>
        <p:nvSpPr>
          <p:cNvPr id="26" name="Shape 24"/>
          <p:cNvSpPr/>
          <p:nvPr/>
        </p:nvSpPr>
        <p:spPr>
          <a:xfrm>
            <a:off x="4800600" y="3602736"/>
            <a:ext cx="4251960" cy="329184"/>
          </a:xfrm>
          <a:prstGeom prst="rect">
            <a:avLst/>
          </a:prstGeom>
          <a:solidFill>
            <a:srgbClr val="4A6480">
              <a:alpha val="60000"/>
            </a:srgbClr>
          </a:solidFill>
          <a:ln/>
        </p:spPr>
      </p:sp>
      <p:sp>
        <p:nvSpPr>
          <p:cNvPr id="27" name="Text 25"/>
          <p:cNvSpPr/>
          <p:nvPr/>
        </p:nvSpPr>
        <p:spPr>
          <a:xfrm>
            <a:off x="4910328" y="3639312"/>
            <a:ext cx="4023360" cy="25603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Regular Accuracy</a:t>
            </a:r>
            <a:endParaRPr lang="en-US" sz="1250" dirty="0"/>
          </a:p>
        </p:txBody>
      </p:sp>
      <p:sp>
        <p:nvSpPr>
          <p:cNvPr id="28" name="Shape 26"/>
          <p:cNvSpPr/>
          <p:nvPr/>
        </p:nvSpPr>
        <p:spPr>
          <a:xfrm>
            <a:off x="4937760" y="4005072"/>
            <a:ext cx="3977640" cy="365760"/>
          </a:xfrm>
          <a:prstGeom prst="roundRect">
            <a:avLst>
              <a:gd name="adj" fmla="val 15000"/>
            </a:avLst>
          </a:prstGeom>
          <a:solidFill>
            <a:srgbClr val="0A1628"/>
          </a:solidFill>
          <a:ln/>
        </p:spPr>
      </p:sp>
      <p:sp>
        <p:nvSpPr>
          <p:cNvPr id="29" name="Text 27"/>
          <p:cNvSpPr/>
          <p:nvPr/>
        </p:nvSpPr>
        <p:spPr>
          <a:xfrm>
            <a:off x="4937760" y="4005072"/>
            <a:ext cx="3977640" cy="365760"/>
          </a:xfrm>
          <a:prstGeom prst="rect">
            <a:avLst/>
          </a:prstGeom>
          <a:noFill/>
          <a:ln/>
        </p:spPr>
        <p:txBody>
          <a:bodyPr wrap="square" rtlCol="0" anchor="ctr"/>
          <a:lstStyle/>
          <a:p>
            <a:pPr marL="0" indent="0" algn="ctr">
              <a:buNone/>
            </a:pPr>
            <a:r>
              <a:rPr lang="en-US" sz="1050" b="1" dirty="0">
                <a:solidFill>
                  <a:srgbClr val="4A6480"/>
                </a:solidFill>
                <a:latin typeface="Consolas" pitchFamily="34" charset="0"/>
                <a:ea typeface="Consolas" pitchFamily="34" charset="-122"/>
                <a:cs typeface="Consolas" pitchFamily="34" charset="-120"/>
              </a:rPr>
              <a:t>Accuracy = (TP + TN) / N</a:t>
            </a:r>
            <a:endParaRPr lang="en-US" sz="1050" dirty="0"/>
          </a:p>
        </p:txBody>
      </p:sp>
      <p:sp>
        <p:nvSpPr>
          <p:cNvPr id="30" name="Text 28"/>
          <p:cNvSpPr/>
          <p:nvPr/>
        </p:nvSpPr>
        <p:spPr>
          <a:xfrm>
            <a:off x="4937760" y="4443984"/>
            <a:ext cx="3977640" cy="457200"/>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Reported for comparison with prior work only — NOT used as primary metric due to class imbalance.</a:t>
            </a:r>
            <a:endParaRPr lang="en-US" sz="10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Experimental Results</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Performance on the two-person DFDC test set</a:t>
            </a:r>
            <a:endParaRPr lang="en-US" sz="1300" dirty="0"/>
          </a:p>
        </p:txBody>
      </p:sp>
      <p:sp>
        <p:nvSpPr>
          <p:cNvPr id="4" name="Shape 2"/>
          <p:cNvSpPr/>
          <p:nvPr/>
        </p:nvSpPr>
        <p:spPr>
          <a:xfrm>
            <a:off x="365760" y="987552"/>
            <a:ext cx="1920240" cy="1078992"/>
          </a:xfrm>
          <a:prstGeom prst="roundRect">
            <a:avLst>
              <a:gd name="adj" fmla="val 10169"/>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365760" y="1051560"/>
            <a:ext cx="1920240" cy="548640"/>
          </a:xfrm>
          <a:prstGeom prst="rect">
            <a:avLst/>
          </a:prstGeom>
          <a:noFill/>
          <a:ln/>
        </p:spPr>
        <p:txBody>
          <a:bodyPr wrap="square" rtlCol="0" anchor="ctr"/>
          <a:lstStyle/>
          <a:p>
            <a:pPr marL="0" indent="0" algn="ctr">
              <a:buNone/>
            </a:pPr>
            <a:r>
              <a:rPr lang="en-US" sz="2800" b="1" dirty="0">
                <a:solidFill>
                  <a:srgbClr val="00D4FF"/>
                </a:solidFill>
                <a:latin typeface="Calibri" pitchFamily="34" charset="0"/>
                <a:ea typeface="Calibri" pitchFamily="34" charset="-122"/>
                <a:cs typeface="Calibri" pitchFamily="34" charset="-120"/>
              </a:rPr>
              <a:t>65.5%</a:t>
            </a:r>
            <a:endParaRPr lang="en-US" sz="2800" dirty="0"/>
          </a:p>
        </p:txBody>
      </p:sp>
      <p:sp>
        <p:nvSpPr>
          <p:cNvPr id="6" name="Text 4"/>
          <p:cNvSpPr/>
          <p:nvPr/>
        </p:nvSpPr>
        <p:spPr>
          <a:xfrm>
            <a:off x="438912" y="1600200"/>
            <a:ext cx="1773936" cy="384048"/>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Balanced Accuracy</a:t>
            </a:r>
            <a:endParaRPr lang="en-US" sz="1100" dirty="0"/>
          </a:p>
        </p:txBody>
      </p:sp>
      <p:sp>
        <p:nvSpPr>
          <p:cNvPr id="7" name="Shape 5"/>
          <p:cNvSpPr/>
          <p:nvPr/>
        </p:nvSpPr>
        <p:spPr>
          <a:xfrm>
            <a:off x="2542032" y="987552"/>
            <a:ext cx="1920240" cy="1078992"/>
          </a:xfrm>
          <a:prstGeom prst="roundRect">
            <a:avLst>
              <a:gd name="adj" fmla="val 10169"/>
            </a:avLst>
          </a:prstGeom>
          <a:solidFill>
            <a:srgbClr val="162A45"/>
          </a:solidFill>
          <a:ln/>
          <a:effectLst>
            <a:outerShdw blurRad="127000" dist="38100" dir="8100000" algn="bl" rotWithShape="0">
              <a:srgbClr val="000000">
                <a:alpha val="30000"/>
              </a:srgbClr>
            </a:outerShdw>
          </a:effectLst>
        </p:spPr>
      </p:sp>
      <p:sp>
        <p:nvSpPr>
          <p:cNvPr id="8" name="Text 6"/>
          <p:cNvSpPr/>
          <p:nvPr/>
        </p:nvSpPr>
        <p:spPr>
          <a:xfrm>
            <a:off x="2542032" y="1051560"/>
            <a:ext cx="1920240" cy="548640"/>
          </a:xfrm>
          <a:prstGeom prst="rect">
            <a:avLst/>
          </a:prstGeom>
          <a:noFill/>
          <a:ln/>
        </p:spPr>
        <p:txBody>
          <a:bodyPr wrap="square" rtlCol="0" anchor="ctr"/>
          <a:lstStyle/>
          <a:p>
            <a:pPr marL="0" indent="0" algn="ctr">
              <a:buNone/>
            </a:pPr>
            <a:r>
              <a:rPr lang="en-US" sz="2800" b="1" dirty="0">
                <a:solidFill>
                  <a:srgbClr val="00C896"/>
                </a:solidFill>
                <a:latin typeface="Calibri" pitchFamily="34" charset="0"/>
                <a:ea typeface="Calibri" pitchFamily="34" charset="-122"/>
                <a:cs typeface="Calibri" pitchFamily="34" charset="-120"/>
              </a:rPr>
              <a:t>72.3%</a:t>
            </a:r>
            <a:endParaRPr lang="en-US" sz="2800" dirty="0"/>
          </a:p>
        </p:txBody>
      </p:sp>
      <p:sp>
        <p:nvSpPr>
          <p:cNvPr id="9" name="Text 7"/>
          <p:cNvSpPr/>
          <p:nvPr/>
        </p:nvSpPr>
        <p:spPr>
          <a:xfrm>
            <a:off x="2615184" y="1600200"/>
            <a:ext cx="1773936" cy="384048"/>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AUC-ROC</a:t>
            </a:r>
            <a:endParaRPr lang="en-US" sz="1100" dirty="0"/>
          </a:p>
        </p:txBody>
      </p:sp>
      <p:sp>
        <p:nvSpPr>
          <p:cNvPr id="10" name="Shape 8"/>
          <p:cNvSpPr/>
          <p:nvPr/>
        </p:nvSpPr>
        <p:spPr>
          <a:xfrm>
            <a:off x="4718304" y="987552"/>
            <a:ext cx="1920240" cy="1078992"/>
          </a:xfrm>
          <a:prstGeom prst="roundRect">
            <a:avLst>
              <a:gd name="adj" fmla="val 10169"/>
            </a:avLst>
          </a:prstGeom>
          <a:solidFill>
            <a:srgbClr val="162A45"/>
          </a:solidFill>
          <a:ln/>
          <a:effectLst>
            <a:outerShdw blurRad="127000" dist="38100" dir="8100000" algn="bl" rotWithShape="0">
              <a:srgbClr val="000000">
                <a:alpha val="30000"/>
              </a:srgbClr>
            </a:outerShdw>
          </a:effectLst>
        </p:spPr>
      </p:sp>
      <p:sp>
        <p:nvSpPr>
          <p:cNvPr id="11" name="Text 9"/>
          <p:cNvSpPr/>
          <p:nvPr/>
        </p:nvSpPr>
        <p:spPr>
          <a:xfrm>
            <a:off x="4718304" y="1051560"/>
            <a:ext cx="1920240" cy="548640"/>
          </a:xfrm>
          <a:prstGeom prst="rect">
            <a:avLst/>
          </a:prstGeom>
          <a:noFill/>
          <a:ln/>
        </p:spPr>
        <p:txBody>
          <a:bodyPr wrap="square" rtlCol="0" anchor="ctr"/>
          <a:lstStyle/>
          <a:p>
            <a:pPr marL="0" indent="0" algn="ctr">
              <a:buNone/>
            </a:pPr>
            <a:r>
              <a:rPr lang="en-US" sz="2800" b="1" dirty="0">
                <a:solidFill>
                  <a:srgbClr val="FFD166"/>
                </a:solidFill>
                <a:latin typeface="Calibri" pitchFamily="34" charset="0"/>
                <a:ea typeface="Calibri" pitchFamily="34" charset="-122"/>
                <a:cs typeface="Calibri" pitchFamily="34" charset="-120"/>
              </a:rPr>
              <a:t>72.0%</a:t>
            </a:r>
            <a:endParaRPr lang="en-US" sz="2800" dirty="0"/>
          </a:p>
        </p:txBody>
      </p:sp>
      <p:sp>
        <p:nvSpPr>
          <p:cNvPr id="12" name="Text 10"/>
          <p:cNvSpPr/>
          <p:nvPr/>
        </p:nvSpPr>
        <p:spPr>
          <a:xfrm>
            <a:off x="4791456" y="1600200"/>
            <a:ext cx="1773936" cy="384048"/>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Regular Accuracy</a:t>
            </a:r>
            <a:endParaRPr lang="en-US" sz="1100" dirty="0"/>
          </a:p>
        </p:txBody>
      </p:sp>
      <p:sp>
        <p:nvSpPr>
          <p:cNvPr id="13" name="Shape 11"/>
          <p:cNvSpPr/>
          <p:nvPr/>
        </p:nvSpPr>
        <p:spPr>
          <a:xfrm>
            <a:off x="6894576" y="987552"/>
            <a:ext cx="1920240" cy="1078992"/>
          </a:xfrm>
          <a:prstGeom prst="roundRect">
            <a:avLst>
              <a:gd name="adj" fmla="val 10169"/>
            </a:avLst>
          </a:prstGeom>
          <a:solidFill>
            <a:srgbClr val="162A45"/>
          </a:solidFill>
          <a:ln/>
          <a:effectLst>
            <a:outerShdw blurRad="127000" dist="38100" dir="8100000" algn="bl" rotWithShape="0">
              <a:srgbClr val="000000">
                <a:alpha val="30000"/>
              </a:srgbClr>
            </a:outerShdw>
          </a:effectLst>
        </p:spPr>
      </p:sp>
      <p:sp>
        <p:nvSpPr>
          <p:cNvPr id="14" name="Text 12"/>
          <p:cNvSpPr/>
          <p:nvPr/>
        </p:nvSpPr>
        <p:spPr>
          <a:xfrm>
            <a:off x="6894576" y="1051560"/>
            <a:ext cx="1920240" cy="548640"/>
          </a:xfrm>
          <a:prstGeom prst="rect">
            <a:avLst/>
          </a:prstGeom>
          <a:noFill/>
          <a:ln/>
        </p:spPr>
        <p:txBody>
          <a:bodyPr wrap="square" rtlCol="0" anchor="ctr"/>
          <a:lstStyle/>
          <a:p>
            <a:pPr marL="0" indent="0" algn="ctr">
              <a:buNone/>
            </a:pPr>
            <a:r>
              <a:rPr lang="en-US" sz="2800" b="1" dirty="0">
                <a:solidFill>
                  <a:srgbClr val="FF6B35"/>
                </a:solidFill>
                <a:latin typeface="Calibri" pitchFamily="34" charset="0"/>
                <a:ea typeface="Calibri" pitchFamily="34" charset="-122"/>
                <a:cs typeface="Calibri" pitchFamily="34" charset="-120"/>
              </a:rPr>
              <a:t>5.7M</a:t>
            </a:r>
            <a:endParaRPr lang="en-US" sz="2800" dirty="0"/>
          </a:p>
        </p:txBody>
      </p:sp>
      <p:sp>
        <p:nvSpPr>
          <p:cNvPr id="15" name="Text 13"/>
          <p:cNvSpPr/>
          <p:nvPr/>
        </p:nvSpPr>
        <p:spPr>
          <a:xfrm>
            <a:off x="6967728" y="1600200"/>
            <a:ext cx="1773936" cy="384048"/>
          </a:xfrm>
          <a:prstGeom prst="rect">
            <a:avLst/>
          </a:prstGeom>
          <a:noFill/>
          <a:ln/>
        </p:spPr>
        <p:txBody>
          <a:bodyPr wrap="square" rtlCol="0" anchor="ctr"/>
          <a:lstStyle/>
          <a:p>
            <a:pPr marL="0" indent="0" algn="ctr">
              <a:buNone/>
            </a:pPr>
            <a:r>
              <a:rPr lang="en-US" sz="1100" dirty="0">
                <a:solidFill>
                  <a:srgbClr val="8BA3BF"/>
                </a:solidFill>
                <a:latin typeface="Calibri" pitchFamily="34" charset="0"/>
                <a:ea typeface="Calibri" pitchFamily="34" charset="-122"/>
                <a:cs typeface="Calibri" pitchFamily="34" charset="-120"/>
              </a:rPr>
              <a:t>Parameters</a:t>
            </a:r>
            <a:endParaRPr lang="en-US" sz="1100" dirty="0"/>
          </a:p>
        </p:txBody>
      </p:sp>
      <p:sp>
        <p:nvSpPr>
          <p:cNvPr id="16" name="Text 14"/>
          <p:cNvSpPr/>
          <p:nvPr/>
        </p:nvSpPr>
        <p:spPr>
          <a:xfrm>
            <a:off x="365760" y="2176272"/>
            <a:ext cx="50292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Detailed Metric Breakdown (Table I — from paper)</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2487168"/>
          <a:ext cx="8412480" cy="2487168"/>
        </p:xfrm>
        <a:graphic>
          <a:graphicData uri="http://schemas.openxmlformats.org/drawingml/2006/table">
            <a:tbl>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276352">
                <a:tc>
                  <a:txBody>
                    <a:bodyPr/>
                    <a:lstStyle/>
                    <a:p>
                      <a:pPr marL="0" indent="0">
                        <a:buNone/>
                      </a:pPr>
                      <a:r>
                        <a:rPr lang="en-US" sz="1200" b="1" dirty="0">
                          <a:solidFill>
                            <a:srgbClr val="FFFFFF"/>
                          </a:solidFill>
                        </a:rPr>
                        <a:t>Metric</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A3A5C"/>
                    </a:solidFill>
                  </a:tcPr>
                </a:tc>
                <a:tc>
                  <a:txBody>
                    <a:bodyPr/>
                    <a:lstStyle/>
                    <a:p>
                      <a:pPr marL="0" indent="0">
                        <a:buNone/>
                      </a:pPr>
                      <a:r>
                        <a:rPr lang="en-US" sz="1200" b="1" dirty="0">
                          <a:solidFill>
                            <a:srgbClr val="FFFFFF"/>
                          </a:solidFill>
                        </a:rPr>
                        <a:t>Score</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A3A5C"/>
                    </a:solidFill>
                  </a:tcPr>
                </a:tc>
                <a:tc>
                  <a:txBody>
                    <a:bodyPr/>
                    <a:lstStyle/>
                    <a:p>
                      <a:pPr marL="0" indent="0">
                        <a:buNone/>
                      </a:pPr>
                      <a:r>
                        <a:rPr lang="en-US" sz="1200" b="1" dirty="0">
                          <a:solidFill>
                            <a:srgbClr val="FFFFFF"/>
                          </a:solidFill>
                        </a:rPr>
                        <a:t>Interpretation</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76352">
                <a:tc>
                  <a:txBody>
                    <a:bodyPr/>
                    <a:lstStyle/>
                    <a:p>
                      <a:pPr marL="0" indent="0">
                        <a:buNone/>
                      </a:pPr>
                      <a:r>
                        <a:rPr lang="en-US" sz="1200" b="1" dirty="0">
                          <a:solidFill>
                            <a:srgbClr val="00D4FF"/>
                          </a:solidFill>
                        </a:rPr>
                        <a:t>Balanced Accuracy</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200" b="1" dirty="0">
                          <a:solidFill>
                            <a:srgbClr val="00D4FF"/>
                          </a:solidFill>
                        </a:rPr>
                        <a:t>0.655</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100" dirty="0">
                          <a:solidFill>
                            <a:srgbClr val="E8F0F8"/>
                          </a:solidFill>
                        </a:rPr>
                        <a:t>Primary metric — accounts for imbalance</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1"/>
                  </a:ext>
                </a:extLst>
              </a:tr>
              <a:tr h="276352">
                <a:tc>
                  <a:txBody>
                    <a:bodyPr/>
                    <a:lstStyle/>
                    <a:p>
                      <a:pPr marL="0" indent="0">
                        <a:buNone/>
                      </a:pPr>
                      <a:r>
                        <a:rPr lang="en-US" sz="1200" dirty="0">
                          <a:solidFill>
                            <a:srgbClr val="E8F0F8"/>
                          </a:solidFill>
                        </a:rPr>
                        <a:t>Regular Accuracy</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200" b="1" dirty="0">
                          <a:solidFill>
                            <a:srgbClr val="FFD166"/>
                          </a:solidFill>
                        </a:rPr>
                        <a:t>0.720</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100" dirty="0">
                          <a:solidFill>
                            <a:srgbClr val="E8F0F8"/>
                          </a:solidFill>
                        </a:rPr>
                        <a:t>72% overall correct</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2"/>
                  </a:ext>
                </a:extLst>
              </a:tr>
              <a:tr h="276352">
                <a:tc>
                  <a:txBody>
                    <a:bodyPr/>
                    <a:lstStyle/>
                    <a:p>
                      <a:pPr marL="0" indent="0">
                        <a:buNone/>
                      </a:pPr>
                      <a:r>
                        <a:rPr lang="en-US" sz="1200" dirty="0">
                          <a:solidFill>
                            <a:srgbClr val="E8F0F8"/>
                          </a:solidFill>
                        </a:rPr>
                        <a:t>AUC-ROC</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200" b="1" dirty="0">
                          <a:solidFill>
                            <a:srgbClr val="00C896"/>
                          </a:solidFill>
                        </a:rPr>
                        <a:t>0.723</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100" dirty="0">
                          <a:solidFill>
                            <a:srgbClr val="E8F0F8"/>
                          </a:solidFill>
                        </a:rPr>
                        <a:t>Good discriminative ability</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3"/>
                  </a:ext>
                </a:extLst>
              </a:tr>
              <a:tr h="276352">
                <a:tc>
                  <a:txBody>
                    <a:bodyPr/>
                    <a:lstStyle/>
                    <a:p>
                      <a:pPr marL="0" indent="0">
                        <a:buNone/>
                      </a:pPr>
                      <a:r>
                        <a:rPr lang="en-US" sz="1200" dirty="0">
                          <a:solidFill>
                            <a:srgbClr val="E8F0F8"/>
                          </a:solidFill>
                        </a:rPr>
                        <a:t>F1 (Real class)</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200" dirty="0">
                          <a:solidFill>
                            <a:srgbClr val="E8F0F8"/>
                          </a:solidFill>
                        </a:rPr>
                        <a:t>0.612</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100" dirty="0">
                          <a:solidFill>
                            <a:srgbClr val="8BA3BF"/>
                          </a:solidFill>
                        </a:rPr>
                        <a:t>Harder class — fewer samples</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4"/>
                  </a:ext>
                </a:extLst>
              </a:tr>
              <a:tr h="276352">
                <a:tc>
                  <a:txBody>
                    <a:bodyPr/>
                    <a:lstStyle/>
                    <a:p>
                      <a:pPr marL="0" indent="0">
                        <a:buNone/>
                      </a:pPr>
                      <a:r>
                        <a:rPr lang="en-US" sz="1200" dirty="0">
                          <a:solidFill>
                            <a:srgbClr val="E8F0F8"/>
                          </a:solidFill>
                        </a:rPr>
                        <a:t>F1 (Fake class)</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200" b="1" dirty="0">
                          <a:solidFill>
                            <a:srgbClr val="FF6B35"/>
                          </a:solidFill>
                        </a:rPr>
                        <a:t>0.814</a:t>
                      </a:r>
                      <a:endParaRPr lang="en-US" sz="12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100" dirty="0">
                          <a:solidFill>
                            <a:srgbClr val="E8F0F8"/>
                          </a:solidFill>
                        </a:rPr>
                        <a:t>Dominant class — well learned</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5"/>
                  </a:ext>
                </a:extLst>
              </a:tr>
              <a:tr h="276352">
                <a:tc>
                  <a:txBody>
                    <a:bodyPr/>
                    <a:lstStyle/>
                    <a:p>
                      <a:pPr marL="0" indent="0">
                        <a:buNone/>
                      </a:pPr>
                      <a:r>
                        <a:rPr lang="en-US" sz="1100" dirty="0">
                          <a:solidFill>
                            <a:srgbClr val="E8F0F8"/>
                          </a:solidFill>
                        </a:rPr>
                        <a:t>Precision (Real)</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100" dirty="0">
                          <a:solidFill>
                            <a:srgbClr val="E8F0F8"/>
                          </a:solidFill>
                        </a:rPr>
                        <a:t>0.658</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6"/>
                  </a:ext>
                </a:extLst>
              </a:tr>
              <a:tr h="276352">
                <a:tc>
                  <a:txBody>
                    <a:bodyPr/>
                    <a:lstStyle/>
                    <a:p>
                      <a:pPr marL="0" indent="0">
                        <a:buNone/>
                      </a:pPr>
                      <a:r>
                        <a:rPr lang="en-US" sz="1100" dirty="0">
                          <a:solidFill>
                            <a:srgbClr val="E8F0F8"/>
                          </a:solidFill>
                        </a:rPr>
                        <a:t>Recall (Real)</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100" dirty="0">
                          <a:solidFill>
                            <a:srgbClr val="E8F0F8"/>
                          </a:solidFill>
                        </a:rPr>
                        <a:t>0.571</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tc>
                  <a:txBody>
                    <a:bodyPr/>
                    <a:lstStyle/>
                    <a:p>
                      <a:pPr marL="0" indent="0">
                        <a:buNone/>
                      </a:pPr>
                      <a:r>
                        <a:rPr lang="en-US" sz="1100" dirty="0">
                          <a:solidFill>
                            <a:srgbClr val="8BA3BF"/>
                          </a:solidFill>
                        </a:rPr>
                        <a:t>57.1% real correctly caught</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62A45"/>
                    </a:solidFill>
                  </a:tcPr>
                </a:tc>
                <a:extLst>
                  <a:ext uri="{0D108BD9-81ED-4DB2-BD59-A6C34878D82A}">
                    <a16:rowId xmlns:a16="http://schemas.microsoft.com/office/drawing/2014/main" val="10007"/>
                  </a:ext>
                </a:extLst>
              </a:tr>
              <a:tr h="276352">
                <a:tc>
                  <a:txBody>
                    <a:bodyPr/>
                    <a:lstStyle/>
                    <a:p>
                      <a:pPr marL="0" indent="0">
                        <a:buNone/>
                      </a:pPr>
                      <a:r>
                        <a:rPr lang="en-US" sz="1100" dirty="0">
                          <a:solidFill>
                            <a:srgbClr val="E8F0F8"/>
                          </a:solidFill>
                        </a:rPr>
                        <a:t>Recall (Fake)</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100" b="1" dirty="0">
                          <a:solidFill>
                            <a:srgbClr val="00C896"/>
                          </a:solidFill>
                        </a:rPr>
                        <a:t>0.852</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tc>
                  <a:txBody>
                    <a:bodyPr/>
                    <a:lstStyle/>
                    <a:p>
                      <a:pPr marL="0" indent="0">
                        <a:buNone/>
                      </a:pPr>
                      <a:r>
                        <a:rPr lang="en-US" sz="1100" dirty="0">
                          <a:solidFill>
                            <a:srgbClr val="E8F0F8"/>
                          </a:solidFill>
                        </a:rPr>
                        <a:t>85.2% fake correctly caught</a:t>
                      </a:r>
                      <a:endParaRPr lang="en-US" sz="1100" dirty="0"/>
                    </a:p>
                  </a:txBody>
                  <a:tcPr>
                    <a:lnL w="6350" cap="flat" cmpd="sng" algn="ctr">
                      <a:solidFill>
                        <a:srgbClr val="4A6480"/>
                      </a:solidFill>
                      <a:prstDash val="solid"/>
                      <a:round/>
                      <a:headEnd type="none" w="med" len="med"/>
                      <a:tailEnd type="none" w="med" len="med"/>
                    </a:lnL>
                    <a:lnR w="6350" cap="flat" cmpd="sng" algn="ctr">
                      <a:solidFill>
                        <a:srgbClr val="4A6480"/>
                      </a:solidFill>
                      <a:prstDash val="solid"/>
                      <a:round/>
                      <a:headEnd type="none" w="med" len="med"/>
                      <a:tailEnd type="none" w="med" len="med"/>
                    </a:lnR>
                    <a:lnT w="6350" cap="flat" cmpd="sng" algn="ctr">
                      <a:solidFill>
                        <a:srgbClr val="4A6480"/>
                      </a:solidFill>
                      <a:prstDash val="solid"/>
                      <a:round/>
                      <a:headEnd type="none" w="med" len="med"/>
                      <a:tailEnd type="none" w="med" len="med"/>
                    </a:lnT>
                    <a:lnB w="6350" cap="flat" cmpd="sng" algn="ctr">
                      <a:solidFill>
                        <a:srgbClr val="4A6480"/>
                      </a:solidFill>
                      <a:prstDash val="solid"/>
                      <a:round/>
                      <a:headEnd type="none" w="med" len="med"/>
                      <a:tailEnd type="none" w="med" len="med"/>
                    </a:lnB>
                    <a:solidFill>
                      <a:srgbClr val="112240"/>
                    </a:solidFill>
                  </a:tcPr>
                </a:tc>
                <a:extLst>
                  <a:ext uri="{0D108BD9-81ED-4DB2-BD59-A6C34878D82A}">
                    <a16:rowId xmlns:a16="http://schemas.microsoft.com/office/drawing/2014/main" val="10008"/>
                  </a:ext>
                </a:extLst>
              </a:tr>
            </a:tbl>
          </a:graphicData>
        </a:graphic>
      </p:graphicFrame>
      <p:sp>
        <p:nvSpPr>
          <p:cNvPr id="18" name="Text 15"/>
          <p:cNvSpPr/>
          <p:nvPr/>
        </p:nvSpPr>
        <p:spPr>
          <a:xfrm>
            <a:off x="365760" y="5029200"/>
            <a:ext cx="8412480" cy="256032"/>
          </a:xfrm>
          <a:prstGeom prst="rect">
            <a:avLst/>
          </a:prstGeom>
          <a:noFill/>
          <a:ln/>
        </p:spPr>
        <p:txBody>
          <a:bodyPr wrap="square" rtlCol="0" anchor="ctr"/>
          <a:lstStyle/>
          <a:p>
            <a:pPr marL="0" indent="0">
              <a:buNone/>
            </a:pPr>
            <a:r>
              <a:rPr lang="en-US" sz="1000" i="1" dirty="0">
                <a:solidFill>
                  <a:srgbClr val="8BA3BF"/>
                </a:solidFill>
                <a:latin typeface="Calibri" pitchFamily="34" charset="0"/>
                <a:ea typeface="Calibri" pitchFamily="34" charset="-122"/>
                <a:cs typeface="Calibri" pitchFamily="34" charset="-120"/>
              </a:rPr>
              <a:t>Note: Higher recall for fake class (85.2%) vs real (57.1%) reflects imbalanced training distribution — mitigated by weighted loss and balanced accuracy optimization.</a:t>
            </a:r>
            <a:endParaRPr lang="en-US" sz="1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Comparison with Baseline Methods</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Table II — performance on two-person videos</a:t>
            </a:r>
            <a:endParaRPr lang="en-US" sz="1300" dirty="0"/>
          </a:p>
        </p:txBody>
      </p:sp>
      <p:graphicFrame>
        <p:nvGraphicFramePr>
          <p:cNvPr id="4" name="Chart 0"/>
          <p:cNvGraphicFramePr/>
          <p:nvPr/>
        </p:nvGraphicFramePr>
        <p:xfrm>
          <a:off x="365760" y="987552"/>
          <a:ext cx="51206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5577840" y="987552"/>
          <a:ext cx="320040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5577840" y="3291840"/>
            <a:ext cx="32004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Why baselines fail:</a:t>
            </a:r>
            <a:endParaRPr lang="en-US" sz="1300" dirty="0"/>
          </a:p>
        </p:txBody>
      </p:sp>
      <p:sp>
        <p:nvSpPr>
          <p:cNvPr id="7" name="Shape 3"/>
          <p:cNvSpPr/>
          <p:nvPr/>
        </p:nvSpPr>
        <p:spPr>
          <a:xfrm>
            <a:off x="5577840" y="3639312"/>
            <a:ext cx="3200400" cy="420624"/>
          </a:xfrm>
          <a:prstGeom prst="roundRect">
            <a:avLst>
              <a:gd name="adj" fmla="val 26087"/>
            </a:avLst>
          </a:prstGeom>
          <a:solidFill>
            <a:srgbClr val="162A45"/>
          </a:solidFill>
          <a:ln/>
          <a:effectLst>
            <a:outerShdw blurRad="127000" dist="38100" dir="8100000" algn="bl" rotWithShape="0">
              <a:srgbClr val="000000">
                <a:alpha val="30000"/>
              </a:srgbClr>
            </a:outerShdw>
          </a:effectLst>
        </p:spPr>
      </p:sp>
      <p:sp>
        <p:nvSpPr>
          <p:cNvPr id="8" name="Text 4"/>
          <p:cNvSpPr/>
          <p:nvPr/>
        </p:nvSpPr>
        <p:spPr>
          <a:xfrm>
            <a:off x="5669280" y="3675888"/>
            <a:ext cx="1188720" cy="347472"/>
          </a:xfrm>
          <a:prstGeom prst="rect">
            <a:avLst/>
          </a:prstGeom>
          <a:noFill/>
          <a:ln/>
        </p:spPr>
        <p:txBody>
          <a:bodyPr wrap="square" rtlCol="0" anchor="ctr"/>
          <a:lstStyle/>
          <a:p>
            <a:pPr marL="0" indent="0">
              <a:buNone/>
            </a:pPr>
            <a:r>
              <a:rPr lang="en-US" sz="1000" b="1" dirty="0">
                <a:solidFill>
                  <a:srgbClr val="FF6B35"/>
                </a:solidFill>
                <a:latin typeface="Calibri" pitchFamily="34" charset="0"/>
                <a:ea typeface="Calibri" pitchFamily="34" charset="-122"/>
                <a:cs typeface="Calibri" pitchFamily="34" charset="-120"/>
              </a:rPr>
              <a:t>XceptionNet:</a:t>
            </a:r>
            <a:endParaRPr lang="en-US" sz="1000" dirty="0"/>
          </a:p>
        </p:txBody>
      </p:sp>
      <p:sp>
        <p:nvSpPr>
          <p:cNvPr id="9" name="Text 5"/>
          <p:cNvSpPr/>
          <p:nvPr/>
        </p:nvSpPr>
        <p:spPr>
          <a:xfrm>
            <a:off x="6903720" y="3675888"/>
            <a:ext cx="1783080" cy="347472"/>
          </a:xfrm>
          <a:prstGeom prst="rect">
            <a:avLst/>
          </a:prstGeom>
          <a:noFill/>
          <a:ln/>
        </p:spPr>
        <p:txBody>
          <a:bodyPr wrap="square" rtlCol="0" anchor="ctr"/>
          <a:lstStyle/>
          <a:p>
            <a:pPr marL="0" indent="0">
              <a:buNone/>
            </a:pPr>
            <a:r>
              <a:rPr lang="en-US" sz="1000" dirty="0">
                <a:solidFill>
                  <a:srgbClr val="8BA3BF"/>
                </a:solidFill>
                <a:latin typeface="Calibri" pitchFamily="34" charset="0"/>
                <a:ea typeface="Calibri" pitchFamily="34" charset="-122"/>
                <a:cs typeface="Calibri" pitchFamily="34" charset="-120"/>
              </a:rPr>
              <a:t>Single-identity — merges features, ~random on multi-person</a:t>
            </a:r>
            <a:endParaRPr lang="en-US" sz="1000" dirty="0"/>
          </a:p>
        </p:txBody>
      </p:sp>
      <p:sp>
        <p:nvSpPr>
          <p:cNvPr id="10" name="Shape 6"/>
          <p:cNvSpPr/>
          <p:nvPr/>
        </p:nvSpPr>
        <p:spPr>
          <a:xfrm>
            <a:off x="5577840" y="4114800"/>
            <a:ext cx="3200400" cy="420624"/>
          </a:xfrm>
          <a:prstGeom prst="roundRect">
            <a:avLst>
              <a:gd name="adj" fmla="val 26087"/>
            </a:avLst>
          </a:prstGeom>
          <a:solidFill>
            <a:srgbClr val="162A45"/>
          </a:solidFill>
          <a:ln/>
          <a:effectLst>
            <a:outerShdw blurRad="127000" dist="38100" dir="8100000" algn="bl" rotWithShape="0">
              <a:srgbClr val="000000">
                <a:alpha val="30000"/>
              </a:srgbClr>
            </a:outerShdw>
          </a:effectLst>
        </p:spPr>
      </p:sp>
      <p:sp>
        <p:nvSpPr>
          <p:cNvPr id="11" name="Text 7"/>
          <p:cNvSpPr/>
          <p:nvPr/>
        </p:nvSpPr>
        <p:spPr>
          <a:xfrm>
            <a:off x="5669280" y="4151376"/>
            <a:ext cx="1188720" cy="347472"/>
          </a:xfrm>
          <a:prstGeom prst="rect">
            <a:avLst/>
          </a:prstGeom>
          <a:noFill/>
          <a:ln/>
        </p:spPr>
        <p:txBody>
          <a:bodyPr wrap="square" rtlCol="0" anchor="ctr"/>
          <a:lstStyle/>
          <a:p>
            <a:pPr marL="0" indent="0">
              <a:buNone/>
            </a:pPr>
            <a:r>
              <a:rPr lang="en-US" sz="1000" b="1" dirty="0">
                <a:solidFill>
                  <a:srgbClr val="FF6B35"/>
                </a:solidFill>
                <a:latin typeface="Calibri" pitchFamily="34" charset="0"/>
                <a:ea typeface="Calibri" pitchFamily="34" charset="-122"/>
                <a:cs typeface="Calibri" pitchFamily="34" charset="-120"/>
              </a:rPr>
              <a:t>DF-TransFusion:</a:t>
            </a:r>
            <a:endParaRPr lang="en-US" sz="1000" dirty="0"/>
          </a:p>
        </p:txBody>
      </p:sp>
      <p:sp>
        <p:nvSpPr>
          <p:cNvPr id="12" name="Text 8"/>
          <p:cNvSpPr/>
          <p:nvPr/>
        </p:nvSpPr>
        <p:spPr>
          <a:xfrm>
            <a:off x="6903720" y="4151376"/>
            <a:ext cx="1783080" cy="347472"/>
          </a:xfrm>
          <a:prstGeom prst="rect">
            <a:avLst/>
          </a:prstGeom>
          <a:noFill/>
          <a:ln/>
        </p:spPr>
        <p:txBody>
          <a:bodyPr wrap="square" rtlCol="0" anchor="ctr"/>
          <a:lstStyle/>
          <a:p>
            <a:pPr marL="0" indent="0">
              <a:buNone/>
            </a:pPr>
            <a:r>
              <a:rPr lang="en-US" sz="1000" dirty="0">
                <a:solidFill>
                  <a:srgbClr val="8BA3BF"/>
                </a:solidFill>
                <a:latin typeface="Calibri" pitchFamily="34" charset="0"/>
                <a:ea typeface="Calibri" pitchFamily="34" charset="-122"/>
                <a:cs typeface="Calibri" pitchFamily="34" charset="-120"/>
              </a:rPr>
              <a:t>No speaker disambiguation — audio linked to wrong face</a:t>
            </a:r>
            <a:endParaRPr lang="en-US" sz="1000" dirty="0"/>
          </a:p>
        </p:txBody>
      </p:sp>
      <p:sp>
        <p:nvSpPr>
          <p:cNvPr id="13" name="Shape 9"/>
          <p:cNvSpPr/>
          <p:nvPr/>
        </p:nvSpPr>
        <p:spPr>
          <a:xfrm>
            <a:off x="5577840" y="4590288"/>
            <a:ext cx="3200400" cy="420624"/>
          </a:xfrm>
          <a:prstGeom prst="roundRect">
            <a:avLst>
              <a:gd name="adj" fmla="val 26087"/>
            </a:avLst>
          </a:prstGeom>
          <a:solidFill>
            <a:srgbClr val="162A45"/>
          </a:solidFill>
          <a:ln/>
          <a:effectLst>
            <a:outerShdw blurRad="127000" dist="38100" dir="8100000" algn="bl" rotWithShape="0">
              <a:srgbClr val="000000">
                <a:alpha val="30000"/>
              </a:srgbClr>
            </a:outerShdw>
          </a:effectLst>
        </p:spPr>
      </p:sp>
      <p:sp>
        <p:nvSpPr>
          <p:cNvPr id="14" name="Text 10"/>
          <p:cNvSpPr/>
          <p:nvPr/>
        </p:nvSpPr>
        <p:spPr>
          <a:xfrm>
            <a:off x="5669280" y="4626864"/>
            <a:ext cx="1188720" cy="347472"/>
          </a:xfrm>
          <a:prstGeom prst="rect">
            <a:avLst/>
          </a:prstGeom>
          <a:noFill/>
          <a:ln/>
        </p:spPr>
        <p:txBody>
          <a:bodyPr wrap="square" rtlCol="0" anchor="ctr"/>
          <a:lstStyle/>
          <a:p>
            <a:pPr marL="0" indent="0">
              <a:buNone/>
            </a:pPr>
            <a:r>
              <a:rPr lang="en-US" sz="1000" b="1" dirty="0">
                <a:solidFill>
                  <a:srgbClr val="FF6B35"/>
                </a:solidFill>
                <a:latin typeface="Calibri" pitchFamily="34" charset="0"/>
                <a:ea typeface="Calibri" pitchFamily="34" charset="-122"/>
                <a:cs typeface="Calibri" pitchFamily="34" charset="-120"/>
              </a:rPr>
              <a:t>MINTIME:</a:t>
            </a:r>
            <a:endParaRPr lang="en-US" sz="1000" dirty="0"/>
          </a:p>
        </p:txBody>
      </p:sp>
      <p:sp>
        <p:nvSpPr>
          <p:cNvPr id="15" name="Text 11"/>
          <p:cNvSpPr/>
          <p:nvPr/>
        </p:nvSpPr>
        <p:spPr>
          <a:xfrm>
            <a:off x="6903720" y="4626864"/>
            <a:ext cx="1783080" cy="347472"/>
          </a:xfrm>
          <a:prstGeom prst="rect">
            <a:avLst/>
          </a:prstGeom>
          <a:noFill/>
          <a:ln/>
        </p:spPr>
        <p:txBody>
          <a:bodyPr wrap="square" rtlCol="0" anchor="ctr"/>
          <a:lstStyle/>
          <a:p>
            <a:pPr marL="0" indent="0">
              <a:buNone/>
            </a:pPr>
            <a:r>
              <a:rPr lang="en-US" sz="1000" dirty="0">
                <a:solidFill>
                  <a:srgbClr val="8BA3BF"/>
                </a:solidFill>
                <a:latin typeface="Calibri" pitchFamily="34" charset="0"/>
                <a:ea typeface="Calibri" pitchFamily="34" charset="-122"/>
                <a:cs typeface="Calibri" pitchFamily="34" charset="-120"/>
              </a:rPr>
              <a:t>Visual-only — misses audio-visual inconsistency cues</a:t>
            </a:r>
            <a:endParaRPr lang="en-US" sz="1000" dirty="0"/>
          </a:p>
        </p:txBody>
      </p:sp>
      <p:sp>
        <p:nvSpPr>
          <p:cNvPr id="16" name="Shape 12"/>
          <p:cNvSpPr/>
          <p:nvPr/>
        </p:nvSpPr>
        <p:spPr>
          <a:xfrm>
            <a:off x="365760" y="4297680"/>
            <a:ext cx="5120640" cy="566928"/>
          </a:xfrm>
          <a:prstGeom prst="roundRect">
            <a:avLst>
              <a:gd name="adj" fmla="val 19355"/>
            </a:avLst>
          </a:prstGeom>
          <a:solidFill>
            <a:srgbClr val="162A45"/>
          </a:solidFill>
          <a:ln/>
          <a:effectLst>
            <a:outerShdw blurRad="127000" dist="38100" dir="8100000" algn="bl" rotWithShape="0">
              <a:srgbClr val="000000">
                <a:alpha val="30000"/>
              </a:srgbClr>
            </a:outerShdw>
          </a:effectLst>
        </p:spPr>
      </p:sp>
      <p:sp>
        <p:nvSpPr>
          <p:cNvPr id="17" name="Text 13"/>
          <p:cNvSpPr/>
          <p:nvPr/>
        </p:nvSpPr>
        <p:spPr>
          <a:xfrm>
            <a:off x="548640" y="4352544"/>
            <a:ext cx="4754880" cy="457200"/>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Our model achieves +4.3% balanced accuracy over MINTIME (best visual baseline) and outperforms multimodal baselines by +15%.</a:t>
            </a:r>
            <a:endParaRPr lang="en-US" sz="1200" dirty="0"/>
          </a:p>
        </p:txBody>
      </p:sp>
      <p:sp>
        <p:nvSpPr>
          <p:cNvPr id="18" name="Shape 14"/>
          <p:cNvSpPr/>
          <p:nvPr/>
        </p:nvSpPr>
        <p:spPr>
          <a:xfrm>
            <a:off x="365760" y="4937760"/>
            <a:ext cx="8412480" cy="274320"/>
          </a:xfrm>
          <a:prstGeom prst="roundRect">
            <a:avLst>
              <a:gd name="adj" fmla="val 20000"/>
            </a:avLst>
          </a:prstGeom>
          <a:solidFill>
            <a:srgbClr val="1A3A5C"/>
          </a:solidFill>
          <a:ln/>
        </p:spPr>
      </p:sp>
      <p:sp>
        <p:nvSpPr>
          <p:cNvPr id="19" name="Text 15"/>
          <p:cNvSpPr/>
          <p:nvPr/>
        </p:nvSpPr>
        <p:spPr>
          <a:xfrm>
            <a:off x="548640" y="4974336"/>
            <a:ext cx="8229600" cy="201168"/>
          </a:xfrm>
          <a:prstGeom prst="rect">
            <a:avLst/>
          </a:prstGeom>
          <a:noFill/>
          <a:ln/>
        </p:spPr>
        <p:txBody>
          <a:bodyPr wrap="square" rtlCol="0" anchor="ctr"/>
          <a:lstStyle/>
          <a:p>
            <a:pPr marL="0" indent="0">
              <a:buNone/>
            </a:pPr>
            <a:r>
              <a:rPr lang="en-US" sz="1000" i="1" dirty="0">
                <a:solidFill>
                  <a:srgbClr val="8BA3BF"/>
                </a:solidFill>
                <a:latin typeface="Calibri" pitchFamily="34" charset="0"/>
                <a:ea typeface="Calibri" pitchFamily="34" charset="-122"/>
                <a:cs typeface="Calibri" pitchFamily="34" charset="-120"/>
              </a:rPr>
              <a:t>Source: Table II — Comparison with Baseline Methods on Two-Person Videos (from the paper)</a:t>
            </a:r>
            <a:endParaRPr lang="en-US" sz="1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Insights &amp; Discussion</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What the results tell us</a:t>
            </a:r>
            <a:endParaRPr lang="en-US" sz="1300" dirty="0"/>
          </a:p>
        </p:txBody>
      </p:sp>
      <p:sp>
        <p:nvSpPr>
          <p:cNvPr id="4" name="Shape 2"/>
          <p:cNvSpPr/>
          <p:nvPr/>
        </p:nvSpPr>
        <p:spPr>
          <a:xfrm>
            <a:off x="365760" y="98755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365760" y="987552"/>
            <a:ext cx="4251960" cy="54864"/>
          </a:xfrm>
          <a:prstGeom prst="rect">
            <a:avLst/>
          </a:prstGeom>
          <a:solidFill>
            <a:srgbClr val="00D4FF"/>
          </a:solidFill>
          <a:ln/>
        </p:spPr>
      </p:sp>
      <p:sp>
        <p:nvSpPr>
          <p:cNvPr id="6" name="Text 4"/>
          <p:cNvSpPr/>
          <p:nvPr/>
        </p:nvSpPr>
        <p:spPr>
          <a:xfrm>
            <a:off x="530352" y="1124712"/>
            <a:ext cx="3931920" cy="5029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Multi-Identity Processing is Essential</a:t>
            </a:r>
            <a:endParaRPr lang="en-US" sz="1300" dirty="0"/>
          </a:p>
        </p:txBody>
      </p:sp>
      <p:sp>
        <p:nvSpPr>
          <p:cNvPr id="7" name="Text 5"/>
          <p:cNvSpPr/>
          <p:nvPr/>
        </p:nvSpPr>
        <p:spPr>
          <a:xfrm>
            <a:off x="530352" y="1645920"/>
            <a:ext cx="3931920" cy="1078992"/>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Standard approaches that process faces collectively achieve near-random performance (~0.50) in two-person scenarios. This confirms the critical gap in existing research.</a:t>
            </a:r>
            <a:endParaRPr lang="en-US" sz="1150" dirty="0"/>
          </a:p>
        </p:txBody>
      </p:sp>
      <p:sp>
        <p:nvSpPr>
          <p:cNvPr id="8" name="Shape 6"/>
          <p:cNvSpPr/>
          <p:nvPr/>
        </p:nvSpPr>
        <p:spPr>
          <a:xfrm>
            <a:off x="4800600" y="98755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9" name="Shape 7"/>
          <p:cNvSpPr/>
          <p:nvPr/>
        </p:nvSpPr>
        <p:spPr>
          <a:xfrm>
            <a:off x="4800600" y="987552"/>
            <a:ext cx="4251960" cy="54864"/>
          </a:xfrm>
          <a:prstGeom prst="rect">
            <a:avLst/>
          </a:prstGeom>
          <a:solidFill>
            <a:srgbClr val="FF6B35"/>
          </a:solidFill>
          <a:ln/>
        </p:spPr>
      </p:sp>
      <p:sp>
        <p:nvSpPr>
          <p:cNvPr id="10" name="Text 8"/>
          <p:cNvSpPr/>
          <p:nvPr/>
        </p:nvSpPr>
        <p:spPr>
          <a:xfrm>
            <a:off x="4965192" y="1124712"/>
            <a:ext cx="3931920" cy="502920"/>
          </a:xfrm>
          <a:prstGeom prst="rect">
            <a:avLst/>
          </a:prstGeom>
          <a:noFill/>
          <a:ln/>
        </p:spPr>
        <p:txBody>
          <a:bodyPr wrap="square"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  Speaker-Face Association is Non-Trivial but Crucial</a:t>
            </a:r>
            <a:endParaRPr lang="en-US" sz="1300" dirty="0"/>
          </a:p>
        </p:txBody>
      </p:sp>
      <p:sp>
        <p:nvSpPr>
          <p:cNvPr id="11" name="Text 9"/>
          <p:cNvSpPr/>
          <p:nvPr/>
        </p:nvSpPr>
        <p:spPr>
          <a:xfrm>
            <a:off x="4965192" y="1645920"/>
            <a:ext cx="3931920" cy="1078992"/>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Naively incorporating audio WITHOUT proper speaker disambiguation actually HURTS performance. Our lip movement approach provides a simple yet effective solution.</a:t>
            </a:r>
            <a:endParaRPr lang="en-US" sz="1150" dirty="0"/>
          </a:p>
        </p:txBody>
      </p:sp>
      <p:sp>
        <p:nvSpPr>
          <p:cNvPr id="12" name="Shape 10"/>
          <p:cNvSpPr/>
          <p:nvPr/>
        </p:nvSpPr>
        <p:spPr>
          <a:xfrm>
            <a:off x="365760" y="299923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13" name="Shape 11"/>
          <p:cNvSpPr/>
          <p:nvPr/>
        </p:nvSpPr>
        <p:spPr>
          <a:xfrm>
            <a:off x="365760" y="2999232"/>
            <a:ext cx="4251960" cy="54864"/>
          </a:xfrm>
          <a:prstGeom prst="rect">
            <a:avLst/>
          </a:prstGeom>
          <a:solidFill>
            <a:srgbClr val="FFD166"/>
          </a:solidFill>
          <a:ln/>
        </p:spPr>
      </p:sp>
      <p:sp>
        <p:nvSpPr>
          <p:cNvPr id="14" name="Text 12"/>
          <p:cNvSpPr/>
          <p:nvPr/>
        </p:nvSpPr>
        <p:spPr>
          <a:xfrm>
            <a:off x="530352" y="3136392"/>
            <a:ext cx="3931920" cy="502920"/>
          </a:xfrm>
          <a:prstGeom prst="rect">
            <a:avLst/>
          </a:prstGeom>
          <a:noFill/>
          <a:ln/>
        </p:spPr>
        <p:txBody>
          <a:bodyPr wrap="square" rtlCol="0" anchor="ctr"/>
          <a:lstStyle/>
          <a:p>
            <a:pPr marL="0" indent="0">
              <a:buNone/>
            </a:pPr>
            <a:r>
              <a:rPr lang="en-US" sz="1300" b="1" dirty="0">
                <a:solidFill>
                  <a:srgbClr val="FFD166"/>
                </a:solidFill>
                <a:latin typeface="Calibri" pitchFamily="34" charset="0"/>
                <a:ea typeface="Calibri" pitchFamily="34" charset="-122"/>
                <a:cs typeface="Calibri" pitchFamily="34" charset="-120"/>
              </a:rPr>
              <a:t>⚖️  Class Imbalance Requires Careful Handling</a:t>
            </a:r>
            <a:endParaRPr lang="en-US" sz="1300" dirty="0"/>
          </a:p>
        </p:txBody>
      </p:sp>
      <p:sp>
        <p:nvSpPr>
          <p:cNvPr id="15" name="Text 13"/>
          <p:cNvSpPr/>
          <p:nvPr/>
        </p:nvSpPr>
        <p:spPr>
          <a:xfrm>
            <a:off x="530352" y="3657600"/>
            <a:ext cx="3931920" cy="1078992"/>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Regular accuracy would be 86.7% just by predicting 'fake' always — completely masking failures. Weighted loss + balanced accuracy as optimization target resolved initial model collapse.</a:t>
            </a:r>
            <a:endParaRPr lang="en-US" sz="1150" dirty="0"/>
          </a:p>
        </p:txBody>
      </p:sp>
      <p:sp>
        <p:nvSpPr>
          <p:cNvPr id="16" name="Shape 14"/>
          <p:cNvSpPr/>
          <p:nvPr/>
        </p:nvSpPr>
        <p:spPr>
          <a:xfrm>
            <a:off x="4800600" y="2999232"/>
            <a:ext cx="425196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17" name="Shape 15"/>
          <p:cNvSpPr/>
          <p:nvPr/>
        </p:nvSpPr>
        <p:spPr>
          <a:xfrm>
            <a:off x="4800600" y="2999232"/>
            <a:ext cx="4251960" cy="54864"/>
          </a:xfrm>
          <a:prstGeom prst="rect">
            <a:avLst/>
          </a:prstGeom>
          <a:solidFill>
            <a:srgbClr val="00C896"/>
          </a:solidFill>
          <a:ln/>
        </p:spPr>
      </p:sp>
      <p:sp>
        <p:nvSpPr>
          <p:cNvPr id="18" name="Text 16"/>
          <p:cNvSpPr/>
          <p:nvPr/>
        </p:nvSpPr>
        <p:spPr>
          <a:xfrm>
            <a:off x="4965192" y="3136392"/>
            <a:ext cx="3931920" cy="502920"/>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Lightweight Architectures Are Viable</a:t>
            </a:r>
            <a:endParaRPr lang="en-US" sz="1300" dirty="0"/>
          </a:p>
        </p:txBody>
      </p:sp>
      <p:sp>
        <p:nvSpPr>
          <p:cNvPr id="19" name="Text 17"/>
          <p:cNvSpPr/>
          <p:nvPr/>
        </p:nvSpPr>
        <p:spPr>
          <a:xfrm>
            <a:off x="4965192" y="3657600"/>
            <a:ext cx="3931920" cy="1078992"/>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MobileNetV3 + BiLSTM achieves competitive performance with 10× fewer parameters than transformer-based approaches, enabling practical deployment on resource-constrained hardware.</a:t>
            </a:r>
            <a:endParaRPr lang="en-US" sz="11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Honest assessment of current approach constraints</a:t>
            </a:r>
            <a:endParaRPr lang="en-US" sz="1300" dirty="0"/>
          </a:p>
        </p:txBody>
      </p:sp>
      <p:sp>
        <p:nvSpPr>
          <p:cNvPr id="4" name="Shape 2"/>
          <p:cNvSpPr/>
          <p:nvPr/>
        </p:nvSpPr>
        <p:spPr>
          <a:xfrm>
            <a:off x="365760" y="98755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475488" y="1197864"/>
            <a:ext cx="457200" cy="457200"/>
          </a:xfrm>
          <a:prstGeom prst="ellipse">
            <a:avLst/>
          </a:prstGeom>
          <a:solidFill>
            <a:srgbClr val="FF6B35"/>
          </a:solidFill>
          <a:ln/>
        </p:spPr>
      </p:sp>
      <p:sp>
        <p:nvSpPr>
          <p:cNvPr id="6" name="Text 4"/>
          <p:cNvSpPr/>
          <p:nvPr/>
        </p:nvSpPr>
        <p:spPr>
          <a:xfrm>
            <a:off x="475488" y="1197864"/>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51560" y="1078992"/>
            <a:ext cx="7223760" cy="292608"/>
          </a:xfrm>
          <a:prstGeom prst="rect">
            <a:avLst/>
          </a:prstGeom>
          <a:noFill/>
          <a:ln/>
        </p:spPr>
        <p:txBody>
          <a:bodyPr wrap="square"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Lip Movement Speaker Association is Approximate</a:t>
            </a:r>
            <a:endParaRPr lang="en-US" sz="1300" dirty="0"/>
          </a:p>
        </p:txBody>
      </p:sp>
      <p:sp>
        <p:nvSpPr>
          <p:cNvPr id="8" name="Text 6"/>
          <p:cNvSpPr/>
          <p:nvPr/>
        </p:nvSpPr>
        <p:spPr>
          <a:xfrm>
            <a:off x="1051560" y="1399032"/>
            <a:ext cx="7315200" cy="411480"/>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Fails when both individuals speak simultaneously. Also fails when silent individuals exhibit significant mouth movement (e.g., laughing, yawning). More sophisticated audio-visual temporal alignment could improve this.</a:t>
            </a:r>
            <a:endParaRPr lang="en-US" sz="1150" dirty="0"/>
          </a:p>
        </p:txBody>
      </p:sp>
      <p:sp>
        <p:nvSpPr>
          <p:cNvPr id="9" name="Shape 7"/>
          <p:cNvSpPr/>
          <p:nvPr/>
        </p:nvSpPr>
        <p:spPr>
          <a:xfrm>
            <a:off x="365760" y="199339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10" name="Shape 8"/>
          <p:cNvSpPr/>
          <p:nvPr/>
        </p:nvSpPr>
        <p:spPr>
          <a:xfrm>
            <a:off x="475488" y="2203704"/>
            <a:ext cx="457200" cy="457200"/>
          </a:xfrm>
          <a:prstGeom prst="ellipse">
            <a:avLst/>
          </a:prstGeom>
          <a:solidFill>
            <a:srgbClr val="FFD166"/>
          </a:solidFill>
          <a:ln/>
        </p:spPr>
      </p:sp>
      <p:sp>
        <p:nvSpPr>
          <p:cNvPr id="11" name="Text 9"/>
          <p:cNvSpPr/>
          <p:nvPr/>
        </p:nvSpPr>
        <p:spPr>
          <a:xfrm>
            <a:off x="475488" y="2203704"/>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51560" y="2084832"/>
            <a:ext cx="7223760" cy="292608"/>
          </a:xfrm>
          <a:prstGeom prst="rect">
            <a:avLst/>
          </a:prstGeom>
          <a:noFill/>
          <a:ln/>
        </p:spPr>
        <p:txBody>
          <a:bodyPr wrap="square" rtlCol="0" anchor="ctr"/>
          <a:lstStyle/>
          <a:p>
            <a:pPr marL="0" indent="0">
              <a:buNone/>
            </a:pPr>
            <a:r>
              <a:rPr lang="en-US" sz="1300" b="1" dirty="0">
                <a:solidFill>
                  <a:srgbClr val="FFD166"/>
                </a:solidFill>
                <a:latin typeface="Calibri" pitchFamily="34" charset="0"/>
                <a:ea typeface="Calibri" pitchFamily="34" charset="-122"/>
                <a:cs typeface="Calibri" pitchFamily="34" charset="-120"/>
              </a:rPr>
              <a:t>Two-Person Constraint</a:t>
            </a:r>
            <a:endParaRPr lang="en-US" sz="1300" dirty="0"/>
          </a:p>
        </p:txBody>
      </p:sp>
      <p:sp>
        <p:nvSpPr>
          <p:cNvPr id="13" name="Text 11"/>
          <p:cNvSpPr/>
          <p:nvPr/>
        </p:nvSpPr>
        <p:spPr>
          <a:xfrm>
            <a:off x="1051560" y="2404872"/>
            <a:ext cx="7315200" cy="411480"/>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Current framework is specifically designed for exactly two people. Extending to 3+ people requires dynamic attention mechanisms and identity enumeration strategies. Computational cost grows linearly with identity count.</a:t>
            </a:r>
            <a:endParaRPr lang="en-US" sz="1150" dirty="0"/>
          </a:p>
        </p:txBody>
      </p:sp>
      <p:sp>
        <p:nvSpPr>
          <p:cNvPr id="14" name="Shape 12"/>
          <p:cNvSpPr/>
          <p:nvPr/>
        </p:nvSpPr>
        <p:spPr>
          <a:xfrm>
            <a:off x="365760" y="299923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15" name="Shape 13"/>
          <p:cNvSpPr/>
          <p:nvPr/>
        </p:nvSpPr>
        <p:spPr>
          <a:xfrm>
            <a:off x="475488" y="3209544"/>
            <a:ext cx="457200" cy="457200"/>
          </a:xfrm>
          <a:prstGeom prst="ellipse">
            <a:avLst/>
          </a:prstGeom>
          <a:solidFill>
            <a:srgbClr val="00D4FF"/>
          </a:solidFill>
          <a:ln/>
        </p:spPr>
      </p:sp>
      <p:sp>
        <p:nvSpPr>
          <p:cNvPr id="16" name="Text 14"/>
          <p:cNvSpPr/>
          <p:nvPr/>
        </p:nvSpPr>
        <p:spPr>
          <a:xfrm>
            <a:off x="475488" y="3209544"/>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051560" y="3090672"/>
            <a:ext cx="7223760" cy="292608"/>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Dataset Bias &amp; Limited Generalization</a:t>
            </a:r>
            <a:endParaRPr lang="en-US" sz="1300" dirty="0"/>
          </a:p>
        </p:txBody>
      </p:sp>
      <p:sp>
        <p:nvSpPr>
          <p:cNvPr id="18" name="Text 16"/>
          <p:cNvSpPr/>
          <p:nvPr/>
        </p:nvSpPr>
        <p:spPr>
          <a:xfrm>
            <a:off x="1051560" y="3410712"/>
            <a:ext cx="7315200" cy="411480"/>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Trained predominantly on FaceSwap, Face2Face, Neural Textures, and DeepFakes methods. May not generalize well to novel synthesis techniques. Cross-dataset evaluation (on Celeb-DF, ForgeryNet) would reveal true generalization.</a:t>
            </a:r>
            <a:endParaRPr lang="en-US" sz="1150" dirty="0"/>
          </a:p>
        </p:txBody>
      </p:sp>
      <p:sp>
        <p:nvSpPr>
          <p:cNvPr id="19" name="Shape 17"/>
          <p:cNvSpPr/>
          <p:nvPr/>
        </p:nvSpPr>
        <p:spPr>
          <a:xfrm>
            <a:off x="365760" y="4005072"/>
            <a:ext cx="8412480" cy="896112"/>
          </a:xfrm>
          <a:prstGeom prst="roundRect">
            <a:avLst>
              <a:gd name="adj" fmla="val 12245"/>
            </a:avLst>
          </a:prstGeom>
          <a:solidFill>
            <a:srgbClr val="162A45"/>
          </a:solidFill>
          <a:ln/>
          <a:effectLst>
            <a:outerShdw blurRad="127000" dist="38100" dir="8100000" algn="bl" rotWithShape="0">
              <a:srgbClr val="000000">
                <a:alpha val="30000"/>
              </a:srgbClr>
            </a:outerShdw>
          </a:effectLst>
        </p:spPr>
      </p:sp>
      <p:sp>
        <p:nvSpPr>
          <p:cNvPr id="20" name="Shape 18"/>
          <p:cNvSpPr/>
          <p:nvPr/>
        </p:nvSpPr>
        <p:spPr>
          <a:xfrm>
            <a:off x="475488" y="4215384"/>
            <a:ext cx="457200" cy="457200"/>
          </a:xfrm>
          <a:prstGeom prst="ellipse">
            <a:avLst/>
          </a:prstGeom>
          <a:solidFill>
            <a:srgbClr val="00C896"/>
          </a:solidFill>
          <a:ln/>
        </p:spPr>
      </p:sp>
      <p:sp>
        <p:nvSpPr>
          <p:cNvPr id="21" name="Text 19"/>
          <p:cNvSpPr/>
          <p:nvPr/>
        </p:nvSpPr>
        <p:spPr>
          <a:xfrm>
            <a:off x="475488" y="4215384"/>
            <a:ext cx="457200" cy="457200"/>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051560" y="4096512"/>
            <a:ext cx="7223760" cy="292608"/>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Class Imbalance Persists</a:t>
            </a:r>
            <a:endParaRPr lang="en-US" sz="1300" dirty="0"/>
          </a:p>
        </p:txBody>
      </p:sp>
      <p:sp>
        <p:nvSpPr>
          <p:cNvPr id="23" name="Text 21"/>
          <p:cNvSpPr/>
          <p:nvPr/>
        </p:nvSpPr>
        <p:spPr>
          <a:xfrm>
            <a:off x="1051560" y="4416552"/>
            <a:ext cx="7315200" cy="411480"/>
          </a:xfrm>
          <a:prstGeom prst="rect">
            <a:avLst/>
          </a:prstGeom>
          <a:noFill/>
          <a:ln/>
        </p:spPr>
        <p:txBody>
          <a:bodyPr wrap="square" rtlCol="0" anchor="ctr"/>
          <a:lstStyle/>
          <a:p>
            <a:pPr marL="0" indent="0">
              <a:buNone/>
            </a:pPr>
            <a:r>
              <a:rPr lang="en-US" sz="1150" dirty="0">
                <a:solidFill>
                  <a:srgbClr val="E8F0F8"/>
                </a:solidFill>
                <a:latin typeface="Calibri" pitchFamily="34" charset="0"/>
                <a:ea typeface="Calibri" pitchFamily="34" charset="-122"/>
                <a:cs typeface="Calibri" pitchFamily="34" charset="-120"/>
              </a:rPr>
              <a:t>Despite weighted loss, real-video recall (57.1%) remains notably lower than fake recall (85.2%). The 1:6.5 real-to-fake ratio fundamentally limits how well the model learns real video patterns.</a:t>
            </a:r>
            <a:endParaRPr lang="en-US" sz="11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Future Work</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Promising directions for extending this research</a:t>
            </a:r>
            <a:endParaRPr lang="en-US" sz="1300" dirty="0"/>
          </a:p>
        </p:txBody>
      </p:sp>
      <p:sp>
        <p:nvSpPr>
          <p:cNvPr id="4" name="Shape 2"/>
          <p:cNvSpPr/>
          <p:nvPr/>
        </p:nvSpPr>
        <p:spPr>
          <a:xfrm>
            <a:off x="274320" y="98755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274320" y="987552"/>
            <a:ext cx="2834640" cy="54864"/>
          </a:xfrm>
          <a:prstGeom prst="rect">
            <a:avLst/>
          </a:prstGeom>
          <a:solidFill>
            <a:srgbClr val="00D4FF"/>
          </a:solidFill>
          <a:ln/>
        </p:spPr>
      </p:sp>
      <p:sp>
        <p:nvSpPr>
          <p:cNvPr id="6" name="Text 4"/>
          <p:cNvSpPr/>
          <p:nvPr/>
        </p:nvSpPr>
        <p:spPr>
          <a:xfrm>
            <a:off x="411480" y="109728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896112" y="1115568"/>
            <a:ext cx="2084832" cy="384048"/>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Enhanced Speaker-Face Association</a:t>
            </a:r>
            <a:endParaRPr lang="en-US" sz="1200" dirty="0"/>
          </a:p>
        </p:txBody>
      </p:sp>
      <p:sp>
        <p:nvSpPr>
          <p:cNvPr id="8" name="Text 6"/>
          <p:cNvSpPr/>
          <p:nvPr/>
        </p:nvSpPr>
        <p:spPr>
          <a:xfrm>
            <a:off x="411480" y="158191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Replace lip-movement heuristic with learned audio-visual temporal correlation or cross-modal matching networks — enabling better disambiguation even when both people speak simultaneously.</a:t>
            </a:r>
            <a:endParaRPr lang="en-US" sz="1050" dirty="0"/>
          </a:p>
        </p:txBody>
      </p:sp>
      <p:sp>
        <p:nvSpPr>
          <p:cNvPr id="9" name="Shape 7"/>
          <p:cNvSpPr/>
          <p:nvPr/>
        </p:nvSpPr>
        <p:spPr>
          <a:xfrm>
            <a:off x="3227832" y="98755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10" name="Shape 8"/>
          <p:cNvSpPr/>
          <p:nvPr/>
        </p:nvSpPr>
        <p:spPr>
          <a:xfrm>
            <a:off x="3227832" y="987552"/>
            <a:ext cx="2834640" cy="54864"/>
          </a:xfrm>
          <a:prstGeom prst="rect">
            <a:avLst/>
          </a:prstGeom>
          <a:solidFill>
            <a:srgbClr val="FF6B35"/>
          </a:solidFill>
          <a:ln/>
        </p:spPr>
      </p:sp>
      <p:sp>
        <p:nvSpPr>
          <p:cNvPr id="11" name="Text 9"/>
          <p:cNvSpPr/>
          <p:nvPr/>
        </p:nvSpPr>
        <p:spPr>
          <a:xfrm>
            <a:off x="3364992" y="109728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3849624" y="1115568"/>
            <a:ext cx="2084832" cy="384048"/>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Extension to 3+ Identities</a:t>
            </a:r>
            <a:endParaRPr lang="en-US" sz="1200" dirty="0"/>
          </a:p>
        </p:txBody>
      </p:sp>
      <p:sp>
        <p:nvSpPr>
          <p:cNvPr id="13" name="Text 11"/>
          <p:cNvSpPr/>
          <p:nvPr/>
        </p:nvSpPr>
        <p:spPr>
          <a:xfrm>
            <a:off x="3364992" y="158191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Develop dynamic attention mechanisms that adapt to variable numbers of detected individuals, enabling deployment on any real-world multi-person video without the two-person constraint.</a:t>
            </a:r>
            <a:endParaRPr lang="en-US" sz="1050" dirty="0"/>
          </a:p>
        </p:txBody>
      </p:sp>
      <p:sp>
        <p:nvSpPr>
          <p:cNvPr id="14" name="Shape 12"/>
          <p:cNvSpPr/>
          <p:nvPr/>
        </p:nvSpPr>
        <p:spPr>
          <a:xfrm>
            <a:off x="6181344" y="98755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15" name="Shape 13"/>
          <p:cNvSpPr/>
          <p:nvPr/>
        </p:nvSpPr>
        <p:spPr>
          <a:xfrm>
            <a:off x="6181344" y="987552"/>
            <a:ext cx="2834640" cy="54864"/>
          </a:xfrm>
          <a:prstGeom prst="rect">
            <a:avLst/>
          </a:prstGeom>
          <a:solidFill>
            <a:srgbClr val="FFD166"/>
          </a:solidFill>
          <a:ln/>
        </p:spPr>
      </p:sp>
      <p:sp>
        <p:nvSpPr>
          <p:cNvPr id="16" name="Text 14"/>
          <p:cNvSpPr/>
          <p:nvPr/>
        </p:nvSpPr>
        <p:spPr>
          <a:xfrm>
            <a:off x="6318504" y="109728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6803136" y="1115568"/>
            <a:ext cx="2084832" cy="384048"/>
          </a:xfrm>
          <a:prstGeom prst="rect">
            <a:avLst/>
          </a:prstGeom>
          <a:noFill/>
          <a:ln/>
        </p:spPr>
        <p:txBody>
          <a:bodyPr wrap="square" rtlCol="0" anchor="ctr"/>
          <a:lstStyle/>
          <a:p>
            <a:pPr marL="0" indent="0">
              <a:buNone/>
            </a:pPr>
            <a:r>
              <a:rPr lang="en-US" sz="1200" b="1" dirty="0">
                <a:solidFill>
                  <a:srgbClr val="FFD166"/>
                </a:solidFill>
                <a:latin typeface="Calibri" pitchFamily="34" charset="0"/>
                <a:ea typeface="Calibri" pitchFamily="34" charset="-122"/>
                <a:cs typeface="Calibri" pitchFamily="34" charset="-120"/>
              </a:rPr>
              <a:t>Cross-Dataset Evaluation</a:t>
            </a:r>
            <a:endParaRPr lang="en-US" sz="1200" dirty="0"/>
          </a:p>
        </p:txBody>
      </p:sp>
      <p:sp>
        <p:nvSpPr>
          <p:cNvPr id="18" name="Text 16"/>
          <p:cNvSpPr/>
          <p:nvPr/>
        </p:nvSpPr>
        <p:spPr>
          <a:xfrm>
            <a:off x="6318504" y="158191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Evaluate on ForgeryNet, Celeb-DF, WildDeepfake, and other benchmarks to measure true generalization across different manipulation methods and recording conditions.</a:t>
            </a:r>
            <a:endParaRPr lang="en-US" sz="1050" dirty="0"/>
          </a:p>
        </p:txBody>
      </p:sp>
      <p:sp>
        <p:nvSpPr>
          <p:cNvPr id="19" name="Shape 17"/>
          <p:cNvSpPr/>
          <p:nvPr/>
        </p:nvSpPr>
        <p:spPr>
          <a:xfrm>
            <a:off x="274320" y="299923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20" name="Shape 18"/>
          <p:cNvSpPr/>
          <p:nvPr/>
        </p:nvSpPr>
        <p:spPr>
          <a:xfrm>
            <a:off x="274320" y="2999232"/>
            <a:ext cx="2834640" cy="54864"/>
          </a:xfrm>
          <a:prstGeom prst="rect">
            <a:avLst/>
          </a:prstGeom>
          <a:solidFill>
            <a:srgbClr val="00C896"/>
          </a:solidFill>
          <a:ln/>
        </p:spPr>
      </p:sp>
      <p:sp>
        <p:nvSpPr>
          <p:cNvPr id="21" name="Text 19"/>
          <p:cNvSpPr/>
          <p:nvPr/>
        </p:nvSpPr>
        <p:spPr>
          <a:xfrm>
            <a:off x="411480" y="310896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896112" y="3127248"/>
            <a:ext cx="2084832" cy="384048"/>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Explainability &amp; Interpretability</a:t>
            </a:r>
            <a:endParaRPr lang="en-US" sz="1200" dirty="0"/>
          </a:p>
        </p:txBody>
      </p:sp>
      <p:sp>
        <p:nvSpPr>
          <p:cNvPr id="23" name="Text 21"/>
          <p:cNvSpPr/>
          <p:nvPr/>
        </p:nvSpPr>
        <p:spPr>
          <a:xfrm>
            <a:off x="411480" y="359359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Use attention visualization and Grad-CAM feature attribution to understand which facial regions and audio segments trigger detection — important for forensic applications and trust.</a:t>
            </a:r>
            <a:endParaRPr lang="en-US" sz="1050" dirty="0"/>
          </a:p>
        </p:txBody>
      </p:sp>
      <p:sp>
        <p:nvSpPr>
          <p:cNvPr id="24" name="Shape 22"/>
          <p:cNvSpPr/>
          <p:nvPr/>
        </p:nvSpPr>
        <p:spPr>
          <a:xfrm>
            <a:off x="3227832" y="299923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25" name="Shape 23"/>
          <p:cNvSpPr/>
          <p:nvPr/>
        </p:nvSpPr>
        <p:spPr>
          <a:xfrm>
            <a:off x="3227832" y="2999232"/>
            <a:ext cx="2834640" cy="54864"/>
          </a:xfrm>
          <a:prstGeom prst="rect">
            <a:avLst/>
          </a:prstGeom>
          <a:solidFill>
            <a:srgbClr val="00A8CC"/>
          </a:solidFill>
          <a:ln/>
        </p:spPr>
      </p:sp>
      <p:sp>
        <p:nvSpPr>
          <p:cNvPr id="26" name="Text 24"/>
          <p:cNvSpPr/>
          <p:nvPr/>
        </p:nvSpPr>
        <p:spPr>
          <a:xfrm>
            <a:off x="3364992" y="310896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3849624" y="3127248"/>
            <a:ext cx="2084832" cy="384048"/>
          </a:xfrm>
          <a:prstGeom prst="rect">
            <a:avLst/>
          </a:prstGeom>
          <a:noFill/>
          <a:ln/>
        </p:spPr>
        <p:txBody>
          <a:bodyPr wrap="square" rtlCol="0" anchor="ctr"/>
          <a:lstStyle/>
          <a:p>
            <a:pPr marL="0" indent="0">
              <a:buNone/>
            </a:pPr>
            <a:r>
              <a:rPr lang="en-US" sz="1200" b="1" dirty="0">
                <a:solidFill>
                  <a:srgbClr val="00A8CC"/>
                </a:solidFill>
                <a:latin typeface="Calibri" pitchFamily="34" charset="0"/>
                <a:ea typeface="Calibri" pitchFamily="34" charset="-122"/>
                <a:cs typeface="Calibri" pitchFamily="34" charset="-120"/>
              </a:rPr>
              <a:t>Real-Time Optimization</a:t>
            </a:r>
            <a:endParaRPr lang="en-US" sz="1200" dirty="0"/>
          </a:p>
        </p:txBody>
      </p:sp>
      <p:sp>
        <p:nvSpPr>
          <p:cNvPr id="28" name="Text 26"/>
          <p:cNvSpPr/>
          <p:nvPr/>
        </p:nvSpPr>
        <p:spPr>
          <a:xfrm>
            <a:off x="3364992" y="359359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Apply knowledge distillation and model pruning to reduce inference latency below 30ms per frame — enabling deployment on mobile devices and edge cameras.</a:t>
            </a:r>
            <a:endParaRPr lang="en-US" sz="1050" dirty="0"/>
          </a:p>
        </p:txBody>
      </p:sp>
      <p:sp>
        <p:nvSpPr>
          <p:cNvPr id="29" name="Shape 27"/>
          <p:cNvSpPr/>
          <p:nvPr/>
        </p:nvSpPr>
        <p:spPr>
          <a:xfrm>
            <a:off x="6181344" y="2999232"/>
            <a:ext cx="2834640" cy="1874520"/>
          </a:xfrm>
          <a:prstGeom prst="roundRect">
            <a:avLst>
              <a:gd name="adj" fmla="val 5854"/>
            </a:avLst>
          </a:prstGeom>
          <a:solidFill>
            <a:srgbClr val="162A45"/>
          </a:solidFill>
          <a:ln/>
          <a:effectLst>
            <a:outerShdw blurRad="127000" dist="38100" dir="8100000" algn="bl" rotWithShape="0">
              <a:srgbClr val="000000">
                <a:alpha val="30000"/>
              </a:srgbClr>
            </a:outerShdw>
          </a:effectLst>
        </p:spPr>
      </p:sp>
      <p:sp>
        <p:nvSpPr>
          <p:cNvPr id="30" name="Shape 28"/>
          <p:cNvSpPr/>
          <p:nvPr/>
        </p:nvSpPr>
        <p:spPr>
          <a:xfrm>
            <a:off x="6181344" y="2999232"/>
            <a:ext cx="2834640" cy="54864"/>
          </a:xfrm>
          <a:prstGeom prst="rect">
            <a:avLst/>
          </a:prstGeom>
          <a:solidFill>
            <a:srgbClr val="FF6B35"/>
          </a:solidFill>
          <a:ln/>
        </p:spPr>
      </p:sp>
      <p:sp>
        <p:nvSpPr>
          <p:cNvPr id="31" name="Text 29"/>
          <p:cNvSpPr/>
          <p:nvPr/>
        </p:nvSpPr>
        <p:spPr>
          <a:xfrm>
            <a:off x="6318504" y="3108960"/>
            <a:ext cx="457200" cy="4114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6803136" y="3127248"/>
            <a:ext cx="2084832" cy="384048"/>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Adversarial Robustness</a:t>
            </a:r>
            <a:endParaRPr lang="en-US" sz="1200" dirty="0"/>
          </a:p>
        </p:txBody>
      </p:sp>
      <p:sp>
        <p:nvSpPr>
          <p:cNvPr id="33" name="Text 31"/>
          <p:cNvSpPr/>
          <p:nvPr/>
        </p:nvSpPr>
        <p:spPr>
          <a:xfrm>
            <a:off x="6318504" y="3593592"/>
            <a:ext cx="2578608" cy="1170432"/>
          </a:xfrm>
          <a:prstGeom prst="rect">
            <a:avLst/>
          </a:prstGeom>
          <a:noFill/>
          <a:ln/>
        </p:spPr>
        <p:txBody>
          <a:bodyPr wrap="square" rtlCol="0" anchor="ctr"/>
          <a:lstStyle/>
          <a:p>
            <a:pPr marL="0" indent="0">
              <a:buNone/>
            </a:pPr>
            <a:r>
              <a:rPr lang="en-US" sz="1050" dirty="0">
                <a:solidFill>
                  <a:srgbClr val="E8F0F8"/>
                </a:solidFill>
                <a:latin typeface="Calibri" pitchFamily="34" charset="0"/>
                <a:ea typeface="Calibri" pitchFamily="34" charset="-122"/>
                <a:cs typeface="Calibri" pitchFamily="34" charset="-120"/>
              </a:rPr>
              <a:t>Analyze and defend against attacks specifically designed to fool multi-identity detectors — for instance, adversaries who manipulate the active speaker to avoid audio-visual analysis.</a:t>
            </a:r>
            <a:endParaRPr lang="en-US" sz="10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Summary of contributions and impact</a:t>
            </a:r>
            <a:endParaRPr lang="en-US" sz="1300" dirty="0"/>
          </a:p>
        </p:txBody>
      </p:sp>
      <p:sp>
        <p:nvSpPr>
          <p:cNvPr id="4" name="Shape 2"/>
          <p:cNvSpPr/>
          <p:nvPr/>
        </p:nvSpPr>
        <p:spPr>
          <a:xfrm>
            <a:off x="365760" y="987552"/>
            <a:ext cx="8412480" cy="914400"/>
          </a:xfrm>
          <a:prstGeom prst="roundRect">
            <a:avLst>
              <a:gd name="adj" fmla="val 12000"/>
            </a:avLst>
          </a:prstGeom>
          <a:solidFill>
            <a:srgbClr val="162A45"/>
          </a:solidFill>
          <a:ln/>
          <a:effectLst>
            <a:outerShdw blurRad="127000" dist="38100" dir="8100000" algn="bl" rotWithShape="0">
              <a:srgbClr val="000000">
                <a:alpha val="30000"/>
              </a:srgbClr>
            </a:outerShdw>
          </a:effectLst>
        </p:spPr>
      </p:sp>
      <p:sp>
        <p:nvSpPr>
          <p:cNvPr id="5" name="Shape 3"/>
          <p:cNvSpPr/>
          <p:nvPr/>
        </p:nvSpPr>
        <p:spPr>
          <a:xfrm>
            <a:off x="365760" y="987552"/>
            <a:ext cx="201168" cy="914400"/>
          </a:xfrm>
          <a:prstGeom prst="rect">
            <a:avLst/>
          </a:prstGeom>
          <a:solidFill>
            <a:srgbClr val="00D4FF"/>
          </a:solidFill>
          <a:ln/>
        </p:spPr>
      </p:sp>
      <p:sp>
        <p:nvSpPr>
          <p:cNvPr id="6" name="Text 4"/>
          <p:cNvSpPr/>
          <p:nvPr/>
        </p:nvSpPr>
        <p:spPr>
          <a:xfrm>
            <a:off x="658368" y="1024128"/>
            <a:ext cx="795528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One-Line Story</a:t>
            </a:r>
            <a:endParaRPr lang="en-US" sz="1200" dirty="0"/>
          </a:p>
        </p:txBody>
      </p:sp>
      <p:sp>
        <p:nvSpPr>
          <p:cNvPr id="7" name="Text 5"/>
          <p:cNvSpPr/>
          <p:nvPr/>
        </p:nvSpPr>
        <p:spPr>
          <a:xfrm>
            <a:off x="658368" y="1280160"/>
            <a:ext cx="7955280" cy="548640"/>
          </a:xfrm>
          <a:prstGeom prst="rect">
            <a:avLst/>
          </a:prstGeom>
          <a:noFill/>
          <a:ln/>
        </p:spPr>
        <p:txBody>
          <a:bodyPr wrap="square"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"We solved deepfake detection in two-person videos by treating each person separately, identifying who is speaking, and applying audio-visual checks only where it makes sense."</a:t>
            </a:r>
            <a:endParaRPr lang="en-US" sz="1400" dirty="0"/>
          </a:p>
        </p:txBody>
      </p:sp>
      <p:sp>
        <p:nvSpPr>
          <p:cNvPr id="8" name="Text 6"/>
          <p:cNvSpPr/>
          <p:nvPr/>
        </p:nvSpPr>
        <p:spPr>
          <a:xfrm>
            <a:off x="365760" y="2029968"/>
            <a:ext cx="3657600" cy="292608"/>
          </a:xfrm>
          <a:prstGeom prst="rect">
            <a:avLst/>
          </a:prstGeom>
          <a:noFill/>
          <a:ln/>
        </p:spPr>
        <p:txBody>
          <a:bodyPr wrap="square"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Key Contributions</a:t>
            </a:r>
            <a:endParaRPr lang="en-US" sz="1400" dirty="0"/>
          </a:p>
        </p:txBody>
      </p:sp>
      <p:sp>
        <p:nvSpPr>
          <p:cNvPr id="9" name="Shape 7"/>
          <p:cNvSpPr/>
          <p:nvPr/>
        </p:nvSpPr>
        <p:spPr>
          <a:xfrm>
            <a:off x="384048" y="2459736"/>
            <a:ext cx="237744" cy="237744"/>
          </a:xfrm>
          <a:prstGeom prst="ellipse">
            <a:avLst/>
          </a:prstGeom>
          <a:solidFill>
            <a:srgbClr val="00D4FF"/>
          </a:solidFill>
          <a:ln/>
        </p:spPr>
      </p:sp>
      <p:sp>
        <p:nvSpPr>
          <p:cNvPr id="10" name="Text 8"/>
          <p:cNvSpPr/>
          <p:nvPr/>
        </p:nvSpPr>
        <p:spPr>
          <a:xfrm>
            <a:off x="713232" y="2395728"/>
            <a:ext cx="3657600" cy="438912"/>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First framework specifically focused on two-person deepfake detection</a:t>
            </a:r>
            <a:endParaRPr lang="en-US" sz="1200" dirty="0"/>
          </a:p>
        </p:txBody>
      </p:sp>
      <p:sp>
        <p:nvSpPr>
          <p:cNvPr id="11" name="Shape 9"/>
          <p:cNvSpPr/>
          <p:nvPr/>
        </p:nvSpPr>
        <p:spPr>
          <a:xfrm>
            <a:off x="384048" y="2935224"/>
            <a:ext cx="237744" cy="237744"/>
          </a:xfrm>
          <a:prstGeom prst="ellipse">
            <a:avLst/>
          </a:prstGeom>
          <a:solidFill>
            <a:srgbClr val="00D4FF"/>
          </a:solidFill>
          <a:ln/>
        </p:spPr>
      </p:sp>
      <p:sp>
        <p:nvSpPr>
          <p:cNvPr id="12" name="Text 10"/>
          <p:cNvSpPr/>
          <p:nvPr/>
        </p:nvSpPr>
        <p:spPr>
          <a:xfrm>
            <a:off x="713232" y="2871216"/>
            <a:ext cx="3657600" cy="438912"/>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Speaker-face association using lip movement for audio disambiguation</a:t>
            </a:r>
            <a:endParaRPr lang="en-US" sz="1200" dirty="0"/>
          </a:p>
        </p:txBody>
      </p:sp>
      <p:sp>
        <p:nvSpPr>
          <p:cNvPr id="13" name="Shape 11"/>
          <p:cNvSpPr/>
          <p:nvPr/>
        </p:nvSpPr>
        <p:spPr>
          <a:xfrm>
            <a:off x="384048" y="3410712"/>
            <a:ext cx="237744" cy="237744"/>
          </a:xfrm>
          <a:prstGeom prst="ellipse">
            <a:avLst/>
          </a:prstGeom>
          <a:solidFill>
            <a:srgbClr val="00D4FF"/>
          </a:solidFill>
          <a:ln/>
        </p:spPr>
      </p:sp>
      <p:sp>
        <p:nvSpPr>
          <p:cNvPr id="14" name="Text 12"/>
          <p:cNvSpPr/>
          <p:nvPr/>
        </p:nvSpPr>
        <p:spPr>
          <a:xfrm>
            <a:off x="713232" y="3346704"/>
            <a:ext cx="3657600" cy="438912"/>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Identity-conditioned cross-modal attention for selective audio-visual fusion</a:t>
            </a:r>
            <a:endParaRPr lang="en-US" sz="1200" dirty="0"/>
          </a:p>
        </p:txBody>
      </p:sp>
      <p:sp>
        <p:nvSpPr>
          <p:cNvPr id="15" name="Shape 13"/>
          <p:cNvSpPr/>
          <p:nvPr/>
        </p:nvSpPr>
        <p:spPr>
          <a:xfrm>
            <a:off x="384048" y="3886200"/>
            <a:ext cx="237744" cy="237744"/>
          </a:xfrm>
          <a:prstGeom prst="ellipse">
            <a:avLst/>
          </a:prstGeom>
          <a:solidFill>
            <a:srgbClr val="00D4FF"/>
          </a:solidFill>
          <a:ln/>
        </p:spPr>
      </p:sp>
      <p:sp>
        <p:nvSpPr>
          <p:cNvPr id="16" name="Text 14"/>
          <p:cNvSpPr/>
          <p:nvPr/>
        </p:nvSpPr>
        <p:spPr>
          <a:xfrm>
            <a:off x="713232" y="3822192"/>
            <a:ext cx="3657600" cy="438912"/>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Lightweight 5.7M parameter architecture suitable for real deployment</a:t>
            </a:r>
            <a:endParaRPr lang="en-US" sz="1200" dirty="0"/>
          </a:p>
        </p:txBody>
      </p:sp>
      <p:sp>
        <p:nvSpPr>
          <p:cNvPr id="17" name="Shape 15"/>
          <p:cNvSpPr/>
          <p:nvPr/>
        </p:nvSpPr>
        <p:spPr>
          <a:xfrm>
            <a:off x="384048" y="4361688"/>
            <a:ext cx="237744" cy="237744"/>
          </a:xfrm>
          <a:prstGeom prst="ellipse">
            <a:avLst/>
          </a:prstGeom>
          <a:solidFill>
            <a:srgbClr val="00D4FF"/>
          </a:solidFill>
          <a:ln/>
        </p:spPr>
      </p:sp>
      <p:sp>
        <p:nvSpPr>
          <p:cNvPr id="18" name="Text 16"/>
          <p:cNvSpPr/>
          <p:nvPr/>
        </p:nvSpPr>
        <p:spPr>
          <a:xfrm>
            <a:off x="713232" y="4297680"/>
            <a:ext cx="3657600" cy="438912"/>
          </a:xfrm>
          <a:prstGeom prst="rect">
            <a:avLst/>
          </a:prstGeom>
          <a:noFill/>
          <a:ln/>
        </p:spPr>
        <p:txBody>
          <a:bodyPr wrap="square" rtlCol="0" anchor="ctr"/>
          <a:lstStyle/>
          <a:p>
            <a:pPr marL="0" indent="0">
              <a:buNone/>
            </a:pPr>
            <a:r>
              <a:rPr lang="en-US" sz="1200" dirty="0">
                <a:solidFill>
                  <a:srgbClr val="E8F0F8"/>
                </a:solidFill>
                <a:latin typeface="Calibri" pitchFamily="34" charset="0"/>
                <a:ea typeface="Calibri" pitchFamily="34" charset="-122"/>
                <a:cs typeface="Calibri" pitchFamily="34" charset="-120"/>
              </a:rPr>
              <a:t>Superior performance vs all baselines: +4.3% over MINTIME, +15% over multimodal baseline</a:t>
            </a:r>
            <a:endParaRPr lang="en-US" sz="1200" dirty="0"/>
          </a:p>
        </p:txBody>
      </p:sp>
      <p:sp>
        <p:nvSpPr>
          <p:cNvPr id="19" name="Shape 17"/>
          <p:cNvSpPr/>
          <p:nvPr/>
        </p:nvSpPr>
        <p:spPr>
          <a:xfrm>
            <a:off x="4846320" y="2029968"/>
            <a:ext cx="1828800" cy="1325880"/>
          </a:xfrm>
          <a:prstGeom prst="roundRect">
            <a:avLst>
              <a:gd name="adj" fmla="val 8276"/>
            </a:avLst>
          </a:prstGeom>
          <a:solidFill>
            <a:srgbClr val="162A45"/>
          </a:solidFill>
          <a:ln/>
          <a:effectLst>
            <a:outerShdw blurRad="127000" dist="38100" dir="8100000" algn="bl" rotWithShape="0">
              <a:srgbClr val="000000">
                <a:alpha val="30000"/>
              </a:srgbClr>
            </a:outerShdw>
          </a:effectLst>
        </p:spPr>
      </p:sp>
      <p:sp>
        <p:nvSpPr>
          <p:cNvPr id="20" name="Text 18"/>
          <p:cNvSpPr/>
          <p:nvPr/>
        </p:nvSpPr>
        <p:spPr>
          <a:xfrm>
            <a:off x="4846320" y="2176272"/>
            <a:ext cx="1828800" cy="548640"/>
          </a:xfrm>
          <a:prstGeom prst="rect">
            <a:avLst/>
          </a:prstGeom>
          <a:noFill/>
          <a:ln/>
        </p:spPr>
        <p:txBody>
          <a:bodyPr wrap="square" rtlCol="0" anchor="ctr"/>
          <a:lstStyle/>
          <a:p>
            <a:pPr marL="0" indent="0" algn="ctr">
              <a:buNone/>
            </a:pPr>
            <a:r>
              <a:rPr lang="en-US" sz="2800" b="1" dirty="0">
                <a:solidFill>
                  <a:srgbClr val="00D4FF"/>
                </a:solidFill>
                <a:latin typeface="Calibri" pitchFamily="34" charset="0"/>
                <a:ea typeface="Calibri" pitchFamily="34" charset="-122"/>
                <a:cs typeface="Calibri" pitchFamily="34" charset="-120"/>
              </a:rPr>
              <a:t>65.5%</a:t>
            </a:r>
            <a:endParaRPr lang="en-US" sz="2800" dirty="0"/>
          </a:p>
        </p:txBody>
      </p:sp>
      <p:sp>
        <p:nvSpPr>
          <p:cNvPr id="21" name="Text 19"/>
          <p:cNvSpPr/>
          <p:nvPr/>
        </p:nvSpPr>
        <p:spPr>
          <a:xfrm>
            <a:off x="4937760" y="2743200"/>
            <a:ext cx="1645920" cy="457200"/>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Balanced Acc.</a:t>
            </a:r>
            <a:endParaRPr lang="en-US" sz="1200" dirty="0"/>
          </a:p>
        </p:txBody>
      </p:sp>
      <p:sp>
        <p:nvSpPr>
          <p:cNvPr id="22" name="Shape 20"/>
          <p:cNvSpPr/>
          <p:nvPr/>
        </p:nvSpPr>
        <p:spPr>
          <a:xfrm>
            <a:off x="6839712" y="2029968"/>
            <a:ext cx="1828800" cy="1325880"/>
          </a:xfrm>
          <a:prstGeom prst="roundRect">
            <a:avLst>
              <a:gd name="adj" fmla="val 8276"/>
            </a:avLst>
          </a:prstGeom>
          <a:solidFill>
            <a:srgbClr val="162A45"/>
          </a:solidFill>
          <a:ln/>
          <a:effectLst>
            <a:outerShdw blurRad="127000" dist="38100" dir="8100000" algn="bl" rotWithShape="0">
              <a:srgbClr val="000000">
                <a:alpha val="30000"/>
              </a:srgbClr>
            </a:outerShdw>
          </a:effectLst>
        </p:spPr>
      </p:sp>
      <p:sp>
        <p:nvSpPr>
          <p:cNvPr id="23" name="Text 21"/>
          <p:cNvSpPr/>
          <p:nvPr/>
        </p:nvSpPr>
        <p:spPr>
          <a:xfrm>
            <a:off x="6839712" y="2176272"/>
            <a:ext cx="1828800" cy="548640"/>
          </a:xfrm>
          <a:prstGeom prst="rect">
            <a:avLst/>
          </a:prstGeom>
          <a:noFill/>
          <a:ln/>
        </p:spPr>
        <p:txBody>
          <a:bodyPr wrap="square" rtlCol="0" anchor="ctr"/>
          <a:lstStyle/>
          <a:p>
            <a:pPr marL="0" indent="0" algn="ctr">
              <a:buNone/>
            </a:pPr>
            <a:r>
              <a:rPr lang="en-US" sz="2800" b="1" dirty="0">
                <a:solidFill>
                  <a:srgbClr val="00C896"/>
                </a:solidFill>
                <a:latin typeface="Calibri" pitchFamily="34" charset="0"/>
                <a:ea typeface="Calibri" pitchFamily="34" charset="-122"/>
                <a:cs typeface="Calibri" pitchFamily="34" charset="-120"/>
              </a:rPr>
              <a:t>72.3%</a:t>
            </a:r>
            <a:endParaRPr lang="en-US" sz="2800" dirty="0"/>
          </a:p>
        </p:txBody>
      </p:sp>
      <p:sp>
        <p:nvSpPr>
          <p:cNvPr id="24" name="Text 22"/>
          <p:cNvSpPr/>
          <p:nvPr/>
        </p:nvSpPr>
        <p:spPr>
          <a:xfrm>
            <a:off x="6931152" y="2743200"/>
            <a:ext cx="1645920" cy="457200"/>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AUC-ROC</a:t>
            </a:r>
            <a:endParaRPr lang="en-US" sz="1200" dirty="0"/>
          </a:p>
        </p:txBody>
      </p:sp>
      <p:sp>
        <p:nvSpPr>
          <p:cNvPr id="25" name="Shape 23"/>
          <p:cNvSpPr/>
          <p:nvPr/>
        </p:nvSpPr>
        <p:spPr>
          <a:xfrm>
            <a:off x="4846320" y="3493008"/>
            <a:ext cx="1828800" cy="1325880"/>
          </a:xfrm>
          <a:prstGeom prst="roundRect">
            <a:avLst>
              <a:gd name="adj" fmla="val 8276"/>
            </a:avLst>
          </a:prstGeom>
          <a:solidFill>
            <a:srgbClr val="162A45"/>
          </a:solidFill>
          <a:ln/>
          <a:effectLst>
            <a:outerShdw blurRad="127000" dist="38100" dir="8100000" algn="bl" rotWithShape="0">
              <a:srgbClr val="000000">
                <a:alpha val="30000"/>
              </a:srgbClr>
            </a:outerShdw>
          </a:effectLst>
        </p:spPr>
      </p:sp>
      <p:sp>
        <p:nvSpPr>
          <p:cNvPr id="26" name="Text 24"/>
          <p:cNvSpPr/>
          <p:nvPr/>
        </p:nvSpPr>
        <p:spPr>
          <a:xfrm>
            <a:off x="4846320" y="3639312"/>
            <a:ext cx="1828800" cy="548640"/>
          </a:xfrm>
          <a:prstGeom prst="rect">
            <a:avLst/>
          </a:prstGeom>
          <a:noFill/>
          <a:ln/>
        </p:spPr>
        <p:txBody>
          <a:bodyPr wrap="square" rtlCol="0" anchor="ctr"/>
          <a:lstStyle/>
          <a:p>
            <a:pPr marL="0" indent="0" algn="ctr">
              <a:buNone/>
            </a:pPr>
            <a:r>
              <a:rPr lang="en-US" sz="2800" b="1" dirty="0">
                <a:solidFill>
                  <a:srgbClr val="FFD166"/>
                </a:solidFill>
                <a:latin typeface="Calibri" pitchFamily="34" charset="0"/>
                <a:ea typeface="Calibri" pitchFamily="34" charset="-122"/>
                <a:cs typeface="Calibri" pitchFamily="34" charset="-120"/>
              </a:rPr>
              <a:t>+4.3%</a:t>
            </a:r>
            <a:endParaRPr lang="en-US" sz="2800" dirty="0"/>
          </a:p>
        </p:txBody>
      </p:sp>
      <p:sp>
        <p:nvSpPr>
          <p:cNvPr id="27" name="Text 25"/>
          <p:cNvSpPr/>
          <p:nvPr/>
        </p:nvSpPr>
        <p:spPr>
          <a:xfrm>
            <a:off x="4937760" y="4206240"/>
            <a:ext cx="1645920" cy="457200"/>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vs MINTIME</a:t>
            </a:r>
            <a:endParaRPr lang="en-US" sz="1200" dirty="0"/>
          </a:p>
        </p:txBody>
      </p:sp>
      <p:sp>
        <p:nvSpPr>
          <p:cNvPr id="28" name="Shape 26"/>
          <p:cNvSpPr/>
          <p:nvPr/>
        </p:nvSpPr>
        <p:spPr>
          <a:xfrm>
            <a:off x="6839712" y="3493008"/>
            <a:ext cx="1828800" cy="1325880"/>
          </a:xfrm>
          <a:prstGeom prst="roundRect">
            <a:avLst>
              <a:gd name="adj" fmla="val 8276"/>
            </a:avLst>
          </a:prstGeom>
          <a:solidFill>
            <a:srgbClr val="162A45"/>
          </a:solidFill>
          <a:ln/>
          <a:effectLst>
            <a:outerShdw blurRad="127000" dist="38100" dir="8100000" algn="bl" rotWithShape="0">
              <a:srgbClr val="000000">
                <a:alpha val="30000"/>
              </a:srgbClr>
            </a:outerShdw>
          </a:effectLst>
        </p:spPr>
      </p:sp>
      <p:sp>
        <p:nvSpPr>
          <p:cNvPr id="29" name="Text 27"/>
          <p:cNvSpPr/>
          <p:nvPr/>
        </p:nvSpPr>
        <p:spPr>
          <a:xfrm>
            <a:off x="6839712" y="3639312"/>
            <a:ext cx="1828800" cy="548640"/>
          </a:xfrm>
          <a:prstGeom prst="rect">
            <a:avLst/>
          </a:prstGeom>
          <a:noFill/>
          <a:ln/>
        </p:spPr>
        <p:txBody>
          <a:bodyPr wrap="square" rtlCol="0" anchor="ctr"/>
          <a:lstStyle/>
          <a:p>
            <a:pPr marL="0" indent="0" algn="ctr">
              <a:buNone/>
            </a:pPr>
            <a:r>
              <a:rPr lang="en-US" sz="2800" b="1" dirty="0">
                <a:solidFill>
                  <a:srgbClr val="FF6B35"/>
                </a:solidFill>
                <a:latin typeface="Calibri" pitchFamily="34" charset="0"/>
                <a:ea typeface="Calibri" pitchFamily="34" charset="-122"/>
                <a:cs typeface="Calibri" pitchFamily="34" charset="-120"/>
              </a:rPr>
              <a:t>5.7M</a:t>
            </a:r>
            <a:endParaRPr lang="en-US" sz="2800" dirty="0"/>
          </a:p>
        </p:txBody>
      </p:sp>
      <p:sp>
        <p:nvSpPr>
          <p:cNvPr id="30" name="Text 28"/>
          <p:cNvSpPr/>
          <p:nvPr/>
        </p:nvSpPr>
        <p:spPr>
          <a:xfrm>
            <a:off x="6931152" y="4206240"/>
            <a:ext cx="1645920" cy="457200"/>
          </a:xfrm>
          <a:prstGeom prst="rect">
            <a:avLst/>
          </a:prstGeom>
          <a:noFill/>
          <a:ln/>
        </p:spPr>
        <p:txBody>
          <a:bodyPr wrap="square" rtlCol="0" anchor="ctr"/>
          <a:lstStyle/>
          <a:p>
            <a:pPr marL="0" indent="0" algn="ctr">
              <a:buNone/>
            </a:pPr>
            <a:r>
              <a:rPr lang="en-US" sz="1200" dirty="0">
                <a:solidFill>
                  <a:srgbClr val="8BA3BF"/>
                </a:solidFill>
                <a:latin typeface="Calibri" pitchFamily="34" charset="0"/>
                <a:ea typeface="Calibri" pitchFamily="34" charset="-122"/>
                <a:cs typeface="Calibri" pitchFamily="34" charset="-120"/>
              </a:rPr>
              <a:t>Parameters</a:t>
            </a:r>
            <a:endParaRPr lang="en-US" sz="1200" dirty="0"/>
          </a:p>
        </p:txBody>
      </p:sp>
      <p:sp>
        <p:nvSpPr>
          <p:cNvPr id="31" name="Shape 29"/>
          <p:cNvSpPr/>
          <p:nvPr/>
        </p:nvSpPr>
        <p:spPr>
          <a:xfrm>
            <a:off x="0" y="4846320"/>
            <a:ext cx="9144000" cy="54864"/>
          </a:xfrm>
          <a:prstGeom prst="rect">
            <a:avLst/>
          </a:prstGeom>
          <a:solidFill>
            <a:srgbClr val="00D4FF"/>
          </a:solidFill>
          <a:ln/>
        </p:spPr>
      </p:sp>
      <p:sp>
        <p:nvSpPr>
          <p:cNvPr id="32" name="Text 30"/>
          <p:cNvSpPr/>
          <p:nvPr/>
        </p:nvSpPr>
        <p:spPr>
          <a:xfrm>
            <a:off x="457200" y="4919472"/>
            <a:ext cx="8229600" cy="228600"/>
          </a:xfrm>
          <a:prstGeom prst="rect">
            <a:avLst/>
          </a:prstGeom>
          <a:noFill/>
          <a:ln/>
        </p:spPr>
        <p:txBody>
          <a:bodyPr wrap="square" rtlCol="0" anchor="ctr"/>
          <a:lstStyle/>
          <a:p>
            <a:pPr marL="0" indent="0" algn="ctr">
              <a:buNone/>
            </a:pPr>
            <a:r>
              <a:rPr lang="en-US" sz="1200" i="1" dirty="0">
                <a:solidFill>
                  <a:srgbClr val="8BA3BF"/>
                </a:solidFill>
                <a:latin typeface="Calibri" pitchFamily="34" charset="0"/>
                <a:ea typeface="Calibri" pitchFamily="34" charset="-122"/>
                <a:cs typeface="Calibri" pitchFamily="34" charset="-120"/>
              </a:rPr>
              <a:t>This work establishes a foundation for future multi-identity multimodal deepfake detection research.</a:t>
            </a:r>
            <a:endParaRPr lang="en-US" sz="12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buNone/>
            </a:pPr>
            <a:r>
              <a:rPr lang="en-US" sz="1300" dirty="0">
                <a:solidFill>
                  <a:srgbClr val="00D4FF"/>
                </a:solidFill>
                <a:latin typeface="Calibri" pitchFamily="34" charset="0"/>
                <a:ea typeface="Calibri" pitchFamily="34" charset="-122"/>
                <a:cs typeface="Calibri" pitchFamily="34" charset="-120"/>
              </a:rPr>
              <a:t>Key citations from the paper</a:t>
            </a:r>
            <a:endParaRPr lang="en-US" sz="1300" dirty="0"/>
          </a:p>
        </p:txBody>
      </p:sp>
      <p:sp>
        <p:nvSpPr>
          <p:cNvPr id="4" name="Shape 2"/>
          <p:cNvSpPr/>
          <p:nvPr/>
        </p:nvSpPr>
        <p:spPr>
          <a:xfrm>
            <a:off x="365760" y="987552"/>
            <a:ext cx="4114800" cy="4023360"/>
          </a:xfrm>
          <a:prstGeom prst="roundRect">
            <a:avLst>
              <a:gd name="adj" fmla="val 2727"/>
            </a:avLst>
          </a:prstGeom>
          <a:solidFill>
            <a:srgbClr val="162A45"/>
          </a:solidFill>
          <a:ln/>
          <a:effectLst>
            <a:outerShdw blurRad="127000" dist="38100" dir="8100000" algn="bl" rotWithShape="0">
              <a:srgbClr val="000000">
                <a:alpha val="30000"/>
              </a:srgbClr>
            </a:outerShdw>
          </a:effectLst>
        </p:spPr>
      </p:sp>
      <p:sp>
        <p:nvSpPr>
          <p:cNvPr id="5" name="Text 3"/>
          <p:cNvSpPr/>
          <p:nvPr/>
        </p:nvSpPr>
        <p:spPr>
          <a:xfrm>
            <a:off x="502920" y="1060704"/>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[1] I. Goodfellow et al., "Generative Adversarial Nets," NeurIPS, 2014.</a:t>
            </a:r>
            <a:endParaRPr lang="en-US" sz="1000" dirty="0"/>
          </a:p>
        </p:txBody>
      </p:sp>
      <p:sp>
        <p:nvSpPr>
          <p:cNvPr id="6" name="Text 4"/>
          <p:cNvSpPr/>
          <p:nvPr/>
        </p:nvSpPr>
        <p:spPr>
          <a:xfrm>
            <a:off x="502920" y="1453896"/>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[2] D. P. Kingma &amp; M. Welling, "Auto-Encoding Variational Bayes," arXiv:1312.6114, 2013.</a:t>
            </a:r>
            <a:endParaRPr lang="en-US" sz="1000" dirty="0"/>
          </a:p>
        </p:txBody>
      </p:sp>
      <p:sp>
        <p:nvSpPr>
          <p:cNvPr id="7" name="Text 5"/>
          <p:cNvSpPr/>
          <p:nvPr/>
        </p:nvSpPr>
        <p:spPr>
          <a:xfrm>
            <a:off x="502920" y="1847088"/>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[3] R. Chesney &amp; D. Citron, "Deep Fakes: A Looming Challenge," California Law Review, 2019.</a:t>
            </a:r>
            <a:endParaRPr lang="en-US" sz="1000" dirty="0"/>
          </a:p>
        </p:txBody>
      </p:sp>
      <p:sp>
        <p:nvSpPr>
          <p:cNvPr id="8" name="Text 6"/>
          <p:cNvSpPr/>
          <p:nvPr/>
        </p:nvSpPr>
        <p:spPr>
          <a:xfrm>
            <a:off x="502920" y="2240280"/>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[4] A. Rossler et al., "FaceForensics++," ICCV, 2019.</a:t>
            </a:r>
            <a:endParaRPr lang="en-US" sz="1000" dirty="0"/>
          </a:p>
        </p:txBody>
      </p:sp>
      <p:sp>
        <p:nvSpPr>
          <p:cNvPr id="9" name="Text 7"/>
          <p:cNvSpPr/>
          <p:nvPr/>
        </p:nvSpPr>
        <p:spPr>
          <a:xfrm>
            <a:off x="502920" y="2633472"/>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[6] E. Sabir et al., "Recurrent Convolutional Strategies for Face Manipulation Detection," 2019.</a:t>
            </a:r>
            <a:endParaRPr lang="en-US" sz="1000" dirty="0"/>
          </a:p>
        </p:txBody>
      </p:sp>
      <p:sp>
        <p:nvSpPr>
          <p:cNvPr id="10" name="Text 8"/>
          <p:cNvSpPr/>
          <p:nvPr/>
        </p:nvSpPr>
        <p:spPr>
          <a:xfrm>
            <a:off x="502920" y="3026664"/>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[7] Y. Zheng et al., "FTCN: Temporal Coherence Transformer," ICCV, 2021.</a:t>
            </a:r>
            <a:endParaRPr lang="en-US" sz="1000" dirty="0"/>
          </a:p>
        </p:txBody>
      </p:sp>
      <p:sp>
        <p:nvSpPr>
          <p:cNvPr id="11" name="Text 9"/>
          <p:cNvSpPr/>
          <p:nvPr/>
        </p:nvSpPr>
        <p:spPr>
          <a:xfrm>
            <a:off x="502920" y="3419856"/>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[8] H. Zhao et al., "Multiattentional Deepfake Detection," CVPR, 2021.</a:t>
            </a:r>
            <a:endParaRPr lang="en-US" sz="1000" dirty="0"/>
          </a:p>
        </p:txBody>
      </p:sp>
      <p:sp>
        <p:nvSpPr>
          <p:cNvPr id="12" name="Text 10"/>
          <p:cNvSpPr/>
          <p:nvPr/>
        </p:nvSpPr>
        <p:spPr>
          <a:xfrm>
            <a:off x="502920" y="3813048"/>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[9] D. A. Coccomini et al., "EfficientNet + Vision Transformers," ICAP, 2022.</a:t>
            </a:r>
            <a:endParaRPr lang="en-US" sz="1000" dirty="0"/>
          </a:p>
        </p:txBody>
      </p:sp>
      <p:sp>
        <p:nvSpPr>
          <p:cNvPr id="13" name="Text 11"/>
          <p:cNvSpPr/>
          <p:nvPr/>
        </p:nvSpPr>
        <p:spPr>
          <a:xfrm>
            <a:off x="502920" y="4206240"/>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[13] S. Kharel et al., "DF-TransFusion," ICASSP, 2023.</a:t>
            </a:r>
            <a:endParaRPr lang="en-US" sz="1000" dirty="0"/>
          </a:p>
        </p:txBody>
      </p:sp>
      <p:sp>
        <p:nvSpPr>
          <p:cNvPr id="14" name="Shape 12"/>
          <p:cNvSpPr/>
          <p:nvPr/>
        </p:nvSpPr>
        <p:spPr>
          <a:xfrm>
            <a:off x="4663440" y="987552"/>
            <a:ext cx="4114800" cy="4023360"/>
          </a:xfrm>
          <a:prstGeom prst="roundRect">
            <a:avLst>
              <a:gd name="adj" fmla="val 2727"/>
            </a:avLst>
          </a:prstGeom>
          <a:solidFill>
            <a:srgbClr val="162A45"/>
          </a:solidFill>
          <a:ln/>
          <a:effectLst>
            <a:outerShdw blurRad="127000" dist="38100" dir="8100000" algn="bl" rotWithShape="0">
              <a:srgbClr val="000000">
                <a:alpha val="30000"/>
              </a:srgbClr>
            </a:outerShdw>
          </a:effectLst>
        </p:spPr>
      </p:sp>
      <p:sp>
        <p:nvSpPr>
          <p:cNvPr id="15" name="Text 13"/>
          <p:cNvSpPr/>
          <p:nvPr/>
        </p:nvSpPr>
        <p:spPr>
          <a:xfrm>
            <a:off x="4800600" y="1060704"/>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[15] D. A. Coccomini et al., "MINTIME: Multi-identity Deepfake Detection," IEEE TIFS, 2024.</a:t>
            </a:r>
            <a:endParaRPr lang="en-US" sz="1000" dirty="0"/>
          </a:p>
        </p:txBody>
      </p:sp>
      <p:sp>
        <p:nvSpPr>
          <p:cNvPr id="16" name="Text 14"/>
          <p:cNvSpPr/>
          <p:nvPr/>
        </p:nvSpPr>
        <p:spPr>
          <a:xfrm>
            <a:off x="4800600" y="1453896"/>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[18] K. Zhang et al., "MTCNN: Joint Face Detection and Alignment," IEEE SPL, 2016.</a:t>
            </a:r>
            <a:endParaRPr lang="en-US" sz="1000" dirty="0"/>
          </a:p>
        </p:txBody>
      </p:sp>
      <p:sp>
        <p:nvSpPr>
          <p:cNvPr id="17" name="Text 15"/>
          <p:cNvSpPr/>
          <p:nvPr/>
        </p:nvSpPr>
        <p:spPr>
          <a:xfrm>
            <a:off x="4800600" y="1847088"/>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[19] F. Schroff et al., "FaceNet," CVPR, 2015.</a:t>
            </a:r>
            <a:endParaRPr lang="en-US" sz="1000" dirty="0"/>
          </a:p>
        </p:txBody>
      </p:sp>
      <p:sp>
        <p:nvSpPr>
          <p:cNvPr id="18" name="Text 16"/>
          <p:cNvSpPr/>
          <p:nvPr/>
        </p:nvSpPr>
        <p:spPr>
          <a:xfrm>
            <a:off x="4800600" y="2240280"/>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[21] A. Howard et al., "MobileNetV3," ICCV, 2019.</a:t>
            </a:r>
            <a:endParaRPr lang="en-US" sz="1000" dirty="0"/>
          </a:p>
        </p:txBody>
      </p:sp>
      <p:sp>
        <p:nvSpPr>
          <p:cNvPr id="19" name="Text 17"/>
          <p:cNvSpPr/>
          <p:nvPr/>
        </p:nvSpPr>
        <p:spPr>
          <a:xfrm>
            <a:off x="4800600" y="2633472"/>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[26] K. Dolhansky et al., "DFDC Dataset," arXiv:2006.07397, 2020.</a:t>
            </a:r>
            <a:endParaRPr lang="en-US" sz="1000" dirty="0"/>
          </a:p>
        </p:txBody>
      </p:sp>
      <p:sp>
        <p:nvSpPr>
          <p:cNvPr id="20" name="Text 18"/>
          <p:cNvSpPr/>
          <p:nvPr/>
        </p:nvSpPr>
        <p:spPr>
          <a:xfrm>
            <a:off x="4800600" y="3026664"/>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[27] M. Ester et al., "DBSCAN," KDD, 1996.</a:t>
            </a:r>
            <a:endParaRPr lang="en-US" sz="1000" dirty="0"/>
          </a:p>
        </p:txBody>
      </p:sp>
      <p:sp>
        <p:nvSpPr>
          <p:cNvPr id="21" name="Text 19"/>
          <p:cNvSpPr/>
          <p:nvPr/>
        </p:nvSpPr>
        <p:spPr>
          <a:xfrm>
            <a:off x="4800600" y="3419856"/>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[29] A. Haliassos et al., "Lips Don't Lie," CVPR, 2021.</a:t>
            </a:r>
            <a:endParaRPr lang="en-US" sz="1000" dirty="0"/>
          </a:p>
        </p:txBody>
      </p:sp>
      <p:sp>
        <p:nvSpPr>
          <p:cNvPr id="22" name="Text 20"/>
          <p:cNvSpPr/>
          <p:nvPr/>
        </p:nvSpPr>
        <p:spPr>
          <a:xfrm>
            <a:off x="4800600" y="3813048"/>
            <a:ext cx="3840480" cy="365760"/>
          </a:xfrm>
          <a:prstGeom prst="rect">
            <a:avLst/>
          </a:prstGeom>
          <a:noFill/>
          <a:ln/>
        </p:spPr>
        <p:txBody>
          <a:bodyPr wrap="square" rtlCol="0" anchor="ctr"/>
          <a:lstStyle/>
          <a:p>
            <a:pPr marL="0" indent="0">
              <a:buNone/>
            </a:pPr>
            <a:r>
              <a:rPr lang="en-US" sz="1000" dirty="0">
                <a:solidFill>
                  <a:srgbClr val="E8F0F8"/>
                </a:solidFill>
                <a:latin typeface="Calibri" pitchFamily="34" charset="0"/>
                <a:ea typeface="Calibri" pitchFamily="34" charset="-122"/>
                <a:cs typeface="Calibri" pitchFamily="34" charset="-120"/>
              </a:rPr>
              <a:t>[32] D. A. Coccomini et al., "MINTIME," IEEE Trans. IFS, 2024.</a:t>
            </a:r>
            <a:endParaRPr lang="en-US" sz="1000" dirty="0"/>
          </a:p>
        </p:txBody>
      </p:sp>
      <p:sp>
        <p:nvSpPr>
          <p:cNvPr id="23" name="Text 21"/>
          <p:cNvSpPr/>
          <p:nvPr/>
        </p:nvSpPr>
        <p:spPr>
          <a:xfrm>
            <a:off x="365760" y="5084064"/>
            <a:ext cx="8412480" cy="228600"/>
          </a:xfrm>
          <a:prstGeom prst="rect">
            <a:avLst/>
          </a:prstGeom>
          <a:noFill/>
          <a:ln/>
        </p:spPr>
        <p:txBody>
          <a:bodyPr wrap="square" rtlCol="0" anchor="ctr"/>
          <a:lstStyle/>
          <a:p>
            <a:pPr marL="0" indent="0" algn="ctr">
              <a:buNone/>
            </a:pPr>
            <a:r>
              <a:rPr lang="en-US" sz="1000" i="1" dirty="0">
                <a:solidFill>
                  <a:srgbClr val="8BA3BF"/>
                </a:solidFill>
                <a:latin typeface="Calibri" pitchFamily="34" charset="0"/>
                <a:ea typeface="Calibri" pitchFamily="34" charset="-122"/>
                <a:cs typeface="Calibri" pitchFamily="34" charset="-120"/>
              </a:rPr>
              <a:t>Full reference list available in the paper — i220505@nu.edu.pk</a:t>
            </a:r>
            <a:endParaRPr lang="en-US" sz="1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Shape 1"/>
          <p:cNvSpPr/>
          <p:nvPr/>
        </p:nvSpPr>
        <p:spPr>
          <a:xfrm>
            <a:off x="0" y="5079492"/>
            <a:ext cx="9144000" cy="64008"/>
          </a:xfrm>
          <a:prstGeom prst="rect">
            <a:avLst/>
          </a:prstGeom>
          <a:solidFill>
            <a:srgbClr val="00D4FF"/>
          </a:solidFill>
          <a:ln/>
        </p:spPr>
      </p:sp>
      <p:sp>
        <p:nvSpPr>
          <p:cNvPr id="4" name="Shape 2"/>
          <p:cNvSpPr/>
          <p:nvPr/>
        </p:nvSpPr>
        <p:spPr>
          <a:xfrm>
            <a:off x="7498080" y="274320"/>
            <a:ext cx="1828800" cy="1828800"/>
          </a:xfrm>
          <a:prstGeom prst="ellipse">
            <a:avLst/>
          </a:prstGeom>
          <a:solidFill>
            <a:srgbClr val="00D4FF">
              <a:alpha val="10000"/>
            </a:srgbClr>
          </a:solidFill>
          <a:ln/>
        </p:spPr>
      </p:sp>
      <p:sp>
        <p:nvSpPr>
          <p:cNvPr id="5" name="Shape 3"/>
          <p:cNvSpPr/>
          <p:nvPr/>
        </p:nvSpPr>
        <p:spPr>
          <a:xfrm>
            <a:off x="-457200" y="3474720"/>
            <a:ext cx="2286000" cy="2286000"/>
          </a:xfrm>
          <a:prstGeom prst="ellipse">
            <a:avLst/>
          </a:prstGeom>
          <a:solidFill>
            <a:srgbClr val="00A8CC">
              <a:alpha val="10000"/>
            </a:srgbClr>
          </a:solidFill>
          <a:ln/>
        </p:spPr>
      </p:sp>
      <p:sp>
        <p:nvSpPr>
          <p:cNvPr id="6" name="Text 4"/>
          <p:cNvSpPr/>
          <p:nvPr/>
        </p:nvSpPr>
        <p:spPr>
          <a:xfrm>
            <a:off x="914400" y="1005840"/>
            <a:ext cx="731520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7" name="Text 5"/>
          <p:cNvSpPr/>
          <p:nvPr/>
        </p:nvSpPr>
        <p:spPr>
          <a:xfrm>
            <a:off x="914400" y="1828800"/>
            <a:ext cx="7315200" cy="411480"/>
          </a:xfrm>
          <a:prstGeom prst="rect">
            <a:avLst/>
          </a:prstGeom>
          <a:noFill/>
          <a:ln/>
        </p:spPr>
        <p:txBody>
          <a:bodyPr wrap="square" rtlCol="0" anchor="ctr"/>
          <a:lstStyle/>
          <a:p>
            <a:pPr marL="0" indent="0" algn="ctr">
              <a:buNone/>
            </a:pPr>
            <a:r>
              <a:rPr lang="en-US" sz="2000" i="1" dirty="0">
                <a:solidFill>
                  <a:srgbClr val="00D4FF"/>
                </a:solidFill>
                <a:latin typeface="Calibri" pitchFamily="34" charset="0"/>
                <a:ea typeface="Calibri" pitchFamily="34" charset="-122"/>
                <a:cs typeface="Calibri" pitchFamily="34" charset="-120"/>
              </a:rPr>
              <a:t>Questions &amp; Discussion</a:t>
            </a:r>
            <a:endParaRPr lang="en-US" sz="2000" dirty="0"/>
          </a:p>
        </p:txBody>
      </p:sp>
      <p:sp>
        <p:nvSpPr>
          <p:cNvPr id="8" name="Shape 6"/>
          <p:cNvSpPr/>
          <p:nvPr/>
        </p:nvSpPr>
        <p:spPr>
          <a:xfrm>
            <a:off x="3200400" y="2359152"/>
            <a:ext cx="2743200" cy="27432"/>
          </a:xfrm>
          <a:prstGeom prst="rect">
            <a:avLst/>
          </a:prstGeom>
          <a:solidFill>
            <a:srgbClr val="4A6480"/>
          </a:solidFill>
          <a:ln/>
        </p:spPr>
      </p:sp>
      <p:sp>
        <p:nvSpPr>
          <p:cNvPr id="9" name="Text 7"/>
          <p:cNvSpPr/>
          <p:nvPr/>
        </p:nvSpPr>
        <p:spPr>
          <a:xfrm>
            <a:off x="914400" y="2487168"/>
            <a:ext cx="73152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Syed Bilal Hassan</a:t>
            </a:r>
            <a:endParaRPr lang="en-US" sz="1600" dirty="0"/>
          </a:p>
        </p:txBody>
      </p:sp>
      <p:sp>
        <p:nvSpPr>
          <p:cNvPr id="10" name="Text 8"/>
          <p:cNvSpPr/>
          <p:nvPr/>
        </p:nvSpPr>
        <p:spPr>
          <a:xfrm>
            <a:off x="914400" y="2834640"/>
            <a:ext cx="7315200" cy="274320"/>
          </a:xfrm>
          <a:prstGeom prst="rect">
            <a:avLst/>
          </a:prstGeom>
          <a:noFill/>
          <a:ln/>
        </p:spPr>
        <p:txBody>
          <a:bodyPr wrap="square" rtlCol="0" anchor="ctr"/>
          <a:lstStyle/>
          <a:p>
            <a:pPr marL="0" indent="0" algn="ctr">
              <a:buNone/>
            </a:pPr>
            <a:r>
              <a:rPr lang="en-US" sz="1300" dirty="0">
                <a:solidFill>
                  <a:srgbClr val="8BA3BF"/>
                </a:solidFill>
                <a:latin typeface="Calibri" pitchFamily="34" charset="0"/>
                <a:ea typeface="Calibri" pitchFamily="34" charset="-122"/>
                <a:cs typeface="Calibri" pitchFamily="34" charset="-120"/>
              </a:rPr>
              <a:t>Roll No: 22i-0505  |  Section: AI-A  |  BS Artificial Intelligence</a:t>
            </a:r>
            <a:endParaRPr lang="en-US" sz="1300" dirty="0"/>
          </a:p>
        </p:txBody>
      </p:sp>
      <p:sp>
        <p:nvSpPr>
          <p:cNvPr id="11" name="Text 9"/>
          <p:cNvSpPr/>
          <p:nvPr/>
        </p:nvSpPr>
        <p:spPr>
          <a:xfrm>
            <a:off x="914400" y="3127248"/>
            <a:ext cx="7315200" cy="274320"/>
          </a:xfrm>
          <a:prstGeom prst="rect">
            <a:avLst/>
          </a:prstGeom>
          <a:noFill/>
          <a:ln/>
        </p:spPr>
        <p:txBody>
          <a:bodyPr wrap="square" rtlCol="0" anchor="ctr"/>
          <a:lstStyle/>
          <a:p>
            <a:pPr marL="0" indent="0" algn="ctr">
              <a:buNone/>
            </a:pPr>
            <a:r>
              <a:rPr lang="en-US" sz="1300" dirty="0">
                <a:solidFill>
                  <a:srgbClr val="00D4FF"/>
                </a:solidFill>
                <a:latin typeface="Calibri" pitchFamily="34" charset="0"/>
                <a:ea typeface="Calibri" pitchFamily="34" charset="-122"/>
                <a:cs typeface="Calibri" pitchFamily="34" charset="-120"/>
              </a:rPr>
              <a:t>i220505@nu.edu.pk</a:t>
            </a:r>
            <a:endParaRPr lang="en-US" sz="1300" dirty="0"/>
          </a:p>
        </p:txBody>
      </p:sp>
      <p:sp>
        <p:nvSpPr>
          <p:cNvPr id="12" name="Text 10"/>
          <p:cNvSpPr/>
          <p:nvPr/>
        </p:nvSpPr>
        <p:spPr>
          <a:xfrm>
            <a:off x="914400" y="3493008"/>
            <a:ext cx="7315200" cy="274320"/>
          </a:xfrm>
          <a:prstGeom prst="rect">
            <a:avLst/>
          </a:prstGeom>
          <a:noFill/>
          <a:ln/>
        </p:spPr>
        <p:txBody>
          <a:bodyPr wrap="square" rtlCol="0" anchor="ctr"/>
          <a:lstStyle/>
          <a:p>
            <a:pPr marL="0" indent="0" algn="ctr">
              <a:buNone/>
            </a:pPr>
            <a:r>
              <a:rPr lang="en-US" sz="1300" dirty="0">
                <a:solidFill>
                  <a:srgbClr val="E8F0F8"/>
                </a:solidFill>
                <a:latin typeface="Calibri" pitchFamily="34" charset="0"/>
                <a:ea typeface="Calibri" pitchFamily="34" charset="-122"/>
                <a:cs typeface="Calibri" pitchFamily="34" charset="-120"/>
              </a:rPr>
              <a:t>Supervisor: Dr. Muhammad Nouman Noor</a:t>
            </a:r>
            <a:endParaRPr lang="en-US" sz="1300" dirty="0"/>
          </a:p>
        </p:txBody>
      </p:sp>
      <p:sp>
        <p:nvSpPr>
          <p:cNvPr id="13" name="Text 11"/>
          <p:cNvSpPr/>
          <p:nvPr/>
        </p:nvSpPr>
        <p:spPr>
          <a:xfrm>
            <a:off x="914400" y="3822192"/>
            <a:ext cx="7315200" cy="256032"/>
          </a:xfrm>
          <a:prstGeom prst="rect">
            <a:avLst/>
          </a:prstGeom>
          <a:noFill/>
          <a:ln/>
        </p:spPr>
        <p:txBody>
          <a:bodyPr wrap="square" rtlCol="0" anchor="ctr"/>
          <a:lstStyle/>
          <a:p>
            <a:pPr marL="0" indent="0" algn="ctr">
              <a:buNone/>
            </a:pPr>
            <a:r>
              <a:rPr lang="en-US" sz="1200" dirty="0">
                <a:solidFill>
                  <a:srgbClr val="4A6480"/>
                </a:solidFill>
                <a:latin typeface="Calibri" pitchFamily="34" charset="0"/>
                <a:ea typeface="Calibri" pitchFamily="34" charset="-122"/>
                <a:cs typeface="Calibri" pitchFamily="34" charset="-120"/>
              </a:rPr>
              <a:t>National University of Computer and Emerging Sciences (FAST), Islamabad</a:t>
            </a:r>
            <a:endParaRPr lang="en-US" sz="1200" dirty="0"/>
          </a:p>
        </p:txBody>
      </p:sp>
      <p:sp>
        <p:nvSpPr>
          <p:cNvPr id="14" name="Shape 12"/>
          <p:cNvSpPr/>
          <p:nvPr/>
        </p:nvSpPr>
        <p:spPr>
          <a:xfrm>
            <a:off x="2286000" y="4224528"/>
            <a:ext cx="4572000" cy="594360"/>
          </a:xfrm>
          <a:prstGeom prst="roundRect">
            <a:avLst>
              <a:gd name="adj" fmla="val 18462"/>
            </a:avLst>
          </a:prstGeom>
          <a:solidFill>
            <a:srgbClr val="162A45"/>
          </a:solidFill>
          <a:ln/>
          <a:effectLst>
            <a:outerShdw blurRad="127000" dist="38100" dir="8100000" algn="bl" rotWithShape="0">
              <a:srgbClr val="000000">
                <a:alpha val="30000"/>
              </a:srgbClr>
            </a:outerShdw>
          </a:effectLst>
        </p:spPr>
      </p:sp>
      <p:sp>
        <p:nvSpPr>
          <p:cNvPr id="15" name="Text 13"/>
          <p:cNvSpPr/>
          <p:nvPr/>
        </p:nvSpPr>
        <p:spPr>
          <a:xfrm>
            <a:off x="2377440" y="4261104"/>
            <a:ext cx="4389120" cy="502920"/>
          </a:xfrm>
          <a:prstGeom prst="rect">
            <a:avLst/>
          </a:prstGeom>
          <a:noFill/>
          <a:ln/>
        </p:spPr>
        <p:txBody>
          <a:bodyPr wrap="square" rtlCol="0" anchor="ctr"/>
          <a:lstStyle/>
          <a:p>
            <a:pPr marL="0" indent="0" algn="ctr">
              <a:buNone/>
            </a:pPr>
            <a:r>
              <a:rPr lang="en-US" sz="1100" i="1" dirty="0">
                <a:solidFill>
                  <a:srgbClr val="00D4FF"/>
                </a:solidFill>
                <a:latin typeface="Calibri" pitchFamily="34" charset="0"/>
                <a:ea typeface="Calibri" pitchFamily="34" charset="-122"/>
                <a:cs typeface="Calibri" pitchFamily="34" charset="-120"/>
              </a:rPr>
              <a:t>"Multi-Identity Multimodal Deepfake Detection: A Speaker-Aware Framework for Two-Person Video Analysis"</a:t>
            </a:r>
            <a:endParaRPr lang="en-US" sz="11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2689</TotalTime>
  <Words>3164</Words>
  <Application>Microsoft Office PowerPoint</Application>
  <PresentationFormat>On-screen Show (16:9)</PresentationFormat>
  <Paragraphs>461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Multi-Identity Multimodal Deepfake Detection</dc:title>
  <dc:subject>PptxGenJS Presentation</dc:subject>
  <dc:creator>Syed Bilal Hassan</dc:creator>
  <cp:lastModifiedBy>MASTER</cp:lastModifiedBy>
  <cp:revision>6</cp:revision>
  <dcterms:created xsi:type="dcterms:W3CDTF">2026-05-04T04:09:39Z</dcterms:created>
  <dcterms:modified xsi:type="dcterms:W3CDTF">2026-05-06T09:06:42Z</dcterms:modified>
</cp:coreProperties>
</file>